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56" r:id="rId3"/>
    <p:sldId id="262" r:id="rId4"/>
    <p:sldId id="257" r:id="rId5"/>
    <p:sldId id="258" r:id="rId6"/>
    <p:sldId id="259" r:id="rId7"/>
    <p:sldId id="263" r:id="rId8"/>
    <p:sldId id="264" r:id="rId9"/>
    <p:sldId id="266" r:id="rId10"/>
    <p:sldId id="267" r:id="rId11"/>
    <p:sldId id="265" r:id="rId12"/>
    <p:sldId id="260" r:id="rId13"/>
    <p:sldId id="261" r:id="rId14"/>
    <p:sldId id="268" r:id="rId15"/>
  </p:sldIdLst>
  <p:sldSz cx="12192000" cy="6858000"/>
  <p:notesSz cx="6858000" cy="9144000"/>
  <p:defaultText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7" d="100"/>
          <a:sy n="87" d="100"/>
        </p:scale>
        <p:origin x="38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D262B33-6913-2048-6F45-35C6BA437D41}"/>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p>
        </p:txBody>
      </p:sp>
      <p:sp>
        <p:nvSpPr>
          <p:cNvPr id="3" name="Podtytuł 2">
            <a:extLst>
              <a:ext uri="{FF2B5EF4-FFF2-40B4-BE49-F238E27FC236}">
                <a16:creationId xmlns:a16="http://schemas.microsoft.com/office/drawing/2014/main" id="{4A6D0863-63B0-596D-E681-22EF33BC7BC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p>
        </p:txBody>
      </p:sp>
      <p:sp>
        <p:nvSpPr>
          <p:cNvPr id="4" name="Symbol zastępczy daty 3">
            <a:extLst>
              <a:ext uri="{FF2B5EF4-FFF2-40B4-BE49-F238E27FC236}">
                <a16:creationId xmlns:a16="http://schemas.microsoft.com/office/drawing/2014/main" id="{52B24759-D699-C096-ACF5-F94D5024B29C}"/>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2CB17DA9-7773-D07E-B3E0-6FB0D27837E3}"/>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F0E04B9E-4CB5-D010-B8B9-5E30E0799FD8}"/>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0851131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90AD692-3A55-9070-173F-285BA0A490D2}"/>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8F89CFB2-BEB1-ED7B-9219-6DE2F503593B}"/>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C8F9D34D-A9BD-B70D-B61B-C6CB011B3AAE}"/>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69F6057A-2844-B235-321B-4ADCCBF829BF}"/>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54CFCF66-4D1E-D5CE-0AA0-30BA47505613}"/>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656485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4208AD6-6948-310C-8C39-21EE341F8097}"/>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p>
        </p:txBody>
      </p:sp>
      <p:sp>
        <p:nvSpPr>
          <p:cNvPr id="3" name="Symbol zastępczy tekstu 2">
            <a:extLst>
              <a:ext uri="{FF2B5EF4-FFF2-40B4-BE49-F238E27FC236}">
                <a16:creationId xmlns:a16="http://schemas.microsoft.com/office/drawing/2014/main" id="{967627F4-6C05-A73C-EBC9-3C169A661C7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EFC2A642-F51B-F0F8-C4C2-32F8DF49CBA6}"/>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2F5B779E-6231-830D-45C6-A3101DD6A479}"/>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B7EE4365-A8D3-1732-ADA8-9A3725551D32}"/>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819889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026BD24-9B12-B21E-6B16-1A6166FAED7C}"/>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192717EE-11B3-3616-4E2E-0326DD30E499}"/>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a:extLst>
              <a:ext uri="{FF2B5EF4-FFF2-40B4-BE49-F238E27FC236}">
                <a16:creationId xmlns:a16="http://schemas.microsoft.com/office/drawing/2014/main" id="{0D7C1D51-4C10-1891-622B-961095EA127B}"/>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a:extLst>
              <a:ext uri="{FF2B5EF4-FFF2-40B4-BE49-F238E27FC236}">
                <a16:creationId xmlns:a16="http://schemas.microsoft.com/office/drawing/2014/main" id="{1737E194-7108-1008-C7CD-7F439E9E6B4D}"/>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6" name="Symbol zastępczy stopki 5">
            <a:extLst>
              <a:ext uri="{FF2B5EF4-FFF2-40B4-BE49-F238E27FC236}">
                <a16:creationId xmlns:a16="http://schemas.microsoft.com/office/drawing/2014/main" id="{45201D07-77F5-120C-8619-287CC88BB075}"/>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A61D6246-7AE7-C122-3215-F424D67CC764}"/>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2775637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2D6C951-6253-09E5-40C4-5908533B3227}"/>
              </a:ext>
            </a:extLst>
          </p:cNvPr>
          <p:cNvSpPr>
            <a:spLocks noGrp="1"/>
          </p:cNvSpPr>
          <p:nvPr>
            <p:ph type="title"/>
          </p:nvPr>
        </p:nvSpPr>
        <p:spPr>
          <a:xfrm>
            <a:off x="839788" y="365125"/>
            <a:ext cx="10515600" cy="1325563"/>
          </a:xfrm>
        </p:spPr>
        <p:txBody>
          <a:bodyPr/>
          <a:lstStyle/>
          <a:p>
            <a:r>
              <a:rPr lang="pl-PL"/>
              <a:t>Kliknij, aby edytować styl</a:t>
            </a:r>
          </a:p>
        </p:txBody>
      </p:sp>
      <p:sp>
        <p:nvSpPr>
          <p:cNvPr id="3" name="Symbol zastępczy tekstu 2">
            <a:extLst>
              <a:ext uri="{FF2B5EF4-FFF2-40B4-BE49-F238E27FC236}">
                <a16:creationId xmlns:a16="http://schemas.microsoft.com/office/drawing/2014/main" id="{206B83EB-8DA0-0D7E-389B-6860416061E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089648C7-B450-E434-91C8-7A308EEA2168}"/>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a:extLst>
              <a:ext uri="{FF2B5EF4-FFF2-40B4-BE49-F238E27FC236}">
                <a16:creationId xmlns:a16="http://schemas.microsoft.com/office/drawing/2014/main" id="{FC4F66E7-B160-521F-F4AA-0F9BBF4623C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C3894741-4CBB-A99A-75F8-B2C12BA19660}"/>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a:extLst>
              <a:ext uri="{FF2B5EF4-FFF2-40B4-BE49-F238E27FC236}">
                <a16:creationId xmlns:a16="http://schemas.microsoft.com/office/drawing/2014/main" id="{D72ECC2B-DDD0-706A-3FEC-37DD22C82C2E}"/>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8" name="Symbol zastępczy stopki 7">
            <a:extLst>
              <a:ext uri="{FF2B5EF4-FFF2-40B4-BE49-F238E27FC236}">
                <a16:creationId xmlns:a16="http://schemas.microsoft.com/office/drawing/2014/main" id="{5A8E14E3-0D97-3138-2866-23FA157AC68A}"/>
              </a:ext>
            </a:extLst>
          </p:cNvPr>
          <p:cNvSpPr>
            <a:spLocks noGrp="1"/>
          </p:cNvSpPr>
          <p:nvPr>
            <p:ph type="ftr" sz="quarter" idx="11"/>
          </p:nvPr>
        </p:nvSpPr>
        <p:spPr/>
        <p:txBody>
          <a:bodyPr/>
          <a:lstStyle/>
          <a:p>
            <a:endParaRPr lang="pl-PL"/>
          </a:p>
        </p:txBody>
      </p:sp>
      <p:sp>
        <p:nvSpPr>
          <p:cNvPr id="9" name="Symbol zastępczy numeru slajdu 8">
            <a:extLst>
              <a:ext uri="{FF2B5EF4-FFF2-40B4-BE49-F238E27FC236}">
                <a16:creationId xmlns:a16="http://schemas.microsoft.com/office/drawing/2014/main" id="{C177182E-60C4-6A4D-09C5-C46B4E0F54EC}"/>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7025651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E674641-458A-B090-19E2-524A8E0C38D5}"/>
              </a:ext>
            </a:extLst>
          </p:cNvPr>
          <p:cNvSpPr>
            <a:spLocks noGrp="1"/>
          </p:cNvSpPr>
          <p:nvPr>
            <p:ph type="title"/>
          </p:nvPr>
        </p:nvSpPr>
        <p:spPr/>
        <p:txBody>
          <a:bodyPr/>
          <a:lstStyle/>
          <a:p>
            <a:r>
              <a:rPr lang="pl-PL"/>
              <a:t>Kliknij, aby edytować styl</a:t>
            </a:r>
          </a:p>
        </p:txBody>
      </p:sp>
      <p:sp>
        <p:nvSpPr>
          <p:cNvPr id="3" name="Symbol zastępczy daty 2">
            <a:extLst>
              <a:ext uri="{FF2B5EF4-FFF2-40B4-BE49-F238E27FC236}">
                <a16:creationId xmlns:a16="http://schemas.microsoft.com/office/drawing/2014/main" id="{04329792-53D6-6B20-4AD1-5E47B3808369}"/>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4" name="Symbol zastępczy stopki 3">
            <a:extLst>
              <a:ext uri="{FF2B5EF4-FFF2-40B4-BE49-F238E27FC236}">
                <a16:creationId xmlns:a16="http://schemas.microsoft.com/office/drawing/2014/main" id="{5AC8057C-B741-4749-4556-5B505A7EA132}"/>
              </a:ext>
            </a:extLst>
          </p:cNvPr>
          <p:cNvSpPr>
            <a:spLocks noGrp="1"/>
          </p:cNvSpPr>
          <p:nvPr>
            <p:ph type="ftr" sz="quarter" idx="11"/>
          </p:nvPr>
        </p:nvSpPr>
        <p:spPr/>
        <p:txBody>
          <a:bodyPr/>
          <a:lstStyle/>
          <a:p>
            <a:endParaRPr lang="pl-PL"/>
          </a:p>
        </p:txBody>
      </p:sp>
      <p:sp>
        <p:nvSpPr>
          <p:cNvPr id="5" name="Symbol zastępczy numeru slajdu 4">
            <a:extLst>
              <a:ext uri="{FF2B5EF4-FFF2-40B4-BE49-F238E27FC236}">
                <a16:creationId xmlns:a16="http://schemas.microsoft.com/office/drawing/2014/main" id="{7724AA6B-EE13-BF07-A0E2-0E4FB2D3B034}"/>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75804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AFC86CEA-EF73-9E68-FB03-ABCE38AE1EED}"/>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3" name="Symbol zastępczy stopki 2">
            <a:extLst>
              <a:ext uri="{FF2B5EF4-FFF2-40B4-BE49-F238E27FC236}">
                <a16:creationId xmlns:a16="http://schemas.microsoft.com/office/drawing/2014/main" id="{794D6572-3C0A-330B-C34B-8F477E861A8E}"/>
              </a:ext>
            </a:extLst>
          </p:cNvPr>
          <p:cNvSpPr>
            <a:spLocks noGrp="1"/>
          </p:cNvSpPr>
          <p:nvPr>
            <p:ph type="ftr" sz="quarter" idx="11"/>
          </p:nvPr>
        </p:nvSpPr>
        <p:spPr/>
        <p:txBody>
          <a:bodyPr/>
          <a:lstStyle/>
          <a:p>
            <a:endParaRPr lang="pl-PL"/>
          </a:p>
        </p:txBody>
      </p:sp>
      <p:sp>
        <p:nvSpPr>
          <p:cNvPr id="4" name="Symbol zastępczy numeru slajdu 3">
            <a:extLst>
              <a:ext uri="{FF2B5EF4-FFF2-40B4-BE49-F238E27FC236}">
                <a16:creationId xmlns:a16="http://schemas.microsoft.com/office/drawing/2014/main" id="{30040795-9D43-91EE-2896-70568DBF9AC6}"/>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782414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6A85868-140F-CADA-8727-34E9A21F64D5}"/>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zawartości 2">
            <a:extLst>
              <a:ext uri="{FF2B5EF4-FFF2-40B4-BE49-F238E27FC236}">
                <a16:creationId xmlns:a16="http://schemas.microsoft.com/office/drawing/2014/main" id="{8B2590D5-6B4B-6B57-D4A5-2DFED0955E3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a:extLst>
              <a:ext uri="{FF2B5EF4-FFF2-40B4-BE49-F238E27FC236}">
                <a16:creationId xmlns:a16="http://schemas.microsoft.com/office/drawing/2014/main" id="{CAE7DB58-4F70-DD44-BDAB-16ADF334D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412A4D34-3800-5440-4817-30652068C0D4}"/>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6" name="Symbol zastępczy stopki 5">
            <a:extLst>
              <a:ext uri="{FF2B5EF4-FFF2-40B4-BE49-F238E27FC236}">
                <a16:creationId xmlns:a16="http://schemas.microsoft.com/office/drawing/2014/main" id="{DEDAD53B-6713-665B-5232-2B9AFFF32E3C}"/>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73E2EDDA-2C38-D87A-138C-CEB9D30CD681}"/>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12245163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ED90DE2-43D7-275C-92F0-156AC2CCDD01}"/>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obrazu 2">
            <a:extLst>
              <a:ext uri="{FF2B5EF4-FFF2-40B4-BE49-F238E27FC236}">
                <a16:creationId xmlns:a16="http://schemas.microsoft.com/office/drawing/2014/main" id="{F073D1A9-93F5-0173-0745-8EACFD47D59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l-PL"/>
          </a:p>
        </p:txBody>
      </p:sp>
      <p:sp>
        <p:nvSpPr>
          <p:cNvPr id="4" name="Symbol zastępczy tekstu 3">
            <a:extLst>
              <a:ext uri="{FF2B5EF4-FFF2-40B4-BE49-F238E27FC236}">
                <a16:creationId xmlns:a16="http://schemas.microsoft.com/office/drawing/2014/main" id="{73B8CF0C-9B7B-643D-1E47-9DE35A3498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A33A5AA7-9FC2-272C-2D25-BFD52CF13EE4}"/>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6" name="Symbol zastępczy stopki 5">
            <a:extLst>
              <a:ext uri="{FF2B5EF4-FFF2-40B4-BE49-F238E27FC236}">
                <a16:creationId xmlns:a16="http://schemas.microsoft.com/office/drawing/2014/main" id="{B4F0BD83-1E39-FD31-FC02-4AA1F0B7B5D6}"/>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87D7C8EC-8996-6C80-1EAC-01F1C2D7E2B4}"/>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656704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2DBE1EF-79A4-293E-0395-C15C3E81C0F1}"/>
              </a:ext>
            </a:extLst>
          </p:cNvPr>
          <p:cNvSpPr>
            <a:spLocks noGrp="1"/>
          </p:cNvSpPr>
          <p:nvPr>
            <p:ph type="title"/>
          </p:nvPr>
        </p:nvSpPr>
        <p:spPr/>
        <p:txBody>
          <a:bodyPr/>
          <a:lstStyle/>
          <a:p>
            <a:r>
              <a:rPr lang="pl-PL"/>
              <a:t>Kliknij, aby edytować styl</a:t>
            </a:r>
          </a:p>
        </p:txBody>
      </p:sp>
      <p:sp>
        <p:nvSpPr>
          <p:cNvPr id="3" name="Symbol zastępczy tytułu pionowego 2">
            <a:extLst>
              <a:ext uri="{FF2B5EF4-FFF2-40B4-BE49-F238E27FC236}">
                <a16:creationId xmlns:a16="http://schemas.microsoft.com/office/drawing/2014/main" id="{7A36D679-B12A-0452-786E-31E0E5858072}"/>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5DCB531C-8970-8355-D791-CD5E993E216F}"/>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270ABBF8-4938-603A-E9B5-335E0479E0DC}"/>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F7158C26-ED63-838E-0966-A4E9203BBCCA}"/>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8867254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EAD4664C-4A70-F96D-6D26-EF87561B3F8B}"/>
              </a:ext>
            </a:extLst>
          </p:cNvPr>
          <p:cNvSpPr>
            <a:spLocks noGrp="1"/>
          </p:cNvSpPr>
          <p:nvPr>
            <p:ph type="title" orient="vert"/>
          </p:nvPr>
        </p:nvSpPr>
        <p:spPr>
          <a:xfrm>
            <a:off x="8724900" y="365125"/>
            <a:ext cx="2628900" cy="5811838"/>
          </a:xfrm>
        </p:spPr>
        <p:txBody>
          <a:bodyPr vert="eaVert"/>
          <a:lstStyle/>
          <a:p>
            <a:r>
              <a:rPr lang="pl-PL"/>
              <a:t>Kliknij, aby edytować styl</a:t>
            </a:r>
          </a:p>
        </p:txBody>
      </p:sp>
      <p:sp>
        <p:nvSpPr>
          <p:cNvPr id="3" name="Symbol zastępczy tytułu pionowego 2">
            <a:extLst>
              <a:ext uri="{FF2B5EF4-FFF2-40B4-BE49-F238E27FC236}">
                <a16:creationId xmlns:a16="http://schemas.microsoft.com/office/drawing/2014/main" id="{BA11D5DE-D413-AB0E-5448-05BA2142F44C}"/>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495C2D0B-D2E6-4141-DDAB-450EA4C56E98}"/>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7A7D8D26-B082-78A0-A8DA-1731FD1B8F39}"/>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99F5A6E9-4633-60CB-4610-C23850E8E335}"/>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2981851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reserve="1">
  <p:cSld name="Tytuł i tekst">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C741B07-3276-A542-B3A8-488DA0BEC283}"/>
              </a:ext>
            </a:extLst>
          </p:cNvPr>
          <p:cNvSpPr>
            <a:spLocks noGrp="1"/>
          </p:cNvSpPr>
          <p:nvPr>
            <p:ph type="title"/>
          </p:nvPr>
        </p:nvSpPr>
        <p:spPr/>
        <p:txBody>
          <a:bodyPr/>
          <a:lstStyle/>
          <a:p>
            <a:r>
              <a:rPr lang="pl-PL"/>
              <a:t>Kliknij, aby edytować styl</a:t>
            </a:r>
          </a:p>
        </p:txBody>
      </p:sp>
      <p:sp>
        <p:nvSpPr>
          <p:cNvPr id="3" name="Symbol zastępczy tekstu 2">
            <a:extLst>
              <a:ext uri="{FF2B5EF4-FFF2-40B4-BE49-F238E27FC236}">
                <a16:creationId xmlns:a16="http://schemas.microsoft.com/office/drawing/2014/main" id="{19B188AA-C838-F9E0-0AA5-96FB1D927943}"/>
              </a:ext>
            </a:extLst>
          </p:cNvPr>
          <p:cNvSpPr>
            <a:spLocks noGrp="1"/>
          </p:cNvSpPr>
          <p:nvPr>
            <p:ph type="body"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0915ABD8-D912-2D08-E6C3-DFA782A21C09}"/>
              </a:ext>
            </a:extLst>
          </p:cNvPr>
          <p:cNvSpPr>
            <a:spLocks noGrp="1"/>
          </p:cNvSpPr>
          <p:nvPr>
            <p:ph type="dt" sz="half" idx="10"/>
          </p:nvPr>
        </p:nvSpPr>
        <p:spPr/>
        <p:txBody>
          <a:body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91B99588-4CFE-D16C-CFD3-D4249926E267}"/>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1A38BE3F-DDC5-C4CF-C5A6-36E81B14076F}"/>
              </a:ext>
            </a:extLst>
          </p:cNvPr>
          <p:cNvSpPr>
            <a:spLocks noGrp="1"/>
          </p:cNvSpPr>
          <p:nvPr>
            <p:ph type="sldNum" sz="quarter" idx="12"/>
          </p:nvPr>
        </p:nvSpPr>
        <p:spPr/>
        <p:txBody>
          <a:bodyPr/>
          <a:lstStyle/>
          <a:p>
            <a:fld id="{E2509D77-4A7C-4682-8640-D099E70D1CD3}" type="slidenum">
              <a:rPr lang="pl-PL" smtClean="0"/>
              <a:t>‹#›</a:t>
            </a:fld>
            <a:endParaRPr lang="pl-PL"/>
          </a:p>
        </p:txBody>
      </p:sp>
    </p:spTree>
    <p:extLst>
      <p:ext uri="{BB962C8B-B14F-4D97-AF65-F5344CB8AC3E}">
        <p14:creationId xmlns:p14="http://schemas.microsoft.com/office/powerpoint/2010/main" val="37427988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FD1CFC5-9E64-E27A-1E32-32C408CAC42C}"/>
              </a:ext>
            </a:extLst>
          </p:cNvPr>
          <p:cNvSpPr>
            <a:spLocks noGrp="1"/>
          </p:cNvSpPr>
          <p:nvPr>
            <p:ph type="ctrTitle"/>
          </p:nvPr>
        </p:nvSpPr>
        <p:spPr>
          <a:xfrm>
            <a:off x="1524000" y="1122363"/>
            <a:ext cx="9144000" cy="2387600"/>
          </a:xfrm>
        </p:spPr>
        <p:txBody>
          <a:bodyPr anchor="b"/>
          <a:lstStyle>
            <a:lvl1pPr algn="ctr">
              <a:defRPr sz="6000"/>
            </a:lvl1pPr>
          </a:lstStyle>
          <a:p>
            <a:r>
              <a:rPr lang="pl-PL"/>
              <a:t>Kliknij, aby edytować styl</a:t>
            </a:r>
          </a:p>
        </p:txBody>
      </p:sp>
      <p:sp>
        <p:nvSpPr>
          <p:cNvPr id="3" name="Podtytuł 2">
            <a:extLst>
              <a:ext uri="{FF2B5EF4-FFF2-40B4-BE49-F238E27FC236}">
                <a16:creationId xmlns:a16="http://schemas.microsoft.com/office/drawing/2014/main" id="{27884E63-0389-7568-2ED4-1C5004D2F48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p>
        </p:txBody>
      </p:sp>
      <p:sp>
        <p:nvSpPr>
          <p:cNvPr id="4" name="Symbol zastępczy daty 3">
            <a:extLst>
              <a:ext uri="{FF2B5EF4-FFF2-40B4-BE49-F238E27FC236}">
                <a16:creationId xmlns:a16="http://schemas.microsoft.com/office/drawing/2014/main" id="{62926A95-13D0-3BBB-A157-67DA06AEB06B}"/>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5" name="Symbol zastępczy stopki 4">
            <a:extLst>
              <a:ext uri="{FF2B5EF4-FFF2-40B4-BE49-F238E27FC236}">
                <a16:creationId xmlns:a16="http://schemas.microsoft.com/office/drawing/2014/main" id="{8FF6FE0B-7809-B06E-BF9B-AA73B474E486}"/>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E1446C57-748E-8A7D-18A2-93A4B5239F3E}"/>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1259343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83A830-F5E7-304D-AC6F-A5ABDD1D617F}"/>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216066B8-6B39-4C0F-D392-20F9D18A2007}"/>
              </a:ext>
            </a:extLst>
          </p:cNvPr>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FB8756EB-C816-1265-B18E-FD76C71FF2E9}"/>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5" name="Symbol zastępczy stopki 4">
            <a:extLst>
              <a:ext uri="{FF2B5EF4-FFF2-40B4-BE49-F238E27FC236}">
                <a16:creationId xmlns:a16="http://schemas.microsoft.com/office/drawing/2014/main" id="{E2B04D89-5C7C-4268-A58E-5469E2A06B24}"/>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2F2CECC8-6EB9-C054-E60C-64C4F9C4794F}"/>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3261017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E1A055B-20EC-58C5-74AD-E45DFE60DB6A}"/>
              </a:ext>
            </a:extLst>
          </p:cNvPr>
          <p:cNvSpPr>
            <a:spLocks noGrp="1"/>
          </p:cNvSpPr>
          <p:nvPr>
            <p:ph type="title"/>
          </p:nvPr>
        </p:nvSpPr>
        <p:spPr>
          <a:xfrm>
            <a:off x="831850" y="1709738"/>
            <a:ext cx="10515600" cy="2852737"/>
          </a:xfrm>
        </p:spPr>
        <p:txBody>
          <a:bodyPr anchor="b"/>
          <a:lstStyle>
            <a:lvl1pPr>
              <a:defRPr sz="6000"/>
            </a:lvl1pPr>
          </a:lstStyle>
          <a:p>
            <a:r>
              <a:rPr lang="pl-PL"/>
              <a:t>Kliknij, aby edytować styl</a:t>
            </a:r>
          </a:p>
        </p:txBody>
      </p:sp>
      <p:sp>
        <p:nvSpPr>
          <p:cNvPr id="3" name="Symbol zastępczy tekstu 2">
            <a:extLst>
              <a:ext uri="{FF2B5EF4-FFF2-40B4-BE49-F238E27FC236}">
                <a16:creationId xmlns:a16="http://schemas.microsoft.com/office/drawing/2014/main" id="{1BE87AFA-F0FD-0431-124E-F9F6324FD8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pl-PL"/>
              <a:t>Kliknij, aby edytować style wzorca tekstu</a:t>
            </a:r>
          </a:p>
        </p:txBody>
      </p:sp>
      <p:sp>
        <p:nvSpPr>
          <p:cNvPr id="4" name="Symbol zastępczy daty 3">
            <a:extLst>
              <a:ext uri="{FF2B5EF4-FFF2-40B4-BE49-F238E27FC236}">
                <a16:creationId xmlns:a16="http://schemas.microsoft.com/office/drawing/2014/main" id="{4C7F2822-C1B5-618E-D138-D9F7FA2661A7}"/>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5" name="Symbol zastępczy stopki 4">
            <a:extLst>
              <a:ext uri="{FF2B5EF4-FFF2-40B4-BE49-F238E27FC236}">
                <a16:creationId xmlns:a16="http://schemas.microsoft.com/office/drawing/2014/main" id="{804C9AD9-942B-2D33-3333-8BB3457545DE}"/>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E1F1EFBB-4B28-B20B-22AA-385FBA81D2FD}"/>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99810107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8D0624-34B7-32BC-7E24-5420EAC0CD38}"/>
              </a:ext>
            </a:extLst>
          </p:cNvPr>
          <p:cNvSpPr>
            <a:spLocks noGrp="1"/>
          </p:cNvSpPr>
          <p:nvPr>
            <p:ph type="title"/>
          </p:nvPr>
        </p:nvSpPr>
        <p:spPr/>
        <p:txBody>
          <a:bodyPr/>
          <a:lstStyle/>
          <a:p>
            <a:r>
              <a:rPr lang="pl-PL"/>
              <a:t>Kliknij, aby edytować styl</a:t>
            </a:r>
          </a:p>
        </p:txBody>
      </p:sp>
      <p:sp>
        <p:nvSpPr>
          <p:cNvPr id="3" name="Symbol zastępczy zawartości 2">
            <a:extLst>
              <a:ext uri="{FF2B5EF4-FFF2-40B4-BE49-F238E27FC236}">
                <a16:creationId xmlns:a16="http://schemas.microsoft.com/office/drawing/2014/main" id="{6FF0CA34-F481-32C8-B979-AAAFF442A488}"/>
              </a:ext>
            </a:extLst>
          </p:cNvPr>
          <p:cNvSpPr>
            <a:spLocks noGrp="1"/>
          </p:cNvSpPr>
          <p:nvPr>
            <p:ph sz="half" idx="1"/>
          </p:nvPr>
        </p:nvSpPr>
        <p:spPr>
          <a:xfrm>
            <a:off x="838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zawartości 3">
            <a:extLst>
              <a:ext uri="{FF2B5EF4-FFF2-40B4-BE49-F238E27FC236}">
                <a16:creationId xmlns:a16="http://schemas.microsoft.com/office/drawing/2014/main" id="{A17EB1EB-62B8-9514-B885-3942088B5040}"/>
              </a:ext>
            </a:extLst>
          </p:cNvPr>
          <p:cNvSpPr>
            <a:spLocks noGrp="1"/>
          </p:cNvSpPr>
          <p:nvPr>
            <p:ph sz="half" idx="2"/>
          </p:nvPr>
        </p:nvSpPr>
        <p:spPr>
          <a:xfrm>
            <a:off x="6172200" y="1825625"/>
            <a:ext cx="5181600" cy="435133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daty 4">
            <a:extLst>
              <a:ext uri="{FF2B5EF4-FFF2-40B4-BE49-F238E27FC236}">
                <a16:creationId xmlns:a16="http://schemas.microsoft.com/office/drawing/2014/main" id="{C04DC51F-48EA-CE52-9BA5-258C9B2D2A24}"/>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6" name="Symbol zastępczy stopki 5">
            <a:extLst>
              <a:ext uri="{FF2B5EF4-FFF2-40B4-BE49-F238E27FC236}">
                <a16:creationId xmlns:a16="http://schemas.microsoft.com/office/drawing/2014/main" id="{AEF50050-A12F-26E1-FDFD-AA6B36B3C341}"/>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3030B17C-1D65-42FE-492E-CB202AA1DBEF}"/>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6972990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11657D2-4080-4B3E-1EF2-74D7499F08B2}"/>
              </a:ext>
            </a:extLst>
          </p:cNvPr>
          <p:cNvSpPr>
            <a:spLocks noGrp="1"/>
          </p:cNvSpPr>
          <p:nvPr>
            <p:ph type="title"/>
          </p:nvPr>
        </p:nvSpPr>
        <p:spPr>
          <a:xfrm>
            <a:off x="839788" y="365125"/>
            <a:ext cx="10515600" cy="1325563"/>
          </a:xfrm>
        </p:spPr>
        <p:txBody>
          <a:bodyPr/>
          <a:lstStyle/>
          <a:p>
            <a:r>
              <a:rPr lang="pl-PL"/>
              <a:t>Kliknij, aby edytować styl</a:t>
            </a:r>
          </a:p>
        </p:txBody>
      </p:sp>
      <p:sp>
        <p:nvSpPr>
          <p:cNvPr id="3" name="Symbol zastępczy tekstu 2">
            <a:extLst>
              <a:ext uri="{FF2B5EF4-FFF2-40B4-BE49-F238E27FC236}">
                <a16:creationId xmlns:a16="http://schemas.microsoft.com/office/drawing/2014/main" id="{B5D422CB-E4D1-4D50-02F5-A67A0E48B84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Symbol zastępczy zawartości 3">
            <a:extLst>
              <a:ext uri="{FF2B5EF4-FFF2-40B4-BE49-F238E27FC236}">
                <a16:creationId xmlns:a16="http://schemas.microsoft.com/office/drawing/2014/main" id="{DCEB2E59-D55A-3A6E-B6EE-11D4CFF3DE71}"/>
              </a:ext>
            </a:extLst>
          </p:cNvPr>
          <p:cNvSpPr>
            <a:spLocks noGrp="1"/>
          </p:cNvSpPr>
          <p:nvPr>
            <p:ph sz="half" idx="2"/>
          </p:nvPr>
        </p:nvSpPr>
        <p:spPr>
          <a:xfrm>
            <a:off x="839788" y="2505075"/>
            <a:ext cx="5157787"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5" name="Symbol zastępczy tekstu 4">
            <a:extLst>
              <a:ext uri="{FF2B5EF4-FFF2-40B4-BE49-F238E27FC236}">
                <a16:creationId xmlns:a16="http://schemas.microsoft.com/office/drawing/2014/main" id="{DD8BB198-5066-D8D7-A2AD-69A1E37BFF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Symbol zastępczy zawartości 5">
            <a:extLst>
              <a:ext uri="{FF2B5EF4-FFF2-40B4-BE49-F238E27FC236}">
                <a16:creationId xmlns:a16="http://schemas.microsoft.com/office/drawing/2014/main" id="{208F5362-E758-FE95-C074-62A957A6F2C4}"/>
              </a:ext>
            </a:extLst>
          </p:cNvPr>
          <p:cNvSpPr>
            <a:spLocks noGrp="1"/>
          </p:cNvSpPr>
          <p:nvPr>
            <p:ph sz="quarter" idx="4"/>
          </p:nvPr>
        </p:nvSpPr>
        <p:spPr>
          <a:xfrm>
            <a:off x="6172200" y="2505075"/>
            <a:ext cx="5183188" cy="3684588"/>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7" name="Symbol zastępczy daty 6">
            <a:extLst>
              <a:ext uri="{FF2B5EF4-FFF2-40B4-BE49-F238E27FC236}">
                <a16:creationId xmlns:a16="http://schemas.microsoft.com/office/drawing/2014/main" id="{A201B384-A684-AA0E-8EE0-26CA7816CC78}"/>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8" name="Symbol zastępczy stopki 7">
            <a:extLst>
              <a:ext uri="{FF2B5EF4-FFF2-40B4-BE49-F238E27FC236}">
                <a16:creationId xmlns:a16="http://schemas.microsoft.com/office/drawing/2014/main" id="{C2C11059-3B2D-18D3-C999-94C517BE4B17}"/>
              </a:ext>
            </a:extLst>
          </p:cNvPr>
          <p:cNvSpPr>
            <a:spLocks noGrp="1"/>
          </p:cNvSpPr>
          <p:nvPr>
            <p:ph type="ftr" sz="quarter" idx="11"/>
          </p:nvPr>
        </p:nvSpPr>
        <p:spPr/>
        <p:txBody>
          <a:bodyPr/>
          <a:lstStyle/>
          <a:p>
            <a:endParaRPr lang="pl-PL"/>
          </a:p>
        </p:txBody>
      </p:sp>
      <p:sp>
        <p:nvSpPr>
          <p:cNvPr id="9" name="Symbol zastępczy numeru slajdu 8">
            <a:extLst>
              <a:ext uri="{FF2B5EF4-FFF2-40B4-BE49-F238E27FC236}">
                <a16:creationId xmlns:a16="http://schemas.microsoft.com/office/drawing/2014/main" id="{FFF84CFF-69CD-3949-23AD-D9B2AB50EF8B}"/>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2352933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27A8749-5827-2F39-3ED3-04A98F4D59CB}"/>
              </a:ext>
            </a:extLst>
          </p:cNvPr>
          <p:cNvSpPr>
            <a:spLocks noGrp="1"/>
          </p:cNvSpPr>
          <p:nvPr>
            <p:ph type="title"/>
          </p:nvPr>
        </p:nvSpPr>
        <p:spPr/>
        <p:txBody>
          <a:bodyPr/>
          <a:lstStyle/>
          <a:p>
            <a:r>
              <a:rPr lang="pl-PL"/>
              <a:t>Kliknij, aby edytować styl</a:t>
            </a:r>
          </a:p>
        </p:txBody>
      </p:sp>
      <p:sp>
        <p:nvSpPr>
          <p:cNvPr id="3" name="Symbol zastępczy daty 2">
            <a:extLst>
              <a:ext uri="{FF2B5EF4-FFF2-40B4-BE49-F238E27FC236}">
                <a16:creationId xmlns:a16="http://schemas.microsoft.com/office/drawing/2014/main" id="{E2578643-4A46-2269-6104-85B3FC945D02}"/>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4" name="Symbol zastępczy stopki 3">
            <a:extLst>
              <a:ext uri="{FF2B5EF4-FFF2-40B4-BE49-F238E27FC236}">
                <a16:creationId xmlns:a16="http://schemas.microsoft.com/office/drawing/2014/main" id="{E976E1CD-C45B-F72E-57B9-6A5E01499191}"/>
              </a:ext>
            </a:extLst>
          </p:cNvPr>
          <p:cNvSpPr>
            <a:spLocks noGrp="1"/>
          </p:cNvSpPr>
          <p:nvPr>
            <p:ph type="ftr" sz="quarter" idx="11"/>
          </p:nvPr>
        </p:nvSpPr>
        <p:spPr/>
        <p:txBody>
          <a:bodyPr/>
          <a:lstStyle/>
          <a:p>
            <a:endParaRPr lang="pl-PL"/>
          </a:p>
        </p:txBody>
      </p:sp>
      <p:sp>
        <p:nvSpPr>
          <p:cNvPr id="5" name="Symbol zastępczy numeru slajdu 4">
            <a:extLst>
              <a:ext uri="{FF2B5EF4-FFF2-40B4-BE49-F238E27FC236}">
                <a16:creationId xmlns:a16="http://schemas.microsoft.com/office/drawing/2014/main" id="{9C4CEE1E-BB4C-DAC6-3986-48F25BE65A37}"/>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84205947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Symbol zastępczy daty 1">
            <a:extLst>
              <a:ext uri="{FF2B5EF4-FFF2-40B4-BE49-F238E27FC236}">
                <a16:creationId xmlns:a16="http://schemas.microsoft.com/office/drawing/2014/main" id="{5255A762-6FA3-02F4-AFF1-615F1B667A29}"/>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3" name="Symbol zastępczy stopki 2">
            <a:extLst>
              <a:ext uri="{FF2B5EF4-FFF2-40B4-BE49-F238E27FC236}">
                <a16:creationId xmlns:a16="http://schemas.microsoft.com/office/drawing/2014/main" id="{E220AE2B-81A5-D982-BF4C-C6354A808352}"/>
              </a:ext>
            </a:extLst>
          </p:cNvPr>
          <p:cNvSpPr>
            <a:spLocks noGrp="1"/>
          </p:cNvSpPr>
          <p:nvPr>
            <p:ph type="ftr" sz="quarter" idx="11"/>
          </p:nvPr>
        </p:nvSpPr>
        <p:spPr/>
        <p:txBody>
          <a:bodyPr/>
          <a:lstStyle/>
          <a:p>
            <a:endParaRPr lang="pl-PL"/>
          </a:p>
        </p:txBody>
      </p:sp>
      <p:sp>
        <p:nvSpPr>
          <p:cNvPr id="4" name="Symbol zastępczy numeru slajdu 3">
            <a:extLst>
              <a:ext uri="{FF2B5EF4-FFF2-40B4-BE49-F238E27FC236}">
                <a16:creationId xmlns:a16="http://schemas.microsoft.com/office/drawing/2014/main" id="{D5A943AD-0208-2AD6-F6B9-094470636D1A}"/>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7895414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19EE13C-51FF-21B1-7CCA-50AEACA8CE4F}"/>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zawartości 2">
            <a:extLst>
              <a:ext uri="{FF2B5EF4-FFF2-40B4-BE49-F238E27FC236}">
                <a16:creationId xmlns:a16="http://schemas.microsoft.com/office/drawing/2014/main" id="{B5BBCCE3-9C5C-1F94-7019-EB130E2561C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tekstu 3">
            <a:extLst>
              <a:ext uri="{FF2B5EF4-FFF2-40B4-BE49-F238E27FC236}">
                <a16:creationId xmlns:a16="http://schemas.microsoft.com/office/drawing/2014/main" id="{D77D2D8D-FD42-515D-444D-5F5FD69803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31264D7A-144B-C23A-6E29-1B168396E809}"/>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6" name="Symbol zastępczy stopki 5">
            <a:extLst>
              <a:ext uri="{FF2B5EF4-FFF2-40B4-BE49-F238E27FC236}">
                <a16:creationId xmlns:a16="http://schemas.microsoft.com/office/drawing/2014/main" id="{5A2DD9A9-8DDE-929F-91A0-5E1C28BA3D3F}"/>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5871711E-6205-FE2B-09BE-358CE42D1A1E}"/>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298657317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BEC3A722-1A99-925B-EB06-59CBF4973CD4}"/>
              </a:ext>
            </a:extLst>
          </p:cNvPr>
          <p:cNvSpPr>
            <a:spLocks noGrp="1"/>
          </p:cNvSpPr>
          <p:nvPr>
            <p:ph type="title"/>
          </p:nvPr>
        </p:nvSpPr>
        <p:spPr>
          <a:xfrm>
            <a:off x="839788" y="457200"/>
            <a:ext cx="3932237" cy="1600200"/>
          </a:xfrm>
        </p:spPr>
        <p:txBody>
          <a:bodyPr anchor="b"/>
          <a:lstStyle>
            <a:lvl1pPr>
              <a:defRPr sz="3200"/>
            </a:lvl1pPr>
          </a:lstStyle>
          <a:p>
            <a:r>
              <a:rPr lang="pl-PL"/>
              <a:t>Kliknij, aby edytować styl</a:t>
            </a:r>
          </a:p>
        </p:txBody>
      </p:sp>
      <p:sp>
        <p:nvSpPr>
          <p:cNvPr id="3" name="Symbol zastępczy obrazu 2">
            <a:extLst>
              <a:ext uri="{FF2B5EF4-FFF2-40B4-BE49-F238E27FC236}">
                <a16:creationId xmlns:a16="http://schemas.microsoft.com/office/drawing/2014/main" id="{FD417C7E-AF36-5157-99C2-E1C7B7AD707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l-PL"/>
          </a:p>
        </p:txBody>
      </p:sp>
      <p:sp>
        <p:nvSpPr>
          <p:cNvPr id="4" name="Symbol zastępczy tekstu 3">
            <a:extLst>
              <a:ext uri="{FF2B5EF4-FFF2-40B4-BE49-F238E27FC236}">
                <a16:creationId xmlns:a16="http://schemas.microsoft.com/office/drawing/2014/main" id="{4A76CF50-C881-88CD-F08B-B00867C1E3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Symbol zastępczy daty 4">
            <a:extLst>
              <a:ext uri="{FF2B5EF4-FFF2-40B4-BE49-F238E27FC236}">
                <a16:creationId xmlns:a16="http://schemas.microsoft.com/office/drawing/2014/main" id="{6E7D45C7-AA88-98B9-E68C-D2DA96DEF8E3}"/>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6" name="Symbol zastępczy stopki 5">
            <a:extLst>
              <a:ext uri="{FF2B5EF4-FFF2-40B4-BE49-F238E27FC236}">
                <a16:creationId xmlns:a16="http://schemas.microsoft.com/office/drawing/2014/main" id="{72F317C9-E93E-7E60-2EA2-320331D03B30}"/>
              </a:ext>
            </a:extLst>
          </p:cNvPr>
          <p:cNvSpPr>
            <a:spLocks noGrp="1"/>
          </p:cNvSpPr>
          <p:nvPr>
            <p:ph type="ftr" sz="quarter" idx="11"/>
          </p:nvPr>
        </p:nvSpPr>
        <p:spPr/>
        <p:txBody>
          <a:bodyPr/>
          <a:lstStyle/>
          <a:p>
            <a:endParaRPr lang="pl-PL"/>
          </a:p>
        </p:txBody>
      </p:sp>
      <p:sp>
        <p:nvSpPr>
          <p:cNvPr id="7" name="Symbol zastępczy numeru slajdu 6">
            <a:extLst>
              <a:ext uri="{FF2B5EF4-FFF2-40B4-BE49-F238E27FC236}">
                <a16:creationId xmlns:a16="http://schemas.microsoft.com/office/drawing/2014/main" id="{2507E408-DE2C-D187-6C90-1C161C6950A2}"/>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35223901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6EEAA07-8A83-2B4E-E3C3-A1A2B2F01ECB}"/>
              </a:ext>
            </a:extLst>
          </p:cNvPr>
          <p:cNvSpPr>
            <a:spLocks noGrp="1"/>
          </p:cNvSpPr>
          <p:nvPr>
            <p:ph type="title"/>
          </p:nvPr>
        </p:nvSpPr>
        <p:spPr/>
        <p:txBody>
          <a:bodyPr/>
          <a:lstStyle/>
          <a:p>
            <a:r>
              <a:rPr lang="pl-PL"/>
              <a:t>Kliknij, aby edytować styl</a:t>
            </a:r>
          </a:p>
        </p:txBody>
      </p:sp>
      <p:sp>
        <p:nvSpPr>
          <p:cNvPr id="3" name="Symbol zastępczy tytułu pionowego 2">
            <a:extLst>
              <a:ext uri="{FF2B5EF4-FFF2-40B4-BE49-F238E27FC236}">
                <a16:creationId xmlns:a16="http://schemas.microsoft.com/office/drawing/2014/main" id="{1B9D490C-B7B9-9B86-059D-E30940313061}"/>
              </a:ext>
            </a:extLst>
          </p:cNvPr>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4C6B02BF-2AF3-7043-A562-C4FBE86BF437}"/>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5" name="Symbol zastępczy stopki 4">
            <a:extLst>
              <a:ext uri="{FF2B5EF4-FFF2-40B4-BE49-F238E27FC236}">
                <a16:creationId xmlns:a16="http://schemas.microsoft.com/office/drawing/2014/main" id="{8D3ACACB-E231-3B99-C7F4-7485E3CF562B}"/>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5AECDC50-8E18-9189-FF85-3C4262655859}"/>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17019670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Tytuł pionowy 1">
            <a:extLst>
              <a:ext uri="{FF2B5EF4-FFF2-40B4-BE49-F238E27FC236}">
                <a16:creationId xmlns:a16="http://schemas.microsoft.com/office/drawing/2014/main" id="{DE5FF89C-8C1E-E041-D4A3-F8333883B86E}"/>
              </a:ext>
            </a:extLst>
          </p:cNvPr>
          <p:cNvSpPr>
            <a:spLocks noGrp="1"/>
          </p:cNvSpPr>
          <p:nvPr>
            <p:ph type="title" orient="vert"/>
          </p:nvPr>
        </p:nvSpPr>
        <p:spPr>
          <a:xfrm>
            <a:off x="8724900" y="365125"/>
            <a:ext cx="2628900" cy="5811838"/>
          </a:xfrm>
        </p:spPr>
        <p:txBody>
          <a:bodyPr vert="eaVert"/>
          <a:lstStyle/>
          <a:p>
            <a:r>
              <a:rPr lang="pl-PL"/>
              <a:t>Kliknij, aby edytować styl</a:t>
            </a:r>
          </a:p>
        </p:txBody>
      </p:sp>
      <p:sp>
        <p:nvSpPr>
          <p:cNvPr id="3" name="Symbol zastępczy tytułu pionowego 2">
            <a:extLst>
              <a:ext uri="{FF2B5EF4-FFF2-40B4-BE49-F238E27FC236}">
                <a16:creationId xmlns:a16="http://schemas.microsoft.com/office/drawing/2014/main" id="{371DF6C8-1E49-65D5-B6EB-5F23057592E1}"/>
              </a:ext>
            </a:extLst>
          </p:cNvPr>
          <p:cNvSpPr>
            <a:spLocks noGrp="1"/>
          </p:cNvSpPr>
          <p:nvPr>
            <p:ph type="body" orient="vert" idx="1"/>
          </p:nvPr>
        </p:nvSpPr>
        <p:spPr>
          <a:xfrm>
            <a:off x="838200" y="365125"/>
            <a:ext cx="7734300" cy="5811838"/>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387CBD23-EE1F-EE8C-1AC9-4FFA05AA5438}"/>
              </a:ext>
            </a:extLst>
          </p:cNvPr>
          <p:cNvSpPr>
            <a:spLocks noGrp="1"/>
          </p:cNvSpPr>
          <p:nvPr>
            <p:ph type="dt" sz="half" idx="10"/>
          </p:nvPr>
        </p:nvSpPr>
        <p:spPr/>
        <p:txBody>
          <a:bodyPr/>
          <a:lstStyle/>
          <a:p>
            <a:fld id="{E180F3EB-CED7-43F4-9E23-4BCBF0141284}" type="datetimeFigureOut">
              <a:rPr lang="pl-PL" smtClean="0"/>
              <a:t>27.03.2026</a:t>
            </a:fld>
            <a:endParaRPr lang="pl-PL"/>
          </a:p>
        </p:txBody>
      </p:sp>
      <p:sp>
        <p:nvSpPr>
          <p:cNvPr id="5" name="Symbol zastępczy stopki 4">
            <a:extLst>
              <a:ext uri="{FF2B5EF4-FFF2-40B4-BE49-F238E27FC236}">
                <a16:creationId xmlns:a16="http://schemas.microsoft.com/office/drawing/2014/main" id="{5E523A84-58EF-92BC-3B97-4CC88F2A17D3}"/>
              </a:ext>
            </a:extLst>
          </p:cNvPr>
          <p:cNvSpPr>
            <a:spLocks noGrp="1"/>
          </p:cNvSpPr>
          <p:nvPr>
            <p:ph type="ftr" sz="quarter" idx="11"/>
          </p:nvPr>
        </p:nvSpPr>
        <p:spPr/>
        <p:txBody>
          <a:bodyPr/>
          <a:lstStyle/>
          <a:p>
            <a:endParaRPr lang="pl-PL"/>
          </a:p>
        </p:txBody>
      </p:sp>
      <p:sp>
        <p:nvSpPr>
          <p:cNvPr id="6" name="Symbol zastępczy numeru slajdu 5">
            <a:extLst>
              <a:ext uri="{FF2B5EF4-FFF2-40B4-BE49-F238E27FC236}">
                <a16:creationId xmlns:a16="http://schemas.microsoft.com/office/drawing/2014/main" id="{64A5AA1F-856D-BD00-E1E7-B1C38CCBE83A}"/>
              </a:ext>
            </a:extLst>
          </p:cNvPr>
          <p:cNvSpPr>
            <a:spLocks noGrp="1"/>
          </p:cNvSpPr>
          <p:nvPr>
            <p:ph type="sldNum" sz="quarter" idx="12"/>
          </p:nvPr>
        </p:nvSpPr>
        <p:spPr/>
        <p:txBody>
          <a:bodyPr/>
          <a:lstStyle/>
          <a:p>
            <a:fld id="{A08A34F4-C42B-42CF-851B-67FCC4F4CC97}" type="slidenum">
              <a:rPr lang="pl-PL" smtClean="0"/>
              <a:t>‹#›</a:t>
            </a:fld>
            <a:endParaRPr lang="pl-PL"/>
          </a:p>
        </p:txBody>
      </p:sp>
    </p:spTree>
    <p:extLst>
      <p:ext uri="{BB962C8B-B14F-4D97-AF65-F5344CB8AC3E}">
        <p14:creationId xmlns:p14="http://schemas.microsoft.com/office/powerpoint/2010/main" val="24544890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AD52F577-E6C1-21C0-2B7B-E656B312759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p>
        </p:txBody>
      </p:sp>
      <p:sp>
        <p:nvSpPr>
          <p:cNvPr id="3" name="Symbol zastępczy tekstu 2">
            <a:extLst>
              <a:ext uri="{FF2B5EF4-FFF2-40B4-BE49-F238E27FC236}">
                <a16:creationId xmlns:a16="http://schemas.microsoft.com/office/drawing/2014/main" id="{5ADEE284-AD5D-2332-80C6-E9F7D585F63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99D5A8B6-AC87-90A5-569F-1AA3FDED19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9779164-E772-4C3E-9B23-E0327087945E}" type="datetimeFigureOut">
              <a:rPr lang="pl-PL" smtClean="0"/>
              <a:t>27.03.2026</a:t>
            </a:fld>
            <a:endParaRPr lang="pl-PL"/>
          </a:p>
        </p:txBody>
      </p:sp>
      <p:sp>
        <p:nvSpPr>
          <p:cNvPr id="5" name="Symbol zastępczy stopki 4">
            <a:extLst>
              <a:ext uri="{FF2B5EF4-FFF2-40B4-BE49-F238E27FC236}">
                <a16:creationId xmlns:a16="http://schemas.microsoft.com/office/drawing/2014/main" id="{791D01FC-3D01-2768-8887-DD0F41C568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l-PL"/>
          </a:p>
        </p:txBody>
      </p:sp>
      <p:sp>
        <p:nvSpPr>
          <p:cNvPr id="6" name="Symbol zastępczy numeru slajdu 5">
            <a:extLst>
              <a:ext uri="{FF2B5EF4-FFF2-40B4-BE49-F238E27FC236}">
                <a16:creationId xmlns:a16="http://schemas.microsoft.com/office/drawing/2014/main" id="{B15FC50E-CE7F-0579-3188-03B9D1E7A14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2509D77-4A7C-4682-8640-D099E70D1CD3}" type="slidenum">
              <a:rPr lang="pl-PL" smtClean="0"/>
              <a:t>‹#›</a:t>
            </a:fld>
            <a:endParaRPr lang="pl-PL"/>
          </a:p>
        </p:txBody>
      </p:sp>
    </p:spTree>
    <p:extLst>
      <p:ext uri="{BB962C8B-B14F-4D97-AF65-F5344CB8AC3E}">
        <p14:creationId xmlns:p14="http://schemas.microsoft.com/office/powerpoint/2010/main" val="1471852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tytułu 1">
            <a:extLst>
              <a:ext uri="{FF2B5EF4-FFF2-40B4-BE49-F238E27FC236}">
                <a16:creationId xmlns:a16="http://schemas.microsoft.com/office/drawing/2014/main" id="{813A6722-C3F5-1564-7357-C769BAF028E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l-PL"/>
              <a:t>Kliknij, aby edytować styl</a:t>
            </a:r>
          </a:p>
        </p:txBody>
      </p:sp>
      <p:sp>
        <p:nvSpPr>
          <p:cNvPr id="3" name="Symbol zastępczy tekstu 2">
            <a:extLst>
              <a:ext uri="{FF2B5EF4-FFF2-40B4-BE49-F238E27FC236}">
                <a16:creationId xmlns:a16="http://schemas.microsoft.com/office/drawing/2014/main" id="{A290B49B-83D8-8350-E404-06F1D8C56F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p>
        </p:txBody>
      </p:sp>
      <p:sp>
        <p:nvSpPr>
          <p:cNvPr id="4" name="Symbol zastępczy daty 3">
            <a:extLst>
              <a:ext uri="{FF2B5EF4-FFF2-40B4-BE49-F238E27FC236}">
                <a16:creationId xmlns:a16="http://schemas.microsoft.com/office/drawing/2014/main" id="{5499F847-54EA-E6AF-217A-7EB04C19AD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80F3EB-CED7-43F4-9E23-4BCBF0141284}" type="datetimeFigureOut">
              <a:rPr lang="pl-PL" smtClean="0"/>
              <a:t>27.03.2026</a:t>
            </a:fld>
            <a:endParaRPr lang="pl-PL"/>
          </a:p>
        </p:txBody>
      </p:sp>
      <p:sp>
        <p:nvSpPr>
          <p:cNvPr id="5" name="Symbol zastępczy stopki 4">
            <a:extLst>
              <a:ext uri="{FF2B5EF4-FFF2-40B4-BE49-F238E27FC236}">
                <a16:creationId xmlns:a16="http://schemas.microsoft.com/office/drawing/2014/main" id="{BE061A4C-0724-784F-60D3-D62EB2659A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pl-PL"/>
          </a:p>
        </p:txBody>
      </p:sp>
      <p:sp>
        <p:nvSpPr>
          <p:cNvPr id="6" name="Symbol zastępczy numeru slajdu 5">
            <a:extLst>
              <a:ext uri="{FF2B5EF4-FFF2-40B4-BE49-F238E27FC236}">
                <a16:creationId xmlns:a16="http://schemas.microsoft.com/office/drawing/2014/main" id="{788EC950-3F0C-5C30-43B1-CFB8B41245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08A34F4-C42B-42CF-851B-67FCC4F4CC97}" type="slidenum">
              <a:rPr lang="pl-PL" smtClean="0"/>
              <a:t>‹#›</a:t>
            </a:fld>
            <a:endParaRPr lang="pl-PL"/>
          </a:p>
        </p:txBody>
      </p:sp>
    </p:spTree>
    <p:extLst>
      <p:ext uri="{BB962C8B-B14F-4D97-AF65-F5344CB8AC3E}">
        <p14:creationId xmlns:p14="http://schemas.microsoft.com/office/powerpoint/2010/main" val="259898745"/>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l-P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42F7C90-53C7-A1E8-CADC-1E6672274D8C}"/>
              </a:ext>
            </a:extLst>
          </p:cNvPr>
          <p:cNvSpPr>
            <a:spLocks noGrp="1"/>
          </p:cNvSpPr>
          <p:nvPr>
            <p:ph type="ctrTitle"/>
          </p:nvPr>
        </p:nvSpPr>
        <p:spPr/>
        <p:txBody>
          <a:bodyPr/>
          <a:lstStyle/>
          <a:p>
            <a:r>
              <a:rPr lang="pl-PL" dirty="0"/>
              <a:t>Analiza Teoretyczna Metryki </a:t>
            </a:r>
            <a:r>
              <a:rPr lang="pl-PL" dirty="0" err="1"/>
              <a:t>VoG</a:t>
            </a:r>
            <a:endParaRPr lang="pl-PL" dirty="0"/>
          </a:p>
        </p:txBody>
      </p:sp>
      <p:sp>
        <p:nvSpPr>
          <p:cNvPr id="3" name="Podtytuł 2">
            <a:extLst>
              <a:ext uri="{FF2B5EF4-FFF2-40B4-BE49-F238E27FC236}">
                <a16:creationId xmlns:a16="http://schemas.microsoft.com/office/drawing/2014/main" id="{4462A04B-478B-6C45-E98D-5E13F958F375}"/>
              </a:ext>
            </a:extLst>
          </p:cNvPr>
          <p:cNvSpPr>
            <a:spLocks noGrp="1"/>
          </p:cNvSpPr>
          <p:nvPr>
            <p:ph type="subTitle" idx="1"/>
          </p:nvPr>
        </p:nvSpPr>
        <p:spPr>
          <a:xfrm>
            <a:off x="1524000" y="3602038"/>
            <a:ext cx="9144000" cy="809028"/>
          </a:xfrm>
        </p:spPr>
        <p:txBody>
          <a:bodyPr/>
          <a:lstStyle/>
          <a:p>
            <a:r>
              <a:rPr lang="pl-PL" dirty="0"/>
              <a:t>Matematyczna logika oceny trudności przykładów oraz oryginalny kod źródłowy</a:t>
            </a:r>
          </a:p>
        </p:txBody>
      </p:sp>
      <p:sp>
        <p:nvSpPr>
          <p:cNvPr id="4" name="pole tekstowe 3">
            <a:extLst>
              <a:ext uri="{FF2B5EF4-FFF2-40B4-BE49-F238E27FC236}">
                <a16:creationId xmlns:a16="http://schemas.microsoft.com/office/drawing/2014/main" id="{31A716BE-FDF7-A567-B5FD-37554978D64E}"/>
              </a:ext>
            </a:extLst>
          </p:cNvPr>
          <p:cNvSpPr txBox="1"/>
          <p:nvPr/>
        </p:nvSpPr>
        <p:spPr>
          <a:xfrm>
            <a:off x="1524000" y="4498848"/>
            <a:ext cx="9144000" cy="646331"/>
          </a:xfrm>
          <a:prstGeom prst="rect">
            <a:avLst/>
          </a:prstGeom>
          <a:noFill/>
        </p:spPr>
        <p:txBody>
          <a:bodyPr wrap="square" rtlCol="0">
            <a:spAutoFit/>
          </a:bodyPr>
          <a:lstStyle/>
          <a:p>
            <a:pPr algn="ctr"/>
            <a:r>
              <a:rPr lang="pl-PL" dirty="0"/>
              <a:t>Na podstawie artykułu </a:t>
            </a:r>
            <a:r>
              <a:rPr lang="pl-PL" dirty="0" err="1"/>
              <a:t>Chirag</a:t>
            </a:r>
            <a:r>
              <a:rPr lang="pl-PL" dirty="0"/>
              <a:t> </a:t>
            </a:r>
            <a:r>
              <a:rPr lang="pl-PL" dirty="0" err="1"/>
              <a:t>Agarwal</a:t>
            </a:r>
            <a:r>
              <a:rPr lang="pl-PL" dirty="0"/>
              <a:t>, Daniel </a:t>
            </a:r>
            <a:r>
              <a:rPr lang="pl-PL" dirty="0" err="1"/>
              <a:t>D’souza</a:t>
            </a:r>
            <a:r>
              <a:rPr lang="pl-PL" dirty="0"/>
              <a:t>, Sara Hooker. </a:t>
            </a:r>
            <a:r>
              <a:rPr lang="pl-PL" dirty="0" err="1"/>
              <a:t>Estimating</a:t>
            </a:r>
            <a:r>
              <a:rPr lang="pl-PL" dirty="0"/>
              <a:t> </a:t>
            </a:r>
            <a:r>
              <a:rPr lang="pl-PL" dirty="0" err="1"/>
              <a:t>Example</a:t>
            </a:r>
            <a:r>
              <a:rPr lang="pl-PL" dirty="0"/>
              <a:t> </a:t>
            </a:r>
            <a:r>
              <a:rPr lang="pl-PL" dirty="0" err="1"/>
              <a:t>Difficulty</a:t>
            </a:r>
            <a:r>
              <a:rPr lang="pl-PL" dirty="0"/>
              <a:t> </a:t>
            </a:r>
            <a:r>
              <a:rPr lang="pl-PL" dirty="0" err="1"/>
              <a:t>uding</a:t>
            </a:r>
            <a:r>
              <a:rPr lang="pl-PL" dirty="0"/>
              <a:t> </a:t>
            </a:r>
            <a:r>
              <a:rPr lang="pl-PL" dirty="0" err="1"/>
              <a:t>Variance</a:t>
            </a:r>
            <a:r>
              <a:rPr lang="pl-PL" dirty="0"/>
              <a:t> of </a:t>
            </a:r>
            <a:r>
              <a:rPr lang="pl-PL" dirty="0" err="1"/>
              <a:t>Gradients</a:t>
            </a:r>
            <a:r>
              <a:rPr lang="pl-PL" dirty="0"/>
              <a:t>. </a:t>
            </a:r>
            <a:r>
              <a:rPr lang="pl-PL" i="1" dirty="0" err="1"/>
              <a:t>arXiv</a:t>
            </a:r>
            <a:r>
              <a:rPr lang="pl-PL" dirty="0"/>
              <a:t>, 2022</a:t>
            </a:r>
          </a:p>
        </p:txBody>
      </p:sp>
    </p:spTree>
    <p:extLst>
      <p:ext uri="{BB962C8B-B14F-4D97-AF65-F5344CB8AC3E}">
        <p14:creationId xmlns:p14="http://schemas.microsoft.com/office/powerpoint/2010/main" val="32237120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190B42A1-B470-F329-5446-0B100BEF5F69}"/>
              </a:ext>
            </a:extLst>
          </p:cNvPr>
          <p:cNvSpPr>
            <a:spLocks noGrp="1"/>
          </p:cNvSpPr>
          <p:nvPr>
            <p:ph type="title"/>
          </p:nvPr>
        </p:nvSpPr>
        <p:spPr/>
        <p:txBody>
          <a:bodyPr/>
          <a:lstStyle/>
          <a:p>
            <a:pPr algn="ctr"/>
            <a:r>
              <a:rPr lang="pl-PL" dirty="0"/>
              <a:t>Które przykłady są trudne do sklasyfikowania?</a:t>
            </a:r>
          </a:p>
        </p:txBody>
      </p:sp>
      <p:sp>
        <p:nvSpPr>
          <p:cNvPr id="3" name="Symbol zastępczy zawartości 2">
            <a:extLst>
              <a:ext uri="{FF2B5EF4-FFF2-40B4-BE49-F238E27FC236}">
                <a16:creationId xmlns:a16="http://schemas.microsoft.com/office/drawing/2014/main" id="{B5A37628-E732-53A7-E03E-33BAD3587FA3}"/>
              </a:ext>
            </a:extLst>
          </p:cNvPr>
          <p:cNvSpPr>
            <a:spLocks noGrp="1"/>
          </p:cNvSpPr>
          <p:nvPr>
            <p:ph idx="1"/>
          </p:nvPr>
        </p:nvSpPr>
        <p:spPr>
          <a:xfrm>
            <a:off x="838200" y="2344642"/>
            <a:ext cx="10515600" cy="2168716"/>
          </a:xfrm>
        </p:spPr>
        <p:txBody>
          <a:bodyPr>
            <a:normAutofit/>
          </a:bodyPr>
          <a:lstStyle/>
          <a:p>
            <a:pPr marL="0" indent="0" algn="ctr">
              <a:buNone/>
            </a:pPr>
            <a:r>
              <a:rPr lang="pl-PL" dirty="0"/>
              <a:t>W uczeniu maszynowym sporym problemem jest zrozumienie, które przykłady są trudne dla modelu do sklasyfikowania. Taka wiedza pozwoliłaby na wykorzystanie ograniczonego czasu badaczy na skupienie się właśnie na tych przykładach, aby np. lepiej wyjaśnić zachowanie modelu.</a:t>
            </a:r>
          </a:p>
        </p:txBody>
      </p:sp>
    </p:spTree>
    <p:extLst>
      <p:ext uri="{BB962C8B-B14F-4D97-AF65-F5344CB8AC3E}">
        <p14:creationId xmlns:p14="http://schemas.microsoft.com/office/powerpoint/2010/main" val="22053575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99A93D3-21BA-10DB-6A64-68736341AB15}"/>
              </a:ext>
            </a:extLst>
          </p:cNvPr>
          <p:cNvSpPr>
            <a:spLocks noGrp="1"/>
          </p:cNvSpPr>
          <p:nvPr>
            <p:ph type="title"/>
          </p:nvPr>
        </p:nvSpPr>
        <p:spPr/>
        <p:txBody>
          <a:bodyPr/>
          <a:lstStyle/>
          <a:p>
            <a:pPr algn="ctr"/>
            <a:r>
              <a:rPr lang="pl-PL" dirty="0" err="1"/>
              <a:t>Variance</a:t>
            </a:r>
            <a:r>
              <a:rPr lang="pl-PL" dirty="0"/>
              <a:t> of </a:t>
            </a:r>
            <a:r>
              <a:rPr lang="pl-PL" dirty="0" err="1"/>
              <a:t>Gradience</a:t>
            </a:r>
            <a:r>
              <a:rPr lang="pl-PL" dirty="0"/>
              <a:t> (</a:t>
            </a:r>
            <a:r>
              <a:rPr lang="pl-PL" dirty="0" err="1"/>
              <a:t>VoG</a:t>
            </a:r>
            <a:r>
              <a:rPr lang="pl-PL" dirty="0"/>
              <a:t>)</a:t>
            </a:r>
          </a:p>
        </p:txBody>
      </p:sp>
      <p:sp>
        <p:nvSpPr>
          <p:cNvPr id="3" name="Symbol zastępczy tekstu 2">
            <a:extLst>
              <a:ext uri="{FF2B5EF4-FFF2-40B4-BE49-F238E27FC236}">
                <a16:creationId xmlns:a16="http://schemas.microsoft.com/office/drawing/2014/main" id="{938DD198-D76C-3590-FC2D-B5474879CC3E}"/>
              </a:ext>
            </a:extLst>
          </p:cNvPr>
          <p:cNvSpPr>
            <a:spLocks noGrp="1"/>
          </p:cNvSpPr>
          <p:nvPr>
            <p:ph type="body" idx="1"/>
          </p:nvPr>
        </p:nvSpPr>
        <p:spPr/>
        <p:txBody>
          <a:bodyPr/>
          <a:lstStyle/>
          <a:p>
            <a:r>
              <a:rPr lang="pl-PL" dirty="0"/>
              <a:t>Okazuje, że przydatnym do tego celu jest metryka </a:t>
            </a:r>
            <a:r>
              <a:rPr lang="pl-PL" dirty="0" err="1"/>
              <a:t>VoG</a:t>
            </a:r>
            <a:r>
              <a:rPr lang="pl-PL" dirty="0"/>
              <a:t>.</a:t>
            </a:r>
          </a:p>
          <a:p>
            <a:r>
              <a:rPr lang="pl-PL" dirty="0" err="1"/>
              <a:t>VoG</a:t>
            </a:r>
            <a:r>
              <a:rPr lang="pl-PL" dirty="0"/>
              <a:t> to ranking oparty na gradientach, mierzący zmienność wyjaśnień w czasie treningu.</a:t>
            </a:r>
          </a:p>
          <a:p>
            <a:r>
              <a:rPr lang="pl-PL" dirty="0"/>
              <a:t>Przykłady trudne do nauczenia wykazują wyższą wariancję w aktualizacjach gradientów przez cały okres treningu.</a:t>
            </a:r>
          </a:p>
          <a:p>
            <a:r>
              <a:rPr lang="pl-PL" dirty="0"/>
              <a:t>Gradienty propagowane wstecznie dla przykładów łatwiejszych wykazują niższą wariancję.</a:t>
            </a:r>
          </a:p>
          <a:p>
            <a:r>
              <a:rPr lang="pl-PL" dirty="0"/>
              <a:t>Strata z łatwych przykładów nie dominuje trwale w procesie uczenia.</a:t>
            </a:r>
          </a:p>
        </p:txBody>
      </p:sp>
    </p:spTree>
    <p:extLst>
      <p:ext uri="{BB962C8B-B14F-4D97-AF65-F5344CB8AC3E}">
        <p14:creationId xmlns:p14="http://schemas.microsoft.com/office/powerpoint/2010/main" val="14552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C294626-5902-BB67-53FF-69A16E5E5EF3}"/>
              </a:ext>
            </a:extLst>
          </p:cNvPr>
          <p:cNvSpPr>
            <a:spLocks noGrp="1"/>
          </p:cNvSpPr>
          <p:nvPr>
            <p:ph type="title"/>
          </p:nvPr>
        </p:nvSpPr>
        <p:spPr/>
        <p:txBody>
          <a:bodyPr/>
          <a:lstStyle/>
          <a:p>
            <a:r>
              <a:rPr lang="pl-PL"/>
              <a:t>Analiza matematyczna - Macierz gradientu</a:t>
            </a:r>
          </a:p>
        </p:txBody>
      </p:sp>
      <mc:AlternateContent xmlns:mc="http://schemas.openxmlformats.org/markup-compatibility/2006" xmlns:a14="http://schemas.microsoft.com/office/drawing/2010/main">
        <mc:Choice Requires="a14">
          <p:sp>
            <p:nvSpPr>
              <p:cNvPr id="3" name="Symbol zastępczy tekstu 2">
                <a:extLst>
                  <a:ext uri="{FF2B5EF4-FFF2-40B4-BE49-F238E27FC236}">
                    <a16:creationId xmlns:a16="http://schemas.microsoft.com/office/drawing/2014/main" id="{B129EA07-A39E-1549-44B0-C04AEFEA13BC}"/>
                  </a:ext>
                </a:extLst>
              </p:cNvPr>
              <p:cNvSpPr>
                <a:spLocks noGrp="1"/>
              </p:cNvSpPr>
              <p:nvPr>
                <p:ph type="body" idx="1"/>
              </p:nvPr>
            </p:nvSpPr>
            <p:spPr/>
            <p:txBody>
              <a:bodyPr>
                <a:normAutofit/>
              </a:bodyPr>
              <a:lstStyle/>
              <a:p>
                <a:r>
                  <a:rPr lang="pl-PL" dirty="0"/>
                  <a:t>Obraz wejściowy jest dekomponowany na zestaw N pikseli.</a:t>
                </a:r>
              </a:p>
              <a:p>
                <a:r>
                  <a:rPr lang="pl-PL" dirty="0"/>
                  <a:t>Dla każdego obrazu obliczany jest gradient aktywacji warstwy </a:t>
                </a:r>
                <a:r>
                  <a:rPr lang="pl-PL" dirty="0" err="1"/>
                  <a:t>pre-softmax</a:t>
                </a:r>
                <a:r>
                  <a:rPr lang="pl-PL" dirty="0"/>
                  <a:t> w stosunku do każdego piksela wejściowego</a:t>
                </a:r>
              </a:p>
              <a:p>
                <a:r>
                  <a:rPr lang="pl-PL" dirty="0"/>
                  <a:t>Tworzy to macierz gradientów S reprezentującą te wartości.</a:t>
                </a:r>
              </a:p>
              <a:p>
                <a:pPr marL="0" indent="0">
                  <a:buNone/>
                </a:pPr>
                <a14:m>
                  <m:oMathPara xmlns:m="http://schemas.openxmlformats.org/officeDocument/2006/math">
                    <m:oMathParaPr>
                      <m:jc m:val="centerGroup"/>
                    </m:oMathParaPr>
                    <m:oMath xmlns:m="http://schemas.openxmlformats.org/officeDocument/2006/math">
                      <m:r>
                        <a:rPr lang="pl-PL" b="0" i="1" smtClean="0">
                          <a:latin typeface="Cambria Math" panose="02040503050406030204" pitchFamily="18" charset="0"/>
                        </a:rPr>
                        <m:t>𝑆</m:t>
                      </m:r>
                      <m:r>
                        <a:rPr lang="pl-PL" b="0" i="1" smtClean="0">
                          <a:latin typeface="Cambria Math" panose="02040503050406030204" pitchFamily="18" charset="0"/>
                        </a:rPr>
                        <m:t>=</m:t>
                      </m:r>
                      <m:f>
                        <m:fPr>
                          <m:ctrlPr>
                            <a:rPr lang="pl-PL" b="0" i="1" smtClean="0">
                              <a:latin typeface="Cambria Math" panose="02040503050406030204" pitchFamily="18" charset="0"/>
                            </a:rPr>
                          </m:ctrlPr>
                        </m:fPr>
                        <m:num>
                          <m:r>
                            <a:rPr lang="pl-PL" b="0" i="1" smtClean="0">
                              <a:latin typeface="Cambria Math" panose="02040503050406030204" pitchFamily="18" charset="0"/>
                              <a:ea typeface="Cambria Math" panose="02040503050406030204" pitchFamily="18" charset="0"/>
                            </a:rPr>
                            <m:t>𝜕</m:t>
                          </m:r>
                          <m:sSubSup>
                            <m:sSubSupPr>
                              <m:ctrlPr>
                                <a:rPr lang="pl-PL" b="0" i="1" smtClean="0">
                                  <a:latin typeface="Cambria Math" panose="02040503050406030204" pitchFamily="18" charset="0"/>
                                  <a:ea typeface="Cambria Math" panose="02040503050406030204" pitchFamily="18" charset="0"/>
                                </a:rPr>
                              </m:ctrlPr>
                            </m:sSubSupPr>
                            <m:e>
                              <m:r>
                                <a:rPr lang="pl-PL" b="0" i="1" smtClean="0">
                                  <a:latin typeface="Cambria Math" panose="02040503050406030204" pitchFamily="18" charset="0"/>
                                  <a:ea typeface="Cambria Math" panose="02040503050406030204" pitchFamily="18" charset="0"/>
                                </a:rPr>
                                <m:t>𝐴</m:t>
                              </m:r>
                            </m:e>
                            <m:sub>
                              <m:r>
                                <a:rPr lang="pl-PL" b="0" i="1" smtClean="0">
                                  <a:latin typeface="Cambria Math" panose="02040503050406030204" pitchFamily="18" charset="0"/>
                                  <a:ea typeface="Cambria Math" panose="02040503050406030204" pitchFamily="18" charset="0"/>
                                </a:rPr>
                                <m:t>𝑝</m:t>
                              </m:r>
                            </m:sub>
                            <m:sup>
                              <m:r>
                                <a:rPr lang="pl-PL" b="0" i="1" smtClean="0">
                                  <a:latin typeface="Cambria Math" panose="02040503050406030204" pitchFamily="18" charset="0"/>
                                  <a:ea typeface="Cambria Math" panose="02040503050406030204" pitchFamily="18" charset="0"/>
                                </a:rPr>
                                <m:t>𝑙</m:t>
                              </m:r>
                            </m:sup>
                          </m:sSubSup>
                        </m:num>
                        <m:den>
                          <m:r>
                            <a:rPr lang="pl-PL" b="0" i="1" smtClean="0">
                              <a:latin typeface="Cambria Math" panose="02040503050406030204" pitchFamily="18" charset="0"/>
                              <a:ea typeface="Cambria Math" panose="02040503050406030204" pitchFamily="18" charset="0"/>
                            </a:rPr>
                            <m:t>𝜕</m:t>
                          </m:r>
                          <m:sSub>
                            <m:sSubPr>
                              <m:ctrlPr>
                                <a:rPr lang="pl-PL" b="0" i="1" smtClean="0">
                                  <a:latin typeface="Cambria Math" panose="02040503050406030204" pitchFamily="18" charset="0"/>
                                  <a:ea typeface="Cambria Math" panose="02040503050406030204" pitchFamily="18" charset="0"/>
                                </a:rPr>
                              </m:ctrlPr>
                            </m:sSubPr>
                            <m:e>
                              <m:r>
                                <a:rPr lang="pl-PL" b="0" i="1" smtClean="0">
                                  <a:latin typeface="Cambria Math" panose="02040503050406030204" pitchFamily="18" charset="0"/>
                                  <a:ea typeface="Cambria Math" panose="02040503050406030204" pitchFamily="18" charset="0"/>
                                </a:rPr>
                                <m:t>𝑥</m:t>
                              </m:r>
                            </m:e>
                            <m:sub>
                              <m:r>
                                <a:rPr lang="pl-PL" b="0" i="1" smtClean="0">
                                  <a:latin typeface="Cambria Math" panose="02040503050406030204" pitchFamily="18" charset="0"/>
                                  <a:ea typeface="Cambria Math" panose="02040503050406030204" pitchFamily="18" charset="0"/>
                                </a:rPr>
                                <m:t>𝑖</m:t>
                              </m:r>
                            </m:sub>
                          </m:sSub>
                        </m:den>
                      </m:f>
                    </m:oMath>
                  </m:oMathPara>
                </a14:m>
                <a:endParaRPr lang="pl-PL" dirty="0"/>
              </a:p>
              <a:p>
                <a:r>
                  <a:rPr lang="pl-PL" dirty="0"/>
                  <a:t>Wartości te są następnie uśredniane dla kanałów kolorów obrazu.</a:t>
                </a:r>
              </a:p>
            </p:txBody>
          </p:sp>
        </mc:Choice>
        <mc:Fallback xmlns="">
          <p:sp>
            <p:nvSpPr>
              <p:cNvPr id="3" name="Symbol zastępczy tekstu 2">
                <a:extLst>
                  <a:ext uri="{FF2B5EF4-FFF2-40B4-BE49-F238E27FC236}">
                    <a16:creationId xmlns:a16="http://schemas.microsoft.com/office/drawing/2014/main" id="{B129EA07-A39E-1549-44B0-C04AEFEA13BC}"/>
                  </a:ext>
                </a:extLst>
              </p:cNvPr>
              <p:cNvSpPr>
                <a:spLocks noGrp="1" noRot="1" noChangeAspect="1" noMove="1" noResize="1" noEditPoints="1" noAdjustHandles="1" noChangeArrowheads="1" noChangeShapeType="1" noTextEdit="1"/>
              </p:cNvSpPr>
              <p:nvPr>
                <p:ph type="body" idx="1"/>
              </p:nvPr>
            </p:nvSpPr>
            <p:spPr>
              <a:blipFill>
                <a:blip r:embed="rId2"/>
                <a:stretch>
                  <a:fillRect l="-1043" t="-2381" r="-174"/>
                </a:stretch>
              </a:blipFill>
            </p:spPr>
            <p:txBody>
              <a:bodyPr/>
              <a:lstStyle/>
              <a:p>
                <a:r>
                  <a:rPr lang="pl-PL">
                    <a:noFill/>
                  </a:rPr>
                  <a:t> </a:t>
                </a:r>
              </a:p>
            </p:txBody>
          </p:sp>
        </mc:Fallback>
      </mc:AlternateContent>
    </p:spTree>
    <p:extLst>
      <p:ext uri="{BB962C8B-B14F-4D97-AF65-F5344CB8AC3E}">
        <p14:creationId xmlns:p14="http://schemas.microsoft.com/office/powerpoint/2010/main" val="17750698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D682EE4-A987-EC55-4335-E16ECA8A8216}"/>
              </a:ext>
            </a:extLst>
          </p:cNvPr>
          <p:cNvSpPr>
            <a:spLocks noGrp="1"/>
          </p:cNvSpPr>
          <p:nvPr>
            <p:ph type="title"/>
          </p:nvPr>
        </p:nvSpPr>
        <p:spPr/>
        <p:txBody>
          <a:bodyPr/>
          <a:lstStyle/>
          <a:p>
            <a:pPr algn="ctr"/>
            <a:r>
              <a:rPr lang="pl-PL" dirty="0"/>
              <a:t>Analiza matematyczna - wariancja </a:t>
            </a:r>
            <a:br>
              <a:rPr lang="pl-PL" dirty="0"/>
            </a:br>
            <a:r>
              <a:rPr lang="pl-PL" dirty="0"/>
              <a:t>i normalizacja</a:t>
            </a:r>
          </a:p>
        </p:txBody>
      </p:sp>
      <mc:AlternateContent xmlns:mc="http://schemas.openxmlformats.org/markup-compatibility/2006" xmlns:a14="http://schemas.microsoft.com/office/drawing/2010/main">
        <mc:Choice Requires="a14">
          <p:sp>
            <p:nvSpPr>
              <p:cNvPr id="3" name="Symbol zastępczy tekstu 2">
                <a:extLst>
                  <a:ext uri="{FF2B5EF4-FFF2-40B4-BE49-F238E27FC236}">
                    <a16:creationId xmlns:a16="http://schemas.microsoft.com/office/drawing/2014/main" id="{606833D9-76D9-1045-B768-9F34A8B5A0A7}"/>
                  </a:ext>
                </a:extLst>
              </p:cNvPr>
              <p:cNvSpPr>
                <a:spLocks noGrp="1"/>
              </p:cNvSpPr>
              <p:nvPr>
                <p:ph type="body" idx="1"/>
              </p:nvPr>
            </p:nvSpPr>
            <p:spPr/>
            <p:txBody>
              <a:bodyPr>
                <a:normAutofit fontScale="92500" lnSpcReduction="10000"/>
              </a:bodyPr>
              <a:lstStyle/>
              <a:p>
                <a:r>
                  <a:rPr lang="pl-PL" dirty="0"/>
                  <a:t>Algorytm oblicza średni gradient bazując na K punktach kontrolnych (</a:t>
                </a:r>
                <a:r>
                  <a:rPr lang="pl-PL" dirty="0" err="1"/>
                  <a:t>checkpoints</a:t>
                </a:r>
                <a:r>
                  <a:rPr lang="pl-PL" dirty="0"/>
                  <a:t>). </a:t>
                </a:r>
                <a14:m>
                  <m:oMath xmlns:m="http://schemas.openxmlformats.org/officeDocument/2006/math">
                    <m:r>
                      <a:rPr lang="pl-PL" i="1" smtClean="0">
                        <a:latin typeface="Cambria Math" panose="02040503050406030204" pitchFamily="18" charset="0"/>
                        <a:ea typeface="Cambria Math" panose="02040503050406030204" pitchFamily="18" charset="0"/>
                      </a:rPr>
                      <m:t>𝜇</m:t>
                    </m:r>
                    <m:r>
                      <a:rPr lang="pl-PL" b="0" i="1" smtClean="0">
                        <a:latin typeface="Cambria Math" panose="02040503050406030204" pitchFamily="18" charset="0"/>
                        <a:ea typeface="Cambria Math" panose="02040503050406030204" pitchFamily="18" charset="0"/>
                      </a:rPr>
                      <m:t>=</m:t>
                    </m:r>
                    <m:f>
                      <m:fPr>
                        <m:ctrlPr>
                          <a:rPr lang="pl-PL" b="0" i="1" smtClean="0">
                            <a:latin typeface="Cambria Math" panose="02040503050406030204" pitchFamily="18" charset="0"/>
                            <a:ea typeface="Cambria Math" panose="02040503050406030204" pitchFamily="18" charset="0"/>
                          </a:rPr>
                        </m:ctrlPr>
                      </m:fPr>
                      <m:num>
                        <m:r>
                          <a:rPr lang="pl-PL" b="0" i="1" smtClean="0">
                            <a:latin typeface="Cambria Math" panose="02040503050406030204" pitchFamily="18" charset="0"/>
                            <a:ea typeface="Cambria Math" panose="02040503050406030204" pitchFamily="18" charset="0"/>
                          </a:rPr>
                          <m:t>1</m:t>
                        </m:r>
                      </m:num>
                      <m:den>
                        <m:r>
                          <a:rPr lang="pl-PL" b="0" i="1" smtClean="0">
                            <a:latin typeface="Cambria Math" panose="02040503050406030204" pitchFamily="18" charset="0"/>
                            <a:ea typeface="Cambria Math" panose="02040503050406030204" pitchFamily="18" charset="0"/>
                          </a:rPr>
                          <m:t>𝐾</m:t>
                        </m:r>
                      </m:den>
                    </m:f>
                    <m:nary>
                      <m:naryPr>
                        <m:chr m:val="∑"/>
                        <m:ctrlPr>
                          <a:rPr lang="pl-PL" b="0" i="1" smtClean="0">
                            <a:latin typeface="Cambria Math" panose="02040503050406030204" pitchFamily="18" charset="0"/>
                            <a:ea typeface="Cambria Math" panose="02040503050406030204" pitchFamily="18" charset="0"/>
                          </a:rPr>
                        </m:ctrlPr>
                      </m:naryPr>
                      <m:sub>
                        <m:r>
                          <m:rPr>
                            <m:brk m:alnAt="23"/>
                          </m:rPr>
                          <a:rPr lang="pl-PL" b="0" i="1" smtClean="0">
                            <a:latin typeface="Cambria Math" panose="02040503050406030204" pitchFamily="18" charset="0"/>
                            <a:ea typeface="Cambria Math" panose="02040503050406030204" pitchFamily="18" charset="0"/>
                          </a:rPr>
                          <m:t>𝑡</m:t>
                        </m:r>
                        <m:r>
                          <a:rPr lang="pl-PL" b="0" i="1" smtClean="0">
                            <a:latin typeface="Cambria Math" panose="02040503050406030204" pitchFamily="18" charset="0"/>
                            <a:ea typeface="Cambria Math" panose="02040503050406030204" pitchFamily="18" charset="0"/>
                          </a:rPr>
                          <m:t>=1</m:t>
                        </m:r>
                      </m:sub>
                      <m:sup>
                        <m:r>
                          <a:rPr lang="pl-PL" b="0" i="1" smtClean="0">
                            <a:latin typeface="Cambria Math" panose="02040503050406030204" pitchFamily="18" charset="0"/>
                            <a:ea typeface="Cambria Math" panose="02040503050406030204" pitchFamily="18" charset="0"/>
                          </a:rPr>
                          <m:t>𝐾</m:t>
                        </m:r>
                      </m:sup>
                      <m:e>
                        <m:sSub>
                          <m:sSubPr>
                            <m:ctrlPr>
                              <a:rPr lang="pl-PL" b="0" i="1" smtClean="0">
                                <a:latin typeface="Cambria Math" panose="02040503050406030204" pitchFamily="18" charset="0"/>
                                <a:ea typeface="Cambria Math" panose="02040503050406030204" pitchFamily="18" charset="0"/>
                              </a:rPr>
                            </m:ctrlPr>
                          </m:sSubPr>
                          <m:e>
                            <m:r>
                              <a:rPr lang="pl-PL" b="0" i="1" smtClean="0">
                                <a:latin typeface="Cambria Math" panose="02040503050406030204" pitchFamily="18" charset="0"/>
                                <a:ea typeface="Cambria Math" panose="02040503050406030204" pitchFamily="18" charset="0"/>
                              </a:rPr>
                              <m:t>𝑆</m:t>
                            </m:r>
                          </m:e>
                          <m:sub>
                            <m:r>
                              <a:rPr lang="pl-PL" b="0" i="1" smtClean="0">
                                <a:latin typeface="Cambria Math" panose="02040503050406030204" pitchFamily="18" charset="0"/>
                                <a:ea typeface="Cambria Math" panose="02040503050406030204" pitchFamily="18" charset="0"/>
                              </a:rPr>
                              <m:t>𝑡</m:t>
                            </m:r>
                          </m:sub>
                        </m:sSub>
                      </m:e>
                    </m:nary>
                  </m:oMath>
                </a14:m>
                <a:endParaRPr lang="pl-PL" dirty="0"/>
              </a:p>
              <a:p>
                <a:r>
                  <a:rPr lang="pl-PL" dirty="0"/>
                  <a:t>Następnie obliczana jest wariancja gradientów dla każdego piksela w oparciu o różnicę między macierzą a średnią. </a:t>
                </a:r>
                <a14:m>
                  <m:oMath xmlns:m="http://schemas.openxmlformats.org/officeDocument/2006/math">
                    <m:sSub>
                      <m:sSubPr>
                        <m:ctrlPr>
                          <a:rPr lang="pl-PL" b="0" i="1" smtClean="0">
                            <a:latin typeface="Cambria Math" panose="02040503050406030204" pitchFamily="18" charset="0"/>
                          </a:rPr>
                        </m:ctrlPr>
                      </m:sSubPr>
                      <m:e>
                        <m:r>
                          <a:rPr lang="pl-PL" b="0" i="1" smtClean="0">
                            <a:latin typeface="Cambria Math" panose="02040503050406030204" pitchFamily="18" charset="0"/>
                          </a:rPr>
                          <m:t>𝑉𝑜𝐺</m:t>
                        </m:r>
                      </m:e>
                      <m:sub>
                        <m:r>
                          <a:rPr lang="pl-PL" b="0" i="1" smtClean="0">
                            <a:latin typeface="Cambria Math" panose="02040503050406030204" pitchFamily="18" charset="0"/>
                          </a:rPr>
                          <m:t>𝑝</m:t>
                        </m:r>
                      </m:sub>
                    </m:sSub>
                    <m:r>
                      <a:rPr lang="pl-PL" b="0" i="1" smtClean="0">
                        <a:latin typeface="Cambria Math" panose="02040503050406030204" pitchFamily="18" charset="0"/>
                      </a:rPr>
                      <m:t>=</m:t>
                    </m:r>
                    <m:rad>
                      <m:radPr>
                        <m:degHide m:val="on"/>
                        <m:ctrlPr>
                          <a:rPr lang="pl-PL" b="0" i="1" smtClean="0">
                            <a:latin typeface="Cambria Math" panose="02040503050406030204" pitchFamily="18" charset="0"/>
                          </a:rPr>
                        </m:ctrlPr>
                      </m:radPr>
                      <m:deg/>
                      <m:e>
                        <m:f>
                          <m:fPr>
                            <m:ctrlPr>
                              <a:rPr lang="pl-PL" b="0" i="1" smtClean="0">
                                <a:latin typeface="Cambria Math" panose="02040503050406030204" pitchFamily="18" charset="0"/>
                              </a:rPr>
                            </m:ctrlPr>
                          </m:fPr>
                          <m:num>
                            <m:r>
                              <a:rPr lang="pl-PL" b="0" i="1" smtClean="0">
                                <a:latin typeface="Cambria Math" panose="02040503050406030204" pitchFamily="18" charset="0"/>
                              </a:rPr>
                              <m:t>1</m:t>
                            </m:r>
                          </m:num>
                          <m:den>
                            <m:r>
                              <a:rPr lang="pl-PL" b="0" i="1" smtClean="0">
                                <a:latin typeface="Cambria Math" panose="02040503050406030204" pitchFamily="18" charset="0"/>
                              </a:rPr>
                              <m:t>𝐾</m:t>
                            </m:r>
                          </m:den>
                        </m:f>
                        <m:nary>
                          <m:naryPr>
                            <m:chr m:val="∑"/>
                            <m:ctrlPr>
                              <a:rPr lang="pl-PL" b="0" i="1" smtClean="0">
                                <a:latin typeface="Cambria Math" panose="02040503050406030204" pitchFamily="18" charset="0"/>
                              </a:rPr>
                            </m:ctrlPr>
                          </m:naryPr>
                          <m:sub>
                            <m:r>
                              <m:rPr>
                                <m:brk m:alnAt="23"/>
                              </m:rPr>
                              <a:rPr lang="pl-PL" b="0" i="1" smtClean="0">
                                <a:latin typeface="Cambria Math" panose="02040503050406030204" pitchFamily="18" charset="0"/>
                              </a:rPr>
                              <m:t>𝑡</m:t>
                            </m:r>
                            <m:r>
                              <a:rPr lang="pl-PL" b="0" i="1" smtClean="0">
                                <a:latin typeface="Cambria Math" panose="02040503050406030204" pitchFamily="18" charset="0"/>
                              </a:rPr>
                              <m:t>=1</m:t>
                            </m:r>
                          </m:sub>
                          <m:sup>
                            <m:r>
                              <a:rPr lang="pl-PL" b="0" i="1" smtClean="0">
                                <a:latin typeface="Cambria Math" panose="02040503050406030204" pitchFamily="18" charset="0"/>
                              </a:rPr>
                              <m:t>𝐾</m:t>
                            </m:r>
                          </m:sup>
                          <m:e>
                            <m:sSup>
                              <m:sSupPr>
                                <m:ctrlPr>
                                  <a:rPr lang="pl-PL" b="0" i="1" smtClean="0">
                                    <a:latin typeface="Cambria Math" panose="02040503050406030204" pitchFamily="18" charset="0"/>
                                  </a:rPr>
                                </m:ctrlPr>
                              </m:sSupPr>
                              <m:e>
                                <m:d>
                                  <m:dPr>
                                    <m:ctrlPr>
                                      <a:rPr lang="pl-PL" b="0" i="1" smtClean="0">
                                        <a:latin typeface="Cambria Math" panose="02040503050406030204" pitchFamily="18" charset="0"/>
                                      </a:rPr>
                                    </m:ctrlPr>
                                  </m:dPr>
                                  <m:e>
                                    <m:sSub>
                                      <m:sSubPr>
                                        <m:ctrlPr>
                                          <a:rPr lang="pl-PL" b="0" i="1" smtClean="0">
                                            <a:latin typeface="Cambria Math" panose="02040503050406030204" pitchFamily="18" charset="0"/>
                                          </a:rPr>
                                        </m:ctrlPr>
                                      </m:sSubPr>
                                      <m:e>
                                        <m:r>
                                          <a:rPr lang="pl-PL" b="0" i="1" smtClean="0">
                                            <a:latin typeface="Cambria Math" panose="02040503050406030204" pitchFamily="18" charset="0"/>
                                          </a:rPr>
                                          <m:t>𝑆</m:t>
                                        </m:r>
                                      </m:e>
                                      <m:sub>
                                        <m:r>
                                          <a:rPr lang="pl-PL" b="0" i="1" smtClean="0">
                                            <a:latin typeface="Cambria Math" panose="02040503050406030204" pitchFamily="18" charset="0"/>
                                          </a:rPr>
                                          <m:t>𝑡</m:t>
                                        </m:r>
                                      </m:sub>
                                    </m:sSub>
                                    <m:r>
                                      <a:rPr lang="pl-PL" b="0" i="1" smtClean="0">
                                        <a:latin typeface="Cambria Math" panose="02040503050406030204" pitchFamily="18" charset="0"/>
                                      </a:rPr>
                                      <m:t>−</m:t>
                                    </m:r>
                                    <m:r>
                                      <a:rPr lang="pl-PL" b="0" i="1" smtClean="0">
                                        <a:latin typeface="Cambria Math" panose="02040503050406030204" pitchFamily="18" charset="0"/>
                                        <a:ea typeface="Cambria Math" panose="02040503050406030204" pitchFamily="18" charset="0"/>
                                      </a:rPr>
                                      <m:t>𝜇</m:t>
                                    </m:r>
                                  </m:e>
                                </m:d>
                              </m:e>
                              <m:sup>
                                <m:r>
                                  <a:rPr lang="pl-PL" b="0" i="1" smtClean="0">
                                    <a:latin typeface="Cambria Math" panose="02040503050406030204" pitchFamily="18" charset="0"/>
                                  </a:rPr>
                                  <m:t>2</m:t>
                                </m:r>
                              </m:sup>
                            </m:sSup>
                          </m:e>
                        </m:nary>
                      </m:e>
                    </m:rad>
                  </m:oMath>
                </a14:m>
                <a:endParaRPr lang="pl-PL" dirty="0"/>
              </a:p>
              <a:p>
                <a:r>
                  <a:rPr lang="pl-PL" dirty="0"/>
                  <a:t>Wynik </a:t>
                </a:r>
                <a:r>
                  <a:rPr lang="pl-PL" dirty="0" err="1"/>
                  <a:t>VoG</a:t>
                </a:r>
                <a:r>
                  <a:rPr lang="pl-PL" dirty="0"/>
                  <a:t> to uśredniona wariancja wszystkich pikseli w danym obrazie.</a:t>
                </a:r>
              </a:p>
              <a:p>
                <a:pPr marL="0" indent="0">
                  <a:buNone/>
                </a:pPr>
                <a14:m>
                  <m:oMath xmlns:m="http://schemas.openxmlformats.org/officeDocument/2006/math">
                    <m:r>
                      <a:rPr lang="pl-PL" b="0" i="1" smtClean="0">
                        <a:latin typeface="Cambria Math" panose="02040503050406030204" pitchFamily="18" charset="0"/>
                      </a:rPr>
                      <m:t>𝑉𝑜𝐺</m:t>
                    </m:r>
                    <m:r>
                      <a:rPr lang="pl-PL" b="0" i="1" smtClean="0">
                        <a:latin typeface="Cambria Math" panose="02040503050406030204" pitchFamily="18" charset="0"/>
                      </a:rPr>
                      <m:t>= </m:t>
                    </m:r>
                    <m:f>
                      <m:fPr>
                        <m:ctrlPr>
                          <a:rPr lang="pl-PL" b="0" i="1" smtClean="0">
                            <a:latin typeface="Cambria Math" panose="02040503050406030204" pitchFamily="18" charset="0"/>
                          </a:rPr>
                        </m:ctrlPr>
                      </m:fPr>
                      <m:num>
                        <m:r>
                          <a:rPr lang="pl-PL" b="0" i="1" smtClean="0">
                            <a:latin typeface="Cambria Math" panose="02040503050406030204" pitchFamily="18" charset="0"/>
                          </a:rPr>
                          <m:t>1</m:t>
                        </m:r>
                      </m:num>
                      <m:den>
                        <m:r>
                          <a:rPr lang="pl-PL" b="0" i="1" smtClean="0">
                            <a:latin typeface="Cambria Math" panose="02040503050406030204" pitchFamily="18" charset="0"/>
                          </a:rPr>
                          <m:t>𝑁</m:t>
                        </m:r>
                      </m:den>
                    </m:f>
                    <m:nary>
                      <m:naryPr>
                        <m:chr m:val="∑"/>
                        <m:ctrlPr>
                          <a:rPr lang="pl-PL" b="0" i="1" smtClean="0">
                            <a:latin typeface="Cambria Math" panose="02040503050406030204" pitchFamily="18" charset="0"/>
                          </a:rPr>
                        </m:ctrlPr>
                      </m:naryPr>
                      <m:sub>
                        <m:r>
                          <m:rPr>
                            <m:brk m:alnAt="23"/>
                          </m:rPr>
                          <a:rPr lang="pl-PL" b="0" i="1" smtClean="0">
                            <a:latin typeface="Cambria Math" panose="02040503050406030204" pitchFamily="18" charset="0"/>
                          </a:rPr>
                          <m:t>𝑝</m:t>
                        </m:r>
                        <m:r>
                          <a:rPr lang="pl-PL" b="0" i="1" smtClean="0">
                            <a:latin typeface="Cambria Math" panose="02040503050406030204" pitchFamily="18" charset="0"/>
                          </a:rPr>
                          <m:t>=1</m:t>
                        </m:r>
                      </m:sub>
                      <m:sup>
                        <m:r>
                          <a:rPr lang="pl-PL" b="0" i="1" smtClean="0">
                            <a:latin typeface="Cambria Math" panose="02040503050406030204" pitchFamily="18" charset="0"/>
                          </a:rPr>
                          <m:t>𝑁</m:t>
                        </m:r>
                      </m:sup>
                      <m:e>
                        <m:sSub>
                          <m:sSubPr>
                            <m:ctrlPr>
                              <a:rPr lang="pl-PL" b="0" i="1" smtClean="0">
                                <a:latin typeface="Cambria Math" panose="02040503050406030204" pitchFamily="18" charset="0"/>
                              </a:rPr>
                            </m:ctrlPr>
                          </m:sSubPr>
                          <m:e>
                            <m:r>
                              <a:rPr lang="pl-PL" b="0" i="1" smtClean="0">
                                <a:latin typeface="Cambria Math" panose="02040503050406030204" pitchFamily="18" charset="0"/>
                              </a:rPr>
                              <m:t>𝑉𝑜𝐺</m:t>
                            </m:r>
                          </m:e>
                          <m:sub>
                            <m:r>
                              <a:rPr lang="pl-PL" b="0" i="1" smtClean="0">
                                <a:latin typeface="Cambria Math" panose="02040503050406030204" pitchFamily="18" charset="0"/>
                              </a:rPr>
                              <m:t>𝑝</m:t>
                            </m:r>
                          </m:sub>
                        </m:sSub>
                      </m:e>
                    </m:nary>
                  </m:oMath>
                </a14:m>
                <a:r>
                  <a:rPr lang="pl-PL" dirty="0"/>
                  <a:t> (1)</a:t>
                </a:r>
              </a:p>
              <a:p>
                <a:r>
                  <a:rPr lang="pl-PL" dirty="0"/>
                  <a:t>Na koniec wynik jest normalizowany przy użyciu średniej i odchylenia standardowego na poziomie danej klasy.</a:t>
                </a:r>
              </a:p>
            </p:txBody>
          </p:sp>
        </mc:Choice>
        <mc:Fallback xmlns="">
          <p:sp>
            <p:nvSpPr>
              <p:cNvPr id="3" name="Symbol zastępczy tekstu 2">
                <a:extLst>
                  <a:ext uri="{FF2B5EF4-FFF2-40B4-BE49-F238E27FC236}">
                    <a16:creationId xmlns:a16="http://schemas.microsoft.com/office/drawing/2014/main" id="{606833D9-76D9-1045-B768-9F34A8B5A0A7}"/>
                  </a:ext>
                </a:extLst>
              </p:cNvPr>
              <p:cNvSpPr>
                <a:spLocks noGrp="1" noRot="1" noChangeAspect="1" noMove="1" noResize="1" noEditPoints="1" noAdjustHandles="1" noChangeArrowheads="1" noChangeShapeType="1" noTextEdit="1"/>
              </p:cNvSpPr>
              <p:nvPr>
                <p:ph type="body" idx="1"/>
              </p:nvPr>
            </p:nvSpPr>
            <p:spPr>
              <a:blipFill>
                <a:blip r:embed="rId2"/>
                <a:stretch>
                  <a:fillRect l="-928" t="-2801"/>
                </a:stretch>
              </a:blipFill>
            </p:spPr>
            <p:txBody>
              <a:bodyPr/>
              <a:lstStyle/>
              <a:p>
                <a:r>
                  <a:rPr lang="pl-PL">
                    <a:noFill/>
                  </a:rPr>
                  <a:t> </a:t>
                </a:r>
              </a:p>
            </p:txBody>
          </p:sp>
        </mc:Fallback>
      </mc:AlternateContent>
      <p:sp>
        <p:nvSpPr>
          <p:cNvPr id="4" name="pole tekstowe 3">
            <a:extLst>
              <a:ext uri="{FF2B5EF4-FFF2-40B4-BE49-F238E27FC236}">
                <a16:creationId xmlns:a16="http://schemas.microsoft.com/office/drawing/2014/main" id="{D81FF49F-59FC-CDA1-3803-66BAA565FE37}"/>
              </a:ext>
            </a:extLst>
          </p:cNvPr>
          <p:cNvSpPr txBox="1"/>
          <p:nvPr/>
        </p:nvSpPr>
        <p:spPr>
          <a:xfrm>
            <a:off x="10021454" y="5850235"/>
            <a:ext cx="2013528" cy="923330"/>
          </a:xfrm>
          <a:prstGeom prst="rect">
            <a:avLst/>
          </a:prstGeom>
          <a:noFill/>
        </p:spPr>
        <p:txBody>
          <a:bodyPr wrap="square" rtlCol="0">
            <a:spAutoFit/>
          </a:bodyPr>
          <a:lstStyle/>
          <a:p>
            <a:r>
              <a:rPr lang="pl-PL" dirty="0"/>
              <a:t>(1) – W artykule jest suma po t ale powinna być po p</a:t>
            </a:r>
          </a:p>
        </p:txBody>
      </p:sp>
    </p:spTree>
    <p:extLst>
      <p:ext uri="{BB962C8B-B14F-4D97-AF65-F5344CB8AC3E}">
        <p14:creationId xmlns:p14="http://schemas.microsoft.com/office/powerpoint/2010/main" val="29540554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E8E86E8-25EE-EAB9-342D-B0C7E5098CB1}"/>
              </a:ext>
            </a:extLst>
          </p:cNvPr>
          <p:cNvSpPr>
            <a:spLocks noGrp="1"/>
          </p:cNvSpPr>
          <p:nvPr>
            <p:ph type="title"/>
          </p:nvPr>
        </p:nvSpPr>
        <p:spPr/>
        <p:txBody>
          <a:bodyPr/>
          <a:lstStyle/>
          <a:p>
            <a:pPr algn="ctr"/>
            <a:r>
              <a:rPr lang="pl-PL" dirty="0"/>
              <a:t>Cechy obrazów w zależności od wartości </a:t>
            </a:r>
            <a:r>
              <a:rPr lang="pl-PL" dirty="0" err="1"/>
              <a:t>VoG</a:t>
            </a:r>
            <a:endParaRPr lang="pl-PL" dirty="0"/>
          </a:p>
        </p:txBody>
      </p:sp>
      <p:sp>
        <p:nvSpPr>
          <p:cNvPr id="3" name="Symbol zastępczy zawartości 2">
            <a:extLst>
              <a:ext uri="{FF2B5EF4-FFF2-40B4-BE49-F238E27FC236}">
                <a16:creationId xmlns:a16="http://schemas.microsoft.com/office/drawing/2014/main" id="{A8265BE0-BC82-15A4-9C94-16FB755923A9}"/>
              </a:ext>
            </a:extLst>
          </p:cNvPr>
          <p:cNvSpPr>
            <a:spLocks noGrp="1"/>
          </p:cNvSpPr>
          <p:nvPr>
            <p:ph idx="1"/>
          </p:nvPr>
        </p:nvSpPr>
        <p:spPr/>
        <p:txBody>
          <a:bodyPr/>
          <a:lstStyle/>
          <a:p>
            <a:r>
              <a:rPr lang="pl-PL" dirty="0"/>
              <a:t>Wysokie </a:t>
            </a:r>
            <a:r>
              <a:rPr lang="pl-PL" dirty="0" err="1"/>
              <a:t>VoG</a:t>
            </a:r>
            <a:r>
              <a:rPr lang="pl-PL" dirty="0"/>
              <a:t>:</a:t>
            </a:r>
          </a:p>
          <a:p>
            <a:pPr lvl="1"/>
            <a:r>
              <a:rPr lang="pl-PL" dirty="0"/>
              <a:t>Zanieczyszczone tło</a:t>
            </a:r>
          </a:p>
          <a:p>
            <a:pPr lvl="1"/>
            <a:r>
              <a:rPr lang="pl-PL" dirty="0"/>
              <a:t>Mniej typowe ujęcie obiektu (np. z góry lub z profilu)</a:t>
            </a:r>
          </a:p>
          <a:p>
            <a:pPr lvl="1"/>
            <a:r>
              <a:rPr lang="pl-PL" dirty="0"/>
              <a:t>Czasami nie cały obiekt jest w kadrze</a:t>
            </a:r>
          </a:p>
          <a:p>
            <a:pPr lvl="1"/>
            <a:r>
              <a:rPr lang="pl-PL" dirty="0"/>
              <a:t>Mniejszy kontrast</a:t>
            </a:r>
          </a:p>
          <a:p>
            <a:r>
              <a:rPr lang="pl-PL" dirty="0"/>
              <a:t>Niskie </a:t>
            </a:r>
            <a:r>
              <a:rPr lang="pl-PL" dirty="0" err="1"/>
              <a:t>VoG</a:t>
            </a:r>
            <a:r>
              <a:rPr lang="pl-PL" dirty="0"/>
              <a:t>:</a:t>
            </a:r>
          </a:p>
          <a:p>
            <a:pPr lvl="1"/>
            <a:r>
              <a:rPr lang="pl-PL" dirty="0"/>
              <a:t>Czyste tło</a:t>
            </a:r>
          </a:p>
          <a:p>
            <a:pPr lvl="1"/>
            <a:r>
              <a:rPr lang="pl-PL" dirty="0"/>
              <a:t>Typowe ujęcie obiektu</a:t>
            </a:r>
          </a:p>
          <a:p>
            <a:pPr lvl="1"/>
            <a:r>
              <a:rPr lang="pl-PL" dirty="0"/>
              <a:t>Cały obiekt  w kadrze</a:t>
            </a:r>
          </a:p>
          <a:p>
            <a:pPr lvl="1"/>
            <a:r>
              <a:rPr lang="pl-PL" dirty="0"/>
              <a:t>Duży kontrast</a:t>
            </a:r>
          </a:p>
        </p:txBody>
      </p:sp>
    </p:spTree>
    <p:extLst>
      <p:ext uri="{BB962C8B-B14F-4D97-AF65-F5344CB8AC3E}">
        <p14:creationId xmlns:p14="http://schemas.microsoft.com/office/powerpoint/2010/main" val="4177533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94A17B2-C0EB-BBB0-BE71-552D511213D6}"/>
              </a:ext>
            </a:extLst>
          </p:cNvPr>
          <p:cNvSpPr>
            <a:spLocks noGrp="1"/>
          </p:cNvSpPr>
          <p:nvPr>
            <p:ph type="title"/>
          </p:nvPr>
        </p:nvSpPr>
        <p:spPr/>
        <p:txBody>
          <a:bodyPr/>
          <a:lstStyle/>
          <a:p>
            <a:pPr algn="ctr"/>
            <a:r>
              <a:rPr lang="pl-PL" dirty="0" err="1"/>
              <a:t>VoG</a:t>
            </a:r>
            <a:r>
              <a:rPr lang="pl-PL" dirty="0"/>
              <a:t> kontra błąd modelu</a:t>
            </a:r>
          </a:p>
        </p:txBody>
      </p:sp>
      <p:sp>
        <p:nvSpPr>
          <p:cNvPr id="3" name="Symbol zastępczy zawartości 2">
            <a:extLst>
              <a:ext uri="{FF2B5EF4-FFF2-40B4-BE49-F238E27FC236}">
                <a16:creationId xmlns:a16="http://schemas.microsoft.com/office/drawing/2014/main" id="{C43415F0-1091-790D-04E0-A1ABFEDCEB89}"/>
              </a:ext>
            </a:extLst>
          </p:cNvPr>
          <p:cNvSpPr>
            <a:spLocks noGrp="1"/>
          </p:cNvSpPr>
          <p:nvPr>
            <p:ph idx="1"/>
          </p:nvPr>
        </p:nvSpPr>
        <p:spPr>
          <a:xfrm>
            <a:off x="838200" y="2085390"/>
            <a:ext cx="10515600" cy="3170657"/>
          </a:xfrm>
        </p:spPr>
        <p:txBody>
          <a:bodyPr>
            <a:normAutofit fontScale="85000" lnSpcReduction="20000"/>
          </a:bodyPr>
          <a:lstStyle/>
          <a:p>
            <a:r>
              <a:rPr lang="pl-PL" dirty="0"/>
              <a:t>Dla przykładów o wysokim </a:t>
            </a:r>
            <a:r>
              <a:rPr lang="pl-PL" dirty="0" err="1"/>
              <a:t>VoG</a:t>
            </a:r>
            <a:r>
              <a:rPr lang="pl-PL" dirty="0"/>
              <a:t> błąd modelu z reguły był większy, a dla tych o niższym – większy.</a:t>
            </a:r>
          </a:p>
          <a:p>
            <a:r>
              <a:rPr lang="pl-PL" dirty="0"/>
              <a:t>Dla wszystkich zbiorów danych i modeli, które wzięli pod uwagę badacze, to się sprawdziło, a im wyższa złożoność modelu lub zbioru danych, tym ta tendencja była wyraźniejsza.</a:t>
            </a:r>
          </a:p>
          <a:p>
            <a:r>
              <a:rPr lang="pl-PL" dirty="0"/>
              <a:t>Ponadto badacze odkryli, że ten trend nie jest zależny od </a:t>
            </a:r>
            <a:r>
              <a:rPr lang="pl-PL" dirty="0" err="1"/>
              <a:t>hiperparamatrów</a:t>
            </a:r>
            <a:r>
              <a:rPr lang="pl-PL" dirty="0"/>
              <a:t> modelu lub metod inicjalizacji parametrów.</a:t>
            </a:r>
          </a:p>
          <a:p>
            <a:r>
              <a:rPr lang="pl-PL" dirty="0" err="1"/>
              <a:t>VoG</a:t>
            </a:r>
            <a:r>
              <a:rPr lang="pl-PL" dirty="0"/>
              <a:t> może być przydatny także jako narzędzie do nienadzorowanego kontrolowania zachowania modelu, ponieważ nie potrzebuje on prawdziwych etykiet, a jedynie dane dotyczące procesu treningu.</a:t>
            </a:r>
          </a:p>
        </p:txBody>
      </p:sp>
    </p:spTree>
    <p:extLst>
      <p:ext uri="{BB962C8B-B14F-4D97-AF65-F5344CB8AC3E}">
        <p14:creationId xmlns:p14="http://schemas.microsoft.com/office/powerpoint/2010/main" val="8610381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D9267BD-31BE-D196-E8F3-51C235004001}"/>
              </a:ext>
            </a:extLst>
          </p:cNvPr>
          <p:cNvSpPr>
            <a:spLocks noGrp="1"/>
          </p:cNvSpPr>
          <p:nvPr>
            <p:ph type="title"/>
          </p:nvPr>
        </p:nvSpPr>
        <p:spPr/>
        <p:txBody>
          <a:bodyPr/>
          <a:lstStyle/>
          <a:p>
            <a:pPr algn="ctr"/>
            <a:r>
              <a:rPr lang="pl-PL" dirty="0"/>
              <a:t>Zachowanie </a:t>
            </a:r>
            <a:r>
              <a:rPr lang="pl-PL" dirty="0" err="1"/>
              <a:t>VoG</a:t>
            </a:r>
            <a:r>
              <a:rPr lang="pl-PL" dirty="0"/>
              <a:t> w zależności od etapu treningu</a:t>
            </a:r>
          </a:p>
        </p:txBody>
      </p:sp>
      <p:sp>
        <p:nvSpPr>
          <p:cNvPr id="3" name="Symbol zastępczy zawartości 2">
            <a:extLst>
              <a:ext uri="{FF2B5EF4-FFF2-40B4-BE49-F238E27FC236}">
                <a16:creationId xmlns:a16="http://schemas.microsoft.com/office/drawing/2014/main" id="{FBC7E2F2-F8D4-5A32-3F4D-0FADE83531CE}"/>
              </a:ext>
            </a:extLst>
          </p:cNvPr>
          <p:cNvSpPr>
            <a:spLocks noGrp="1"/>
          </p:cNvSpPr>
          <p:nvPr>
            <p:ph idx="1"/>
          </p:nvPr>
        </p:nvSpPr>
        <p:spPr/>
        <p:txBody>
          <a:bodyPr>
            <a:normAutofit lnSpcReduction="10000"/>
          </a:bodyPr>
          <a:lstStyle/>
          <a:p>
            <a:r>
              <a:rPr lang="pl-PL" dirty="0"/>
              <a:t>Co ciekawe, </a:t>
            </a:r>
            <a:r>
              <a:rPr lang="pl-PL" dirty="0" err="1"/>
              <a:t>VoG</a:t>
            </a:r>
            <a:r>
              <a:rPr lang="pl-PL" dirty="0"/>
              <a:t> nie jest jednorodne względem etapu treningu.</a:t>
            </a:r>
          </a:p>
          <a:p>
            <a:r>
              <a:rPr lang="pl-PL" dirty="0"/>
              <a:t>Na początkowym etapie treningu przykłady, dla których błąd modelu jest niski, wykazują wysokie </a:t>
            </a:r>
            <a:r>
              <a:rPr lang="pl-PL" dirty="0" err="1"/>
              <a:t>VoG</a:t>
            </a:r>
            <a:r>
              <a:rPr lang="pl-PL" dirty="0"/>
              <a:t>, natomiast w końcowej fazie jest odwrotnie.</a:t>
            </a:r>
          </a:p>
          <a:p>
            <a:r>
              <a:rPr lang="pl-PL" dirty="0"/>
              <a:t>Być może jest to spowodowane tym, że na początku, kiedy model próbuje dopasować się do łatwych przykładów, od razu „wie” jak ma to zrobić i w zdecydowany sposób zmienia dla nich gradienty, co przekłada się na duży wkład do </a:t>
            </a:r>
            <a:r>
              <a:rPr lang="pl-PL" dirty="0" err="1"/>
              <a:t>VoG</a:t>
            </a:r>
            <a:r>
              <a:rPr lang="pl-PL" dirty="0"/>
              <a:t>, natomiast później, kiedy łatwe przykłady są już ustabilizowane, skupia się na tych trudniejszych, zmieniając intensywnie dla nich gradienty, co dominuje wariancję.</a:t>
            </a:r>
          </a:p>
        </p:txBody>
      </p:sp>
    </p:spTree>
    <p:extLst>
      <p:ext uri="{BB962C8B-B14F-4D97-AF65-F5344CB8AC3E}">
        <p14:creationId xmlns:p14="http://schemas.microsoft.com/office/powerpoint/2010/main" val="42189097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ED0D733-F979-7B9B-6A3B-C0D49D1BAEC1}"/>
              </a:ext>
            </a:extLst>
          </p:cNvPr>
          <p:cNvSpPr>
            <a:spLocks noGrp="1"/>
          </p:cNvSpPr>
          <p:nvPr>
            <p:ph type="title"/>
          </p:nvPr>
        </p:nvSpPr>
        <p:spPr/>
        <p:txBody>
          <a:bodyPr/>
          <a:lstStyle/>
          <a:p>
            <a:pPr algn="ctr"/>
            <a:r>
              <a:rPr lang="pl-PL" dirty="0"/>
              <a:t>Wykrywanie przez </a:t>
            </a:r>
            <a:r>
              <a:rPr lang="pl-PL" dirty="0" err="1"/>
              <a:t>VoG</a:t>
            </a:r>
            <a:r>
              <a:rPr lang="pl-PL" dirty="0"/>
              <a:t> zapamiętanych przez model przykładów</a:t>
            </a:r>
          </a:p>
        </p:txBody>
      </p:sp>
      <p:sp>
        <p:nvSpPr>
          <p:cNvPr id="3" name="Symbol zastępczy zawartości 2">
            <a:extLst>
              <a:ext uri="{FF2B5EF4-FFF2-40B4-BE49-F238E27FC236}">
                <a16:creationId xmlns:a16="http://schemas.microsoft.com/office/drawing/2014/main" id="{2CE349CF-70E2-E771-854B-CA367F784CA9}"/>
              </a:ext>
            </a:extLst>
          </p:cNvPr>
          <p:cNvSpPr>
            <a:spLocks noGrp="1"/>
          </p:cNvSpPr>
          <p:nvPr>
            <p:ph idx="1"/>
          </p:nvPr>
        </p:nvSpPr>
        <p:spPr>
          <a:xfrm>
            <a:off x="838200" y="2209748"/>
            <a:ext cx="10515600" cy="3419373"/>
          </a:xfrm>
        </p:spPr>
        <p:txBody>
          <a:bodyPr>
            <a:normAutofit lnSpcReduction="10000"/>
          </a:bodyPr>
          <a:lstStyle/>
          <a:p>
            <a:r>
              <a:rPr lang="pl-PL" dirty="0"/>
              <a:t>Badacze </a:t>
            </a:r>
            <a:r>
              <a:rPr lang="pl-PL" dirty="0" err="1"/>
              <a:t>przreprowadzili</a:t>
            </a:r>
            <a:r>
              <a:rPr lang="pl-PL" dirty="0"/>
              <a:t> również eksperyment, w którym niektórym obrazkom przypisali fałszywe etykiety, a następnie wytrenowali na nich model, który osiągnął na tych danych zerowy błąd, tzn. przeuczył się.</a:t>
            </a:r>
          </a:p>
          <a:p>
            <a:r>
              <a:rPr lang="pl-PL" dirty="0"/>
              <a:t>Okazało się, że rozkład </a:t>
            </a:r>
            <a:r>
              <a:rPr lang="pl-PL" dirty="0" err="1"/>
              <a:t>VoG</a:t>
            </a:r>
            <a:r>
              <a:rPr lang="pl-PL" dirty="0"/>
              <a:t> wśród tych fałszywych przykładów wyglądał inaczej niż wśród reszty (przykłady fałszywe miały średnio wyższe </a:t>
            </a:r>
            <a:r>
              <a:rPr lang="pl-PL" dirty="0" err="1"/>
              <a:t>VoG</a:t>
            </a:r>
            <a:r>
              <a:rPr lang="pl-PL" dirty="0"/>
              <a:t>), co oznacza, że za pomocą </a:t>
            </a:r>
            <a:r>
              <a:rPr lang="pl-PL" dirty="0" err="1"/>
              <a:t>VoG</a:t>
            </a:r>
            <a:r>
              <a:rPr lang="pl-PL" dirty="0"/>
              <a:t> można rozróżniać między sobą przykłady sklasyfikowane prawidłowo od tych sztucznie oszukanych.</a:t>
            </a:r>
          </a:p>
        </p:txBody>
      </p:sp>
    </p:spTree>
    <p:extLst>
      <p:ext uri="{BB962C8B-B14F-4D97-AF65-F5344CB8AC3E}">
        <p14:creationId xmlns:p14="http://schemas.microsoft.com/office/powerpoint/2010/main" val="8044341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A644413-B022-43F3-DC9E-8DB942188C9F}"/>
              </a:ext>
            </a:extLst>
          </p:cNvPr>
          <p:cNvSpPr>
            <a:spLocks noGrp="1"/>
          </p:cNvSpPr>
          <p:nvPr>
            <p:ph type="title"/>
          </p:nvPr>
        </p:nvSpPr>
        <p:spPr/>
        <p:txBody>
          <a:bodyPr/>
          <a:lstStyle/>
          <a:p>
            <a:pPr algn="ctr"/>
            <a:r>
              <a:rPr lang="pl-PL" dirty="0"/>
              <a:t>Wykrywanie przykładów </a:t>
            </a:r>
            <a:r>
              <a:rPr lang="pl-PL" dirty="0" err="1"/>
              <a:t>OoD</a:t>
            </a:r>
            <a:endParaRPr lang="pl-PL" dirty="0"/>
          </a:p>
        </p:txBody>
      </p:sp>
      <p:sp>
        <p:nvSpPr>
          <p:cNvPr id="3" name="Symbol zastępczy zawartości 2">
            <a:extLst>
              <a:ext uri="{FF2B5EF4-FFF2-40B4-BE49-F238E27FC236}">
                <a16:creationId xmlns:a16="http://schemas.microsoft.com/office/drawing/2014/main" id="{545B6A7F-159F-3108-C374-8FB504C40639}"/>
              </a:ext>
            </a:extLst>
          </p:cNvPr>
          <p:cNvSpPr>
            <a:spLocks noGrp="1"/>
          </p:cNvSpPr>
          <p:nvPr>
            <p:ph idx="1"/>
          </p:nvPr>
        </p:nvSpPr>
        <p:spPr>
          <a:xfrm>
            <a:off x="838200" y="3151188"/>
            <a:ext cx="10515600" cy="1325563"/>
          </a:xfrm>
        </p:spPr>
        <p:txBody>
          <a:bodyPr/>
          <a:lstStyle/>
          <a:p>
            <a:r>
              <a:rPr lang="pl-PL" dirty="0"/>
              <a:t>Dodatkowo </a:t>
            </a:r>
            <a:r>
              <a:rPr lang="pl-PL" dirty="0" err="1"/>
              <a:t>VoG</a:t>
            </a:r>
            <a:r>
              <a:rPr lang="pl-PL" dirty="0"/>
              <a:t> wykazał zdolność do wykrywania przykładów </a:t>
            </a:r>
            <a:br>
              <a:rPr lang="pl-PL" dirty="0"/>
            </a:br>
            <a:r>
              <a:rPr lang="pl-PL" dirty="0"/>
              <a:t>Out of Distribution (</a:t>
            </a:r>
            <a:r>
              <a:rPr lang="pl-PL" dirty="0" err="1"/>
              <a:t>OoD</a:t>
            </a:r>
            <a:r>
              <a:rPr lang="pl-PL" dirty="0"/>
              <a:t>) lepszą od większości innych metod, które wzięli pod lupę badacze.</a:t>
            </a:r>
          </a:p>
        </p:txBody>
      </p:sp>
    </p:spTree>
    <p:extLst>
      <p:ext uri="{BB962C8B-B14F-4D97-AF65-F5344CB8AC3E}">
        <p14:creationId xmlns:p14="http://schemas.microsoft.com/office/powerpoint/2010/main" val="938775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526D68EC-195E-5901-E2B9-36BCC69CF65D}"/>
              </a:ext>
            </a:extLst>
          </p:cNvPr>
          <p:cNvSpPr>
            <a:spLocks noGrp="1"/>
          </p:cNvSpPr>
          <p:nvPr>
            <p:ph type="title"/>
          </p:nvPr>
        </p:nvSpPr>
        <p:spPr/>
        <p:txBody>
          <a:bodyPr/>
          <a:lstStyle/>
          <a:p>
            <a:r>
              <a:rPr lang="pl-PL" dirty="0"/>
              <a:t>Oryginalny kod źródłowy</a:t>
            </a:r>
          </a:p>
        </p:txBody>
      </p:sp>
      <p:sp>
        <p:nvSpPr>
          <p:cNvPr id="3" name="Symbol zastępczy tekstu 2">
            <a:extLst>
              <a:ext uri="{FF2B5EF4-FFF2-40B4-BE49-F238E27FC236}">
                <a16:creationId xmlns:a16="http://schemas.microsoft.com/office/drawing/2014/main" id="{36453CC4-19A3-BB10-7770-EBBFA7F5E73E}"/>
              </a:ext>
            </a:extLst>
          </p:cNvPr>
          <p:cNvSpPr>
            <a:spLocks noGrp="1"/>
          </p:cNvSpPr>
          <p:nvPr>
            <p:ph type="body" idx="1"/>
          </p:nvPr>
        </p:nvSpPr>
        <p:spPr/>
        <p:txBody>
          <a:bodyPr/>
          <a:lstStyle/>
          <a:p>
            <a:r>
              <a:rPr lang="pl-PL" dirty="0"/>
              <a:t>Autorzy udostępnili kod oraz </a:t>
            </a:r>
            <a:r>
              <a:rPr lang="pl-PL" dirty="0" err="1"/>
              <a:t>pobieralne</a:t>
            </a:r>
            <a:r>
              <a:rPr lang="pl-PL" dirty="0"/>
              <a:t> wyniki </a:t>
            </a:r>
            <a:r>
              <a:rPr lang="pl-PL" dirty="0" err="1"/>
              <a:t>VoG</a:t>
            </a:r>
            <a:r>
              <a:rPr lang="pl-PL" dirty="0"/>
              <a:t>.</a:t>
            </a:r>
          </a:p>
          <a:p>
            <a:r>
              <a:rPr lang="pl-PL" dirty="0"/>
              <a:t>Główne repozytorium GitHub:	</a:t>
            </a:r>
            <a:r>
              <a:rPr lang="pl-PL" dirty="0" err="1"/>
              <a:t>https</a:t>
            </a:r>
            <a:r>
              <a:rPr lang="pl-PL" dirty="0"/>
              <a:t>://</a:t>
            </a:r>
            <a:r>
              <a:rPr lang="pl-PL" dirty="0" err="1"/>
              <a:t>github.com</a:t>
            </a:r>
            <a:r>
              <a:rPr lang="pl-PL" dirty="0"/>
              <a:t>/chirag126/</a:t>
            </a:r>
            <a:r>
              <a:rPr lang="pl-PL" dirty="0" err="1"/>
              <a:t>VOG.git</a:t>
            </a:r>
            <a:endParaRPr lang="pl-PL" dirty="0"/>
          </a:p>
          <a:p>
            <a:r>
              <a:rPr lang="pl-PL" dirty="0"/>
              <a:t>Strona domowa projektu:</a:t>
            </a:r>
          </a:p>
          <a:p>
            <a:pPr marL="0" indent="0">
              <a:buNone/>
            </a:pPr>
            <a:r>
              <a:rPr lang="pl-PL" dirty="0"/>
              <a:t>	</a:t>
            </a:r>
            <a:r>
              <a:rPr lang="pl-PL" dirty="0" err="1"/>
              <a:t>https</a:t>
            </a:r>
            <a:r>
              <a:rPr lang="pl-PL" dirty="0"/>
              <a:t>://</a:t>
            </a:r>
            <a:r>
              <a:rPr lang="pl-PL" dirty="0" err="1"/>
              <a:t>varianceofgradients.github.io</a:t>
            </a:r>
            <a:r>
              <a:rPr lang="pl-PL" dirty="0"/>
              <a:t>/</a:t>
            </a:r>
          </a:p>
        </p:txBody>
      </p:sp>
    </p:spTree>
    <p:extLst>
      <p:ext uri="{BB962C8B-B14F-4D97-AF65-F5344CB8AC3E}">
        <p14:creationId xmlns:p14="http://schemas.microsoft.com/office/powerpoint/2010/main" val="6687576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6029E30A-45CA-AC6E-D9FE-1B99CDDC70C4}"/>
              </a:ext>
            </a:extLst>
          </p:cNvPr>
          <p:cNvSpPr>
            <a:spLocks noGrp="1"/>
          </p:cNvSpPr>
          <p:nvPr>
            <p:ph type="title"/>
          </p:nvPr>
        </p:nvSpPr>
        <p:spPr/>
        <p:txBody>
          <a:bodyPr/>
          <a:lstStyle/>
          <a:p>
            <a:r>
              <a:rPr lang="pl-PL" dirty="0"/>
              <a:t>Krótkie omówienie kodu</a:t>
            </a:r>
          </a:p>
        </p:txBody>
      </p:sp>
      <p:sp>
        <p:nvSpPr>
          <p:cNvPr id="4" name="Rectangle 1">
            <a:extLst>
              <a:ext uri="{FF2B5EF4-FFF2-40B4-BE49-F238E27FC236}">
                <a16:creationId xmlns:a16="http://schemas.microsoft.com/office/drawing/2014/main" id="{C4161637-7F61-25B7-9EB1-15561802D1BE}"/>
              </a:ext>
            </a:extLst>
          </p:cNvPr>
          <p:cNvSpPr>
            <a:spLocks noGrp="1" noChangeArrowheads="1"/>
          </p:cNvSpPr>
          <p:nvPr>
            <p:ph type="body" idx="1"/>
          </p:nvPr>
        </p:nvSpPr>
        <p:spPr bwMode="auto">
          <a:xfrm>
            <a:off x="949036" y="1706077"/>
            <a:ext cx="9239054" cy="4170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342900" marR="0" lvl="0" indent="-342900" algn="l" defTabSz="914400" rtl="0" eaLnBrk="0" fontAlgn="base" latinLnBrk="0" hangingPunct="0">
              <a:lnSpc>
                <a:spcPct val="100000"/>
              </a:lnSpc>
              <a:spcBef>
                <a:spcPct val="0"/>
              </a:spcBef>
              <a:spcAft>
                <a:spcPct val="0"/>
              </a:spcAft>
              <a:buClrTx/>
              <a:buSzTx/>
              <a:buFont typeface="+mj-lt"/>
              <a:buAutoNum type="arabicPeriod"/>
              <a:tabLst/>
            </a:pPr>
            <a:r>
              <a:rPr kumimoji="0" lang="pl-PL" altLang="pl-PL" sz="1800" b="1" i="0" u="none" strike="noStrike" cap="none" normalizeH="0" baseline="0" dirty="0">
                <a:ln>
                  <a:noFill/>
                </a:ln>
                <a:solidFill>
                  <a:schemeClr val="tx1"/>
                </a:solidFill>
                <a:effectLst/>
              </a:rPr>
              <a:t>Trening i zapisywanie stanu</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Trening:</a:t>
            </a:r>
            <a:r>
              <a:rPr kumimoji="0" lang="pl-PL" altLang="pl-PL" sz="1400" b="0" i="0" u="none" strike="noStrike" cap="none" normalizeH="0" baseline="0" dirty="0">
                <a:ln>
                  <a:noFill/>
                </a:ln>
                <a:solidFill>
                  <a:schemeClr val="tx1"/>
                </a:solidFill>
                <a:effectLst/>
              </a:rPr>
              <a:t> Uczenie modeli (ResNet-18 dla zbiorów </a:t>
            </a:r>
            <a:r>
              <a:rPr kumimoji="0" lang="pl-PL" altLang="pl-PL" sz="1400" b="0" i="0" u="none" strike="noStrike" cap="none" normalizeH="0" baseline="0" dirty="0" err="1">
                <a:ln>
                  <a:noFill/>
                </a:ln>
                <a:solidFill>
                  <a:schemeClr val="tx1"/>
                </a:solidFill>
                <a:effectLst/>
              </a:rPr>
              <a:t>Cifar</a:t>
            </a:r>
            <a:r>
              <a:rPr kumimoji="0" lang="pl-PL" altLang="pl-PL" sz="1400" b="0" i="0" u="none" strike="noStrike" cap="none" normalizeH="0" baseline="0" dirty="0">
                <a:ln>
                  <a:noFill/>
                </a:ln>
                <a:solidFill>
                  <a:schemeClr val="tx1"/>
                </a:solidFill>
                <a:effectLst/>
              </a:rPr>
              <a:t>, ResNet-50 dla </a:t>
            </a:r>
            <a:r>
              <a:rPr kumimoji="0" lang="pl-PL" altLang="pl-PL" sz="1400" b="0" i="0" u="none" strike="noStrike" cap="none" normalizeH="0" baseline="0" dirty="0" err="1">
                <a:ln>
                  <a:noFill/>
                </a:ln>
                <a:solidFill>
                  <a:schemeClr val="tx1"/>
                </a:solidFill>
                <a:effectLst/>
              </a:rPr>
              <a:t>ImageNet</a:t>
            </a:r>
            <a:r>
              <a:rPr kumimoji="0" lang="pl-PL" altLang="pl-PL" sz="1400" b="0" i="0" u="none" strike="noStrike" cap="none" normalizeH="0" baseline="0" dirty="0">
                <a:ln>
                  <a:noFill/>
                </a:ln>
                <a:solidFill>
                  <a:schemeClr val="tx1"/>
                </a:solidFill>
                <a:effectLst/>
              </a:rPr>
              <a:t>) za pomocą algorytmu SGD, ze standardową augmentacją danych (przycinanie, odbicia lustrzane </a:t>
            </a:r>
            <a:r>
              <a:rPr kumimoji="0" lang="pl-PL" altLang="pl-PL" sz="1400" b="0" i="0" u="none" strike="noStrike" cap="none" normalizeH="0" baseline="0" dirty="0" err="1">
                <a:ln>
                  <a:noFill/>
                </a:ln>
                <a:solidFill>
                  <a:schemeClr val="tx1"/>
                </a:solidFill>
                <a:effectLst/>
              </a:rPr>
              <a:t>itp</a:t>
            </a:r>
            <a:r>
              <a:rPr kumimoji="0" lang="pl-PL" altLang="pl-PL" sz="1400" b="0" i="0" u="none" strike="noStrike" cap="none" normalizeH="0" baseline="0" dirty="0">
                <a:ln>
                  <a:noFill/>
                </a:ln>
                <a:solidFill>
                  <a:schemeClr val="tx1"/>
                </a:solidFill>
                <a:effectLst/>
              </a:rPr>
              <a:t>).</a:t>
            </a:r>
          </a:p>
          <a:p>
            <a:pPr lvl="1" eaLnBrk="0" fontAlgn="base" hangingPunct="0">
              <a:lnSpc>
                <a:spcPct val="100000"/>
              </a:lnSpc>
              <a:spcBef>
                <a:spcPct val="0"/>
              </a:spcBef>
              <a:spcAft>
                <a:spcPct val="0"/>
              </a:spcAft>
            </a:pPr>
            <a:r>
              <a:rPr kumimoji="0" lang="pl-PL" altLang="pl-PL" sz="1400" b="1" i="0" u="none" strike="noStrike" cap="none" normalizeH="0" baseline="0" dirty="0" err="1">
                <a:ln>
                  <a:noFill/>
                </a:ln>
                <a:solidFill>
                  <a:schemeClr val="tx1"/>
                </a:solidFill>
                <a:effectLst/>
              </a:rPr>
              <a:t>Checkpoints</a:t>
            </a:r>
            <a:r>
              <a:rPr kumimoji="0" lang="pl-PL" altLang="pl-PL" sz="1400" b="1" i="0" u="none" strike="noStrike" cap="none" normalizeH="0" baseline="0" dirty="0">
                <a:ln>
                  <a:noFill/>
                </a:ln>
                <a:solidFill>
                  <a:schemeClr val="tx1"/>
                </a:solidFill>
                <a:effectLst/>
              </a:rPr>
              <a:t>:</a:t>
            </a:r>
            <a:r>
              <a:rPr kumimoji="0" lang="pl-PL" altLang="pl-PL" sz="1400" b="0" i="0" u="none" strike="noStrike" cap="none" normalizeH="0" baseline="0" dirty="0">
                <a:ln>
                  <a:noFill/>
                </a:ln>
                <a:solidFill>
                  <a:schemeClr val="tx1"/>
                </a:solidFill>
                <a:effectLst/>
              </a:rPr>
              <a:t> Zapisywanie wag modelu w trakcie nauki – co 10 epok dla </a:t>
            </a:r>
            <a:r>
              <a:rPr kumimoji="0" lang="pl-PL" altLang="pl-PL" sz="1400" b="0" i="0" u="none" strike="noStrike" cap="none" normalizeH="0" baseline="0" dirty="0" err="1">
                <a:ln>
                  <a:noFill/>
                </a:ln>
                <a:solidFill>
                  <a:schemeClr val="tx1"/>
                </a:solidFill>
                <a:effectLst/>
              </a:rPr>
              <a:t>Cifar</a:t>
            </a:r>
            <a:r>
              <a:rPr kumimoji="0" lang="pl-PL" altLang="pl-PL" sz="1400" b="0" i="0" u="none" strike="noStrike" cap="none" normalizeH="0" baseline="0" dirty="0">
                <a:ln>
                  <a:noFill/>
                </a:ln>
                <a:solidFill>
                  <a:schemeClr val="tx1"/>
                </a:solidFill>
                <a:effectLst/>
              </a:rPr>
              <a:t> lub 32 razy w trakcie całego treningu dla </a:t>
            </a:r>
            <a:r>
              <a:rPr kumimoji="0" lang="pl-PL" altLang="pl-PL" sz="1400" b="0" i="0" u="none" strike="noStrike" cap="none" normalizeH="0" baseline="0" dirty="0" err="1">
                <a:ln>
                  <a:noFill/>
                </a:ln>
                <a:solidFill>
                  <a:schemeClr val="tx1"/>
                </a:solidFill>
                <a:effectLst/>
              </a:rPr>
              <a:t>ImageNet</a:t>
            </a:r>
            <a:r>
              <a:rPr kumimoji="0" lang="pl-PL" altLang="pl-PL" sz="1400" b="0" i="0" u="none" strike="noStrike" cap="none" normalizeH="0" baseline="0" dirty="0">
                <a:ln>
                  <a:noFill/>
                </a:ln>
                <a:solidFill>
                  <a:schemeClr val="tx1"/>
                </a:solidFill>
                <a:effectLst/>
              </a:rPr>
              <a:t>.</a:t>
            </a:r>
          </a:p>
          <a:p>
            <a:pPr marL="342900" indent="-342900" eaLnBrk="0" fontAlgn="base" hangingPunct="0">
              <a:lnSpc>
                <a:spcPct val="100000"/>
              </a:lnSpc>
              <a:spcBef>
                <a:spcPct val="0"/>
              </a:spcBef>
              <a:spcAft>
                <a:spcPct val="0"/>
              </a:spcAft>
              <a:buFont typeface="+mj-lt"/>
              <a:buAutoNum type="arabicPeriod"/>
            </a:pPr>
            <a:r>
              <a:rPr kumimoji="0" lang="pl-PL" altLang="pl-PL" sz="1800" b="1" i="0" u="none" strike="noStrike" cap="none" normalizeH="0" baseline="0" dirty="0">
                <a:ln>
                  <a:noFill/>
                </a:ln>
                <a:solidFill>
                  <a:schemeClr val="tx1"/>
                </a:solidFill>
                <a:effectLst/>
              </a:rPr>
              <a:t>Wyliczanie metryki </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Pobranie gradientów:</a:t>
            </a:r>
            <a:r>
              <a:rPr kumimoji="0" lang="pl-PL" altLang="pl-PL" sz="1400" b="0" i="0" u="none" strike="noStrike" cap="none" normalizeH="0" baseline="0" dirty="0">
                <a:ln>
                  <a:noFill/>
                </a:ln>
                <a:solidFill>
                  <a:schemeClr val="tx1"/>
                </a:solidFill>
                <a:effectLst/>
              </a:rPr>
              <a:t> Wybór K punktów kontrolnych. Dla każdego obrazu sieć oblicza gradient aktywacji warstwy </a:t>
            </a:r>
            <a:r>
              <a:rPr kumimoji="0" lang="pl-PL" altLang="pl-PL" sz="1400" b="0" i="0" u="none" strike="noStrike" cap="none" normalizeH="0" baseline="0" dirty="0" err="1">
                <a:ln>
                  <a:noFill/>
                </a:ln>
                <a:solidFill>
                  <a:schemeClr val="tx1"/>
                </a:solidFill>
                <a:effectLst/>
              </a:rPr>
              <a:t>pre-softmax</a:t>
            </a:r>
            <a:r>
              <a:rPr kumimoji="0" lang="pl-PL" altLang="pl-PL" sz="1400" b="0" i="0" u="none" strike="noStrike" cap="none" normalizeH="0" baseline="0" dirty="0">
                <a:ln>
                  <a:noFill/>
                </a:ln>
                <a:solidFill>
                  <a:schemeClr val="tx1"/>
                </a:solidFill>
                <a:effectLst/>
              </a:rPr>
              <a:t> w stosunku do pikseli wejściowych.</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Agregacja:</a:t>
            </a:r>
            <a:r>
              <a:rPr kumimoji="0" lang="pl-PL" altLang="pl-PL" sz="1400" b="0" i="0" u="none" strike="noStrike" cap="none" normalizeH="0" baseline="0" dirty="0">
                <a:ln>
                  <a:noFill/>
                </a:ln>
                <a:solidFill>
                  <a:schemeClr val="tx1"/>
                </a:solidFill>
                <a:effectLst/>
              </a:rPr>
              <a:t> Gradienty uśrednia się po kanałach kolorów. Następnie algorytm oblicza wariancję tych gradientów (ich zmienność) na przestrzeni wybranych punktów kontrolnych.</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Wynik końcowy:</a:t>
            </a:r>
            <a:r>
              <a:rPr kumimoji="0" lang="pl-PL" altLang="pl-PL" sz="1400" b="0" i="0" u="none" strike="noStrike" cap="none" normalizeH="0" baseline="0" dirty="0">
                <a:ln>
                  <a:noFill/>
                </a:ln>
                <a:solidFill>
                  <a:schemeClr val="tx1"/>
                </a:solidFill>
                <a:effectLst/>
              </a:rPr>
              <a:t> Wariancje wszystkich pikseli są uśredniane do jednej liczby dla całego obrazu. Wynik ten jest na koniec normalizowany względem średniej dla danej klasy.</a:t>
            </a:r>
          </a:p>
          <a:p>
            <a:pPr marL="342900" indent="-342900" eaLnBrk="0" fontAlgn="base" hangingPunct="0">
              <a:lnSpc>
                <a:spcPct val="100000"/>
              </a:lnSpc>
              <a:spcBef>
                <a:spcPct val="0"/>
              </a:spcBef>
              <a:spcAft>
                <a:spcPct val="0"/>
              </a:spcAft>
              <a:buFont typeface="+mj-lt"/>
              <a:buAutoNum type="arabicPeriod"/>
            </a:pPr>
            <a:r>
              <a:rPr kumimoji="0" lang="pl-PL" altLang="pl-PL" sz="1800" b="1" i="0" u="none" strike="noStrike" cap="none" normalizeH="0" baseline="0" dirty="0">
                <a:ln>
                  <a:noFill/>
                </a:ln>
                <a:solidFill>
                  <a:schemeClr val="tx1"/>
                </a:solidFill>
                <a:effectLst/>
              </a:rPr>
              <a:t>Zastosowanie i ewaluacja</a:t>
            </a:r>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Ranking:</a:t>
            </a:r>
            <a:r>
              <a:rPr kumimoji="0" lang="pl-PL" altLang="pl-PL" sz="1400" b="0" i="0" u="none" strike="noStrike" cap="none" normalizeH="0" baseline="0" dirty="0">
                <a:ln>
                  <a:noFill/>
                </a:ln>
                <a:solidFill>
                  <a:schemeClr val="tx1"/>
                </a:solidFill>
                <a:effectLst/>
              </a:rPr>
              <a:t> Posortowanie zbioru danych na podstawie obliczonego wyniku </a:t>
            </a:r>
            <a:r>
              <a:rPr kumimoji="0" lang="pl-PL" altLang="pl-PL" sz="1400" b="0" i="0" u="none" strike="noStrike" cap="none" normalizeH="0" baseline="0" dirty="0" err="1">
                <a:ln>
                  <a:noFill/>
                </a:ln>
                <a:solidFill>
                  <a:schemeClr val="tx1"/>
                </a:solidFill>
                <a:effectLst/>
              </a:rPr>
              <a:t>VoG</a:t>
            </a:r>
            <a:r>
              <a:rPr kumimoji="0" lang="pl-PL" altLang="pl-PL" sz="1400" b="0" i="0" u="none" strike="noStrike" cap="none" normalizeH="0" baseline="0" dirty="0">
                <a:ln>
                  <a:noFill/>
                </a:ln>
                <a:solidFill>
                  <a:schemeClr val="tx1"/>
                </a:solidFill>
                <a:effectLst/>
              </a:rPr>
              <a:t>.</a:t>
            </a:r>
            <a:endParaRPr lang="pl-PL" altLang="pl-PL" sz="1400" dirty="0"/>
          </a:p>
          <a:p>
            <a:pPr lvl="1" eaLnBrk="0" fontAlgn="base" hangingPunct="0">
              <a:lnSpc>
                <a:spcPct val="100000"/>
              </a:lnSpc>
              <a:spcBef>
                <a:spcPct val="0"/>
              </a:spcBef>
              <a:spcAft>
                <a:spcPct val="0"/>
              </a:spcAft>
            </a:pPr>
            <a:r>
              <a:rPr kumimoji="0" lang="pl-PL" altLang="pl-PL" sz="1400" b="1" i="0" u="none" strike="noStrike" cap="none" normalizeH="0" baseline="0" dirty="0">
                <a:ln>
                  <a:noFill/>
                </a:ln>
                <a:solidFill>
                  <a:schemeClr val="tx1"/>
                </a:solidFill>
                <a:effectLst/>
              </a:rPr>
              <a:t>Audyt:</a:t>
            </a:r>
            <a:r>
              <a:rPr kumimoji="0" lang="pl-PL" altLang="pl-PL" sz="1400" b="0" i="0" u="none" strike="noStrike" cap="none" normalizeH="0" baseline="0" dirty="0">
                <a:ln>
                  <a:noFill/>
                </a:ln>
                <a:solidFill>
                  <a:schemeClr val="tx1"/>
                </a:solidFill>
                <a:effectLst/>
              </a:rPr>
              <a:t> Wykorzystanie rankingu do wykrywania trudnych próbek , odnajdywania danych spoza rozkładu (</a:t>
            </a:r>
            <a:r>
              <a:rPr kumimoji="0" lang="pl-PL" altLang="pl-PL" sz="1400" b="0" i="0" u="none" strike="noStrike" cap="none" normalizeH="0" baseline="0" dirty="0" err="1">
                <a:ln>
                  <a:noFill/>
                </a:ln>
                <a:solidFill>
                  <a:schemeClr val="tx1"/>
                </a:solidFill>
                <a:effectLst/>
              </a:rPr>
              <a:t>OoD</a:t>
            </a:r>
            <a:r>
              <a:rPr kumimoji="0" lang="pl-PL" altLang="pl-PL" sz="1400" b="0" i="0" u="none" strike="noStrike" cap="none" normalizeH="0" baseline="0" dirty="0">
                <a:ln>
                  <a:noFill/>
                </a:ln>
                <a:solidFill>
                  <a:schemeClr val="tx1"/>
                </a:solidFill>
                <a:effectLst/>
              </a:rPr>
              <a:t>) oraz identyfikacji przykładów, które model musiał "zapamiętać na siłę" (np. z celowo podmienionymi etykietami).</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pl-PL" altLang="pl-PL"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71234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ABF6D0C4-2D0F-6670-98C9-0A2916B1761C}"/>
              </a:ext>
            </a:extLst>
          </p:cNvPr>
          <p:cNvSpPr>
            <a:spLocks noGrp="1"/>
          </p:cNvSpPr>
          <p:nvPr>
            <p:ph type="title"/>
          </p:nvPr>
        </p:nvSpPr>
        <p:spPr/>
        <p:txBody>
          <a:bodyPr/>
          <a:lstStyle/>
          <a:p>
            <a:endParaRPr lang="pl-PL" dirty="0"/>
          </a:p>
        </p:txBody>
      </p:sp>
      <p:sp>
        <p:nvSpPr>
          <p:cNvPr id="3" name="Symbol zastępczy tekstu 2">
            <a:extLst>
              <a:ext uri="{FF2B5EF4-FFF2-40B4-BE49-F238E27FC236}">
                <a16:creationId xmlns:a16="http://schemas.microsoft.com/office/drawing/2014/main" id="{BF9FFE89-09B9-41D5-1B5B-5E78538ABD95}"/>
              </a:ext>
            </a:extLst>
          </p:cNvPr>
          <p:cNvSpPr>
            <a:spLocks noGrp="1"/>
          </p:cNvSpPr>
          <p:nvPr>
            <p:ph type="body" idx="1"/>
          </p:nvPr>
        </p:nvSpPr>
        <p:spPr/>
        <p:txBody>
          <a:bodyPr/>
          <a:lstStyle/>
          <a:p>
            <a:endParaRPr lang="pl-PL"/>
          </a:p>
        </p:txBody>
      </p:sp>
    </p:spTree>
    <p:extLst>
      <p:ext uri="{BB962C8B-B14F-4D97-AF65-F5344CB8AC3E}">
        <p14:creationId xmlns:p14="http://schemas.microsoft.com/office/powerpoint/2010/main" val="1501502243"/>
      </p:ext>
    </p:extLst>
  </p:cSld>
  <p:clrMapOvr>
    <a:masterClrMapping/>
  </p:clrMapOvr>
</p:sld>
</file>

<file path=ppt/theme/theme1.xml><?xml version="1.0" encoding="utf-8"?>
<a:theme xmlns:a="http://schemas.openxmlformats.org/drawingml/2006/main" name="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Motyw pakietu Office">
  <a:themeElements>
    <a:clrScheme name="Pakiet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akiet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897</Words>
  <Application>Microsoft Office PowerPoint</Application>
  <PresentationFormat>Panoramiczny</PresentationFormat>
  <Paragraphs>65</Paragraphs>
  <Slides>13</Slides>
  <Notes>0</Notes>
  <HiddenSlides>0</HiddenSlides>
  <MMClips>0</MMClips>
  <ScaleCrop>false</ScaleCrop>
  <HeadingPairs>
    <vt:vector size="6" baseType="variant">
      <vt:variant>
        <vt:lpstr>Używane czcionki</vt:lpstr>
      </vt:variant>
      <vt:variant>
        <vt:i4>4</vt:i4>
      </vt:variant>
      <vt:variant>
        <vt:lpstr>Motyw</vt:lpstr>
      </vt:variant>
      <vt:variant>
        <vt:i4>2</vt:i4>
      </vt:variant>
      <vt:variant>
        <vt:lpstr>Tytuły slajdów</vt:lpstr>
      </vt:variant>
      <vt:variant>
        <vt:i4>13</vt:i4>
      </vt:variant>
    </vt:vector>
  </HeadingPairs>
  <TitlesOfParts>
    <vt:vector size="19" baseType="lpstr">
      <vt:lpstr>Aptos</vt:lpstr>
      <vt:lpstr>Aptos Display</vt:lpstr>
      <vt:lpstr>Arial</vt:lpstr>
      <vt:lpstr>Cambria Math</vt:lpstr>
      <vt:lpstr>Motyw pakietu Office</vt:lpstr>
      <vt:lpstr>1_Motyw pakietu Office</vt:lpstr>
      <vt:lpstr>Analiza Teoretyczna Metryki VoG</vt:lpstr>
      <vt:lpstr>Które przykłady są trudne do sklasyfikowania?</vt:lpstr>
      <vt:lpstr>Variance of Gradience (VoG)</vt:lpstr>
      <vt:lpstr>Analiza matematyczna - Macierz gradientu</vt:lpstr>
      <vt:lpstr>Analiza matematyczna - wariancja  i normalizacja</vt:lpstr>
      <vt:lpstr>Cechy obrazów w zależności od wartości VoG</vt:lpstr>
      <vt:lpstr>VoG kontra błąd modelu</vt:lpstr>
      <vt:lpstr>Zachowanie VoG w zależności od etapu treningu</vt:lpstr>
      <vt:lpstr>Wykrywanie przez VoG zapamiętanych przez model przykładów</vt:lpstr>
      <vt:lpstr>Wykrywanie przykładów OoD</vt:lpstr>
      <vt:lpstr>Oryginalny kod źródłowy</vt:lpstr>
      <vt:lpstr>Krótkie omówienie kodu</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7505452 Polkowski Cezary</dc:creator>
  <cp:lastModifiedBy>Socha Karol 2 (STUD)</cp:lastModifiedBy>
  <cp:revision>3</cp:revision>
  <dcterms:created xsi:type="dcterms:W3CDTF">2026-03-27T00:29:23Z</dcterms:created>
  <dcterms:modified xsi:type="dcterms:W3CDTF">2026-03-27T06:58:28Z</dcterms:modified>
</cp:coreProperties>
</file>
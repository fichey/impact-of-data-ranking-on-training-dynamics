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262B33-6913-2048-6F45-35C6BA437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A6D0863-63B0-596D-E681-22EF33BC7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2B24759-D699-C096-ACF5-F94D5024B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CB17DA9-7773-D07E-B3E0-6FB0D278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0E04B9E-4CB5-D010-B8B9-5E30E079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511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0AD692-3A55-9070-173F-285BA0A49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F89CFB2-BEB1-ED7B-9219-6DE2F5035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8F9D34D-A9BD-B70D-B61B-C6CB011B3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9F6057A-2844-B235-321B-4ADCCBF8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CFCF66-4D1E-D5CE-0AA0-30BA4750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648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208AD6-6948-310C-8C39-21EE341F8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67627F4-6C05-A73C-EBC9-3C169A661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FC2A642-F51B-F0F8-C4C2-32F8DF49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F5B779E-6231-830D-45C6-A3101DD6A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EE4365-A8D3-1732-ADA8-9A372555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988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26BD24-9B12-B21E-6B16-1A6166FAE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92717EE-11B3-3616-4E2E-0326DD30E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D7C1D51-4C10-1891-622B-961095EA1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737E194-7108-1008-C7CD-7F439E9E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5201D07-77F5-120C-8619-287CC88BB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61D6246-7AE7-C122-3215-F424D67C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563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D6C951-6253-09E5-40C4-5908533B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06B83EB-8DA0-0D7E-389B-686041606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89648C7-B450-E434-91C8-7A308EEA2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C4F66E7-B160-521F-F4AA-0F9BBF462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C3894741-4CBB-A99A-75F8-B2C12BA196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72ECC2B-DDD0-706A-3FEC-37DD22C82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A8E14E3-0D97-3138-2866-23FA157AC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C177182E-60C4-6A4D-09C5-C46B4E0F5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2565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674641-458A-B090-19E2-524A8E0C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04329792-53D6-6B20-4AD1-5E47B3808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AC8057C-B741-4749-4556-5B505A7E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724AA6B-EE13-BF07-A0E2-0E4FB2D3B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5804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FC86CEA-EF73-9E68-FB03-ABCE38AE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794D6572-3C0A-330B-C34B-8F477E861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0040795-9D43-91EE-2896-70568DBF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241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6A85868-140F-CADA-8727-34E9A21F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B2590D5-6B4B-6B57-D4A5-2DFED0955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AE7DB58-4F70-DD44-BDAB-16ADF334D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12A4D34-3800-5440-4817-30652068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EDAD53B-6713-665B-5232-2B9AFFF3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3E2EDDA-2C38-D87A-138C-CEB9D30CD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24516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D90DE2-43D7-275C-92F0-156AC2CCD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073D1A9-93F5-0173-0745-8EACFD47D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3B8CF0C-9B7B-643D-1E47-9DE35A349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33A5AA7-9FC2-272C-2D25-BFD52CF1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4F0BD83-1E39-FD31-FC02-4AA1F0B7B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7D7C8EC-8996-6C80-1EAC-01F1C2D7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670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DBE1EF-79A4-293E-0395-C15C3E81C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A36D679-B12A-0452-786E-31E0E5858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DCB531C-8970-8355-D791-CD5E993E2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70ABBF8-4938-603A-E9B5-335E0479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158C26-ED63-838E-0966-A4E9203B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672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AD4664C-4A70-F96D-6D26-EF87561B3F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A11D5DE-D413-AB0E-5448-05BA2142F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95C2D0B-D2E6-4141-DDAB-450EA4C5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A7D8D26-B082-78A0-A8DA-1731FD1B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9F5A6E9-4633-60CB-4610-C23850E8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1851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ytuł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741B07-3276-A542-B3A8-488DA0BE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9B188AA-C838-F9E0-0AA5-96FB1D927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915ABD8-D912-2D08-E6C3-DFA782A21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1B99588-4CFE-D16C-CFD3-D4249926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A38BE3F-DDC5-C4CF-C5A6-36E81B14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2798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AD52F577-E6C1-21C0-2B7B-E656B312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ADEE284-AD5D-2332-80C6-E9F7D585F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9D5A8B6-AC87-90A5-569F-1AA3FDED1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79164-E772-4C3E-9B23-E0327087945E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91D01FC-3D01-2768-8887-DD0F41C56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15FC50E-CE7F-0579-3188-03B9D1E7A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09D77-4A7C-4682-8640-D099E70D1C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71852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2F7C90-53C7-A1E8-CADC-1E6672274D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Analiza Teoretyczna Metryki VoG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462A04B-478B-6C45-E98D-5E13F958F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Matematyczna logika oceny trudności przykładów oraz oryginalny kod źródłowy</a:t>
            </a:r>
          </a:p>
        </p:txBody>
      </p:sp>
    </p:spTree>
    <p:extLst>
      <p:ext uri="{BB962C8B-B14F-4D97-AF65-F5344CB8AC3E}">
        <p14:creationId xmlns:p14="http://schemas.microsoft.com/office/powerpoint/2010/main" val="3223712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99A93D3-21BA-10DB-6A64-68736341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Podstawa logiki - Ranking oparty na gradientach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38DD198-D76C-3590-FC2D-B5474879C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VoG</a:t>
            </a:r>
            <a:r>
              <a:rPr lang="pl-PL" dirty="0"/>
              <a:t> to ranking oparty na gradientach, </a:t>
            </a:r>
            <a:r>
              <a:rPr lang="pl-PL" dirty="0" err="1"/>
              <a:t>mierzacy</a:t>
            </a:r>
            <a:r>
              <a:rPr lang="pl-PL" dirty="0"/>
              <a:t> </a:t>
            </a:r>
            <a:r>
              <a:rPr lang="pl-PL" dirty="0" err="1"/>
              <a:t>zmiennosc</a:t>
            </a:r>
            <a:r>
              <a:rPr lang="pl-PL" dirty="0"/>
              <a:t> </a:t>
            </a:r>
            <a:r>
              <a:rPr lang="pl-PL" dirty="0" err="1"/>
              <a:t>wyjasnien</a:t>
            </a:r>
            <a:r>
              <a:rPr lang="pl-PL" dirty="0"/>
              <a:t> w czasie treningu.</a:t>
            </a:r>
          </a:p>
          <a:p>
            <a:r>
              <a:rPr lang="pl-PL" dirty="0"/>
              <a:t>Przykłady trudne do nauczenia wykazują wyższą wariancję w aktualizacjach gradientów przez cały okres treningu.</a:t>
            </a:r>
          </a:p>
          <a:p>
            <a:r>
              <a:rPr lang="pl-PL" dirty="0"/>
              <a:t>Gradienty propagowane wstecznie dla przykładów łatwiejszych wykazują niższą wariancję.</a:t>
            </a:r>
          </a:p>
          <a:p>
            <a:r>
              <a:rPr lang="pl-PL" dirty="0"/>
              <a:t>Strata z łatwych przykładów nie dominuje trwale w procesie uczenia.</a:t>
            </a:r>
          </a:p>
        </p:txBody>
      </p:sp>
    </p:spTree>
    <p:extLst>
      <p:ext uri="{BB962C8B-B14F-4D97-AF65-F5344CB8AC3E}">
        <p14:creationId xmlns:p14="http://schemas.microsoft.com/office/powerpoint/2010/main" val="14552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294626-5902-BB67-53FF-69A16E5E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Analiza matematyczna - Macierz gradientu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tekstu 2">
                <a:extLst>
                  <a:ext uri="{FF2B5EF4-FFF2-40B4-BE49-F238E27FC236}">
                    <a16:creationId xmlns:a16="http://schemas.microsoft.com/office/drawing/2014/main" id="{B129EA07-A39E-1549-44B0-C04AEFEA13B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l-PL" dirty="0"/>
                  <a:t>Obraz wejściowy jest dekomponowany na zestaw N pikseli.</a:t>
                </a:r>
              </a:p>
              <a:p>
                <a:r>
                  <a:rPr lang="pl-PL" dirty="0"/>
                  <a:t>Dla każdego obrazu obliczany jest gradient aktywacji warstwy </a:t>
                </a:r>
                <a:r>
                  <a:rPr lang="pl-PL" dirty="0" err="1"/>
                  <a:t>pre-softmax</a:t>
                </a:r>
                <a:r>
                  <a:rPr lang="pl-PL" dirty="0"/>
                  <a:t> w stosunku do każdego piksela wejściowego</a:t>
                </a:r>
              </a:p>
              <a:p>
                <a:r>
                  <a:rPr lang="pl-PL" dirty="0"/>
                  <a:t>Tworzy to macierz gradientów S reprezentującą te wartości.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l-P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pl-P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num>
                        <m:den>
                          <m:r>
                            <a:rPr lang="pl-P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l-PL" dirty="0"/>
              </a:p>
              <a:p>
                <a:r>
                  <a:rPr lang="pl-PL" dirty="0"/>
                  <a:t>Wartości te są następnie uśredniane dla kanałów kolorów obrazu.</a:t>
                </a:r>
              </a:p>
            </p:txBody>
          </p:sp>
        </mc:Choice>
        <mc:Fallback>
          <p:sp>
            <p:nvSpPr>
              <p:cNvPr id="3" name="Symbol zastępczy tekstu 2">
                <a:extLst>
                  <a:ext uri="{FF2B5EF4-FFF2-40B4-BE49-F238E27FC236}">
                    <a16:creationId xmlns:a16="http://schemas.microsoft.com/office/drawing/2014/main" id="{B129EA07-A39E-1549-44B0-C04AEFEA1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043" t="-2381" r="-17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06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682EE4-A987-EC55-4335-E16ECA8A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Analiza matematyczna - Wariancja i Normalizacja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tekstu 2">
                <a:extLst>
                  <a:ext uri="{FF2B5EF4-FFF2-40B4-BE49-F238E27FC236}">
                    <a16:creationId xmlns:a16="http://schemas.microsoft.com/office/drawing/2014/main" id="{606833D9-76D9-1045-B768-9F34A8B5A0A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l-PL" dirty="0"/>
                  <a:t>Algorytm oblicza średni gradient bazując na K punktach kontrolnych (</a:t>
                </a:r>
                <a:r>
                  <a:rPr lang="pl-PL" dirty="0" err="1"/>
                  <a:t>checkpoints</a:t>
                </a:r>
                <a:r>
                  <a:rPr lang="pl-PL" dirty="0"/>
                  <a:t>). </a:t>
                </a:r>
                <a14:m>
                  <m:oMath xmlns:m="http://schemas.openxmlformats.org/officeDocument/2006/math">
                    <m:r>
                      <a:rPr lang="pl-P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pl-P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ctrlP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pl-P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pl-P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pl-PL" dirty="0"/>
              </a:p>
              <a:p>
                <a:r>
                  <a:rPr lang="pl-PL" dirty="0"/>
                  <a:t>Następnie obliczana jest wariancja gradientów dla każdego piksela w oparciu o różnicę między macierzą a średnią.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𝑉𝑜𝐺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pl-PL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pl-P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pl-PL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l-P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p>
                              <m:sSupPr>
                                <m:ctrlPr>
                                  <a:rPr lang="pl-P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l-P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l-PL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l-PL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pl-PL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pl-PL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l-P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l-PL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pl-PL" dirty="0"/>
              </a:p>
              <a:p>
                <a:r>
                  <a:rPr lang="pl-PL" dirty="0"/>
                  <a:t>Wynik </a:t>
                </a:r>
                <a:r>
                  <a:rPr lang="pl-PL" dirty="0" err="1"/>
                  <a:t>VoG</a:t>
                </a:r>
                <a:r>
                  <a:rPr lang="pl-PL" dirty="0"/>
                  <a:t> to uśredniona wariancja wszystkich pikseli w danym obrazie.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pl-PL" b="0" i="1" smtClean="0">
                        <a:latin typeface="Cambria Math" panose="02040503050406030204" pitchFamily="18" charset="0"/>
                      </a:rPr>
                      <m:t>𝑉𝑜𝐺</m:t>
                    </m:r>
                    <m:r>
                      <a:rPr lang="pl-PL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l-P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pl-P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𝑉𝑜𝐺</m:t>
                            </m:r>
                          </m:e>
                          <m:sub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nary>
                  </m:oMath>
                </a14:m>
                <a:r>
                  <a:rPr lang="pl-PL" dirty="0"/>
                  <a:t> (1)</a:t>
                </a:r>
              </a:p>
              <a:p>
                <a:r>
                  <a:rPr lang="pl-PL" dirty="0"/>
                  <a:t>Na koniec wynik jest normalizowany przy użyciu średniej i odchylenia standardowego na poziomie danej klasy.</a:t>
                </a:r>
              </a:p>
            </p:txBody>
          </p:sp>
        </mc:Choice>
        <mc:Fallback>
          <p:sp>
            <p:nvSpPr>
              <p:cNvPr id="3" name="Symbol zastępczy tekstu 2">
                <a:extLst>
                  <a:ext uri="{FF2B5EF4-FFF2-40B4-BE49-F238E27FC236}">
                    <a16:creationId xmlns:a16="http://schemas.microsoft.com/office/drawing/2014/main" id="{606833D9-76D9-1045-B768-9F34A8B5A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D81FF49F-59FC-CDA1-3803-66BAA565FE37}"/>
              </a:ext>
            </a:extLst>
          </p:cNvPr>
          <p:cNvSpPr txBox="1"/>
          <p:nvPr/>
        </p:nvSpPr>
        <p:spPr>
          <a:xfrm>
            <a:off x="10021454" y="5850235"/>
            <a:ext cx="2013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(1) – W artykule jest suma po t ale powinna być po p</a:t>
            </a:r>
          </a:p>
        </p:txBody>
      </p:sp>
    </p:spTree>
    <p:extLst>
      <p:ext uri="{BB962C8B-B14F-4D97-AF65-F5344CB8AC3E}">
        <p14:creationId xmlns:p14="http://schemas.microsoft.com/office/powerpoint/2010/main" val="2954055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6D68EC-195E-5901-E2B9-36BCC69CF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Oryginalny kod źródłowy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6453CC4-19A3-BB10-7770-EBBFA7F5E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Autorzy udostępnili kod oraz </a:t>
            </a:r>
            <a:r>
              <a:rPr lang="pl-PL" dirty="0" err="1"/>
              <a:t>pobieralne</a:t>
            </a:r>
            <a:r>
              <a:rPr lang="pl-PL" dirty="0"/>
              <a:t> wyniki </a:t>
            </a:r>
            <a:r>
              <a:rPr lang="pl-PL" dirty="0" err="1"/>
              <a:t>VoG</a:t>
            </a:r>
            <a:r>
              <a:rPr lang="pl-PL" dirty="0"/>
              <a:t>.</a:t>
            </a:r>
          </a:p>
          <a:p>
            <a:r>
              <a:rPr lang="pl-PL" dirty="0"/>
              <a:t>Główne repozytorium GitHub:	</a:t>
            </a:r>
            <a:r>
              <a:rPr lang="pl-PL" dirty="0" err="1"/>
              <a:t>https</a:t>
            </a:r>
            <a:r>
              <a:rPr lang="pl-PL" dirty="0"/>
              <a:t>://</a:t>
            </a:r>
            <a:r>
              <a:rPr lang="pl-PL" dirty="0" err="1"/>
              <a:t>github.com</a:t>
            </a:r>
            <a:r>
              <a:rPr lang="pl-PL" dirty="0"/>
              <a:t>/chirag126/</a:t>
            </a:r>
            <a:r>
              <a:rPr lang="pl-PL" dirty="0" err="1"/>
              <a:t>VOG.git</a:t>
            </a:r>
            <a:endParaRPr lang="pl-PL" dirty="0"/>
          </a:p>
          <a:p>
            <a:r>
              <a:rPr lang="pl-PL" dirty="0"/>
              <a:t>Strona domowa projektu:</a:t>
            </a:r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dirty="0" err="1"/>
              <a:t>https</a:t>
            </a:r>
            <a:r>
              <a:rPr lang="pl-PL" dirty="0"/>
              <a:t>://</a:t>
            </a:r>
            <a:r>
              <a:rPr lang="pl-PL" dirty="0" err="1"/>
              <a:t>varianceofgradients.github.io</a:t>
            </a:r>
            <a:r>
              <a:rPr lang="pl-PL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668757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29E30A-45CA-AC6E-D9FE-1B99CDDC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Krótkie omówienie kodu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161637-7F61-25B7-9EB1-15561802D1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6" y="1706077"/>
            <a:ext cx="9239054" cy="417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Trening i zapisywanie stanu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Trening: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Uczenie modeli (ResNet-18 dla zbiorów </a:t>
            </a:r>
            <a:r>
              <a:rPr kumimoji="0" lang="pl-PL" altLang="pl-PL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Cifar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ResNet-50 dla </a:t>
            </a:r>
            <a:r>
              <a:rPr kumimoji="0" lang="pl-PL" altLang="pl-PL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ImageNet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za pomocą algorytmu SGD, ze standardową augmentacją danych (przycinanie, odbicia lustrzane </a:t>
            </a:r>
            <a:r>
              <a:rPr kumimoji="0" lang="pl-PL" altLang="pl-PL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itp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Checkpoints</a:t>
            </a:r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Zapisywanie wag modelu w trakcie nauki – co 10 epok dla </a:t>
            </a:r>
            <a:r>
              <a:rPr kumimoji="0" lang="pl-PL" altLang="pl-PL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Cifar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lub 32 razy w trakcie całego treningu dla </a:t>
            </a:r>
            <a:r>
              <a:rPr kumimoji="0" lang="pl-PL" altLang="pl-PL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ImageNet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Wyliczanie metryki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Pobranie gradientów: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Wybór K punktów kontrolnych. Dla każdego obrazu sieć oblicza gradient aktywacji warstwy </a:t>
            </a:r>
            <a:r>
              <a:rPr kumimoji="0" lang="pl-PL" altLang="pl-PL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pre-softmax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 stosunku do pikseli wejściowych.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Agregacja: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Gradienty uśrednia się po kanałach kolorów. Następnie algorytm oblicza wariancję tych gradientów (ich zmienność) na przestrzeni wybranych punktów kontrolnych.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Wynik końcowy: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Wariancje wszystkich pikseli są uśredniane do jednej liczby dla całego obrazu. Wynik ten jest na koniec normalizowany względem średniej dla danej klasy.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Zastosowanie i ewaluacja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Ranking: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Posortowanie zbioru danych na podstawie obliczonego wyniku </a:t>
            </a:r>
            <a:r>
              <a:rPr kumimoji="0" lang="pl-PL" altLang="pl-PL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VoG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lang="pl-PL" altLang="pl-PL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Audyt: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Wykorzystanie rankingu do wykrywania trudnych próbek , odnajdywania danych spoza rozkładu (</a:t>
            </a:r>
            <a:r>
              <a:rPr kumimoji="0" lang="pl-PL" altLang="pl-PL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OoD</a:t>
            </a:r>
            <a:r>
              <a:rPr kumimoji="0" lang="pl-PL" altLang="pl-P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oraz identyfikacji przykładów, które model musiał "zapamiętać na siłę" (np. z celowo podmienionymi etykietami).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23472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Panoramiczny</PresentationFormat>
  <Paragraphs>36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Motyw pakietu Office</vt:lpstr>
      <vt:lpstr>Analiza Teoretyczna Metryki VoG</vt:lpstr>
      <vt:lpstr>Podstawa logiki - Ranking oparty na gradientach</vt:lpstr>
      <vt:lpstr>Analiza matematyczna - Macierz gradientu</vt:lpstr>
      <vt:lpstr>Analiza matematyczna - Wariancja i Normalizacja</vt:lpstr>
      <vt:lpstr>Oryginalny kod źródłowy</vt:lpstr>
      <vt:lpstr>Krótkie omówienie kodu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7505452 Polkowski Cezary</dc:creator>
  <cp:lastModifiedBy>7505452 Polkowski Cezary</cp:lastModifiedBy>
  <cp:revision>1</cp:revision>
  <dcterms:created xsi:type="dcterms:W3CDTF">2026-03-27T00:29:23Z</dcterms:created>
  <dcterms:modified xsi:type="dcterms:W3CDTF">2026-03-27T00:29:29Z</dcterms:modified>
</cp:coreProperties>
</file>
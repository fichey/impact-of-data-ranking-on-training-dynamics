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43" d="100"/>
          <a:sy n="143" d="100"/>
        </p:scale>
        <p:origin x="684" y="1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945056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3" name="Shape 1"/>
          <p:cNvSpPr/>
          <p:nvPr/>
        </p:nvSpPr>
        <p:spPr>
          <a:xfrm>
            <a:off x="6858000" y="-457200"/>
            <a:ext cx="3200400" cy="3200400"/>
          </a:xfrm>
          <a:prstGeom prst="ellipse">
            <a:avLst/>
          </a:prstGeom>
          <a:solidFill>
            <a:srgbClr val="1E3A5F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4" name="Shape 2"/>
          <p:cNvSpPr/>
          <p:nvPr/>
        </p:nvSpPr>
        <p:spPr>
          <a:xfrm>
            <a:off x="7498080" y="182880"/>
            <a:ext cx="2011680" cy="2011680"/>
          </a:xfrm>
          <a:prstGeom prst="ellipse">
            <a:avLst/>
          </a:prstGeom>
          <a:solidFill>
            <a:srgbClr val="0D9488">
              <a:alpha val="40000"/>
            </a:srgbClr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5" name="Text 3"/>
          <p:cNvSpPr/>
          <p:nvPr/>
        </p:nvSpPr>
        <p:spPr>
          <a:xfrm>
            <a:off x="411480" y="1188720"/>
            <a:ext cx="7772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Wpływ Rankingu Danych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411480" y="1828800"/>
            <a:ext cx="7772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 Dynamikę Treningu</a:t>
            </a:r>
            <a:endParaRPr lang="en-US" sz="3400" dirty="0"/>
          </a:p>
        </p:txBody>
      </p:sp>
      <p:sp>
        <p:nvSpPr>
          <p:cNvPr id="7" name="Shape 5"/>
          <p:cNvSpPr/>
          <p:nvPr/>
        </p:nvSpPr>
        <p:spPr>
          <a:xfrm>
            <a:off x="411480" y="2606040"/>
            <a:ext cx="5943600" cy="36576"/>
          </a:xfrm>
          <a:prstGeom prst="rect">
            <a:avLst/>
          </a:prstGeom>
          <a:solidFill>
            <a:srgbClr val="0D9488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8" name="Text 6"/>
          <p:cNvSpPr/>
          <p:nvPr/>
        </p:nvSpPr>
        <p:spPr>
          <a:xfrm>
            <a:off x="411480" y="2743200"/>
            <a:ext cx="6858000" cy="10149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Badanie, jak ważność danych (wyznaczona przez VoG) wpływa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 efektywność i wyniki treningu modeli o </a:t>
            </a:r>
            <a:r>
              <a:rPr lang="en-US" sz="1300" dirty="0" err="1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różnych</a:t>
            </a: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00" dirty="0" err="1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architekturach</a:t>
            </a:r>
            <a:br>
              <a:rPr lang="pl-PL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</a:br>
            <a:br>
              <a:rPr lang="pl-PL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</a:br>
            <a:r>
              <a:rPr lang="pl-PL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Cezary Polkowski, Karol Socha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11480" y="384048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</a:rPr>
              <a:t>Na podstawie: </a:t>
            </a:r>
            <a:r>
              <a:rPr lang="en-US" sz="1000" i="1" dirty="0">
                <a:solidFill>
                  <a:srgbClr val="5EEAD4"/>
                </a:solidFill>
              </a:rPr>
              <a:t>Agarwal et al., "Estimating Example Difficulty Using Variance of Gradients"</a:t>
            </a:r>
            <a:r>
              <a:rPr lang="en-US" sz="1000" dirty="0">
                <a:solidFill>
                  <a:srgbClr val="94A3B8"/>
                </a:solidFill>
              </a:rPr>
              <a:t>  (CVPR 2022)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11480" y="4343400"/>
            <a:ext cx="2651760" cy="411480"/>
          </a:xfrm>
          <a:prstGeom prst="roundRect">
            <a:avLst>
              <a:gd name="adj" fmla="val 17778"/>
            </a:avLst>
          </a:prstGeom>
          <a:solidFill>
            <a:srgbClr val="0D9488">
              <a:alpha val="25000"/>
            </a:srgbClr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11" name="Text 9"/>
          <p:cNvSpPr/>
          <p:nvPr/>
        </p:nvSpPr>
        <p:spPr>
          <a:xfrm>
            <a:off x="457200" y="4370832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Faza 1: Teoria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3291840" y="4343400"/>
            <a:ext cx="2651760" cy="411480"/>
          </a:xfrm>
          <a:prstGeom prst="roundRect">
            <a:avLst>
              <a:gd name="adj" fmla="val 17778"/>
            </a:avLst>
          </a:prstGeom>
          <a:solidFill>
            <a:srgbClr val="F59E0B">
              <a:alpha val="25000"/>
            </a:srgbClr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13" name="Text 11"/>
          <p:cNvSpPr/>
          <p:nvPr/>
        </p:nvSpPr>
        <p:spPr>
          <a:xfrm>
            <a:off x="3337560" y="4370832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Faza 2: ResNet50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6172200" y="4343400"/>
            <a:ext cx="2651760" cy="411480"/>
          </a:xfrm>
          <a:prstGeom prst="roundRect">
            <a:avLst>
              <a:gd name="adj" fmla="val 17778"/>
            </a:avLst>
          </a:prstGeom>
          <a:solidFill>
            <a:srgbClr val="22C55E">
              <a:alpha val="25000"/>
            </a:srgbClr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15" name="Text 13"/>
          <p:cNvSpPr/>
          <p:nvPr/>
        </p:nvSpPr>
        <p:spPr>
          <a:xfrm>
            <a:off x="6217920" y="4370832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Faza 3: Między-architekturowe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E3A5F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3" name="Text 1"/>
          <p:cNvSpPr/>
          <p:nvPr/>
        </p:nvSpPr>
        <p:spPr>
          <a:xfrm>
            <a:off x="320040" y="137160"/>
            <a:ext cx="8503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Prezentacji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20040" y="1143000"/>
            <a:ext cx="850392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pl-PL"/>
          </a:p>
        </p:txBody>
      </p:sp>
      <p:sp>
        <p:nvSpPr>
          <p:cNvPr id="5" name="Shape 3"/>
          <p:cNvSpPr/>
          <p:nvPr/>
        </p:nvSpPr>
        <p:spPr>
          <a:xfrm>
            <a:off x="320040" y="1143000"/>
            <a:ext cx="256032" cy="658368"/>
          </a:xfrm>
          <a:prstGeom prst="rect">
            <a:avLst/>
          </a:prstGeom>
          <a:solidFill>
            <a:srgbClr val="0D9488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6" name="Text 4"/>
          <p:cNvSpPr/>
          <p:nvPr/>
        </p:nvSpPr>
        <p:spPr>
          <a:xfrm>
            <a:off x="338328" y="1252728"/>
            <a:ext cx="21945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01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85800" y="11887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F172A"/>
                </a:solidFill>
              </a:rPr>
              <a:t>Motywacja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685800" y="1481328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</a:rPr>
              <a:t>Dlaczego trudność przykładów treningowych ma znaczenie?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20040" y="1911096"/>
            <a:ext cx="850392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pl-PL"/>
          </a:p>
        </p:txBody>
      </p:sp>
      <p:sp>
        <p:nvSpPr>
          <p:cNvPr id="10" name="Shape 8"/>
          <p:cNvSpPr/>
          <p:nvPr/>
        </p:nvSpPr>
        <p:spPr>
          <a:xfrm>
            <a:off x="320040" y="1911096"/>
            <a:ext cx="256032" cy="658368"/>
          </a:xfrm>
          <a:prstGeom prst="rect">
            <a:avLst/>
          </a:prstGeom>
          <a:solidFill>
            <a:srgbClr val="1E3A5F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11" name="Text 9"/>
          <p:cNvSpPr/>
          <p:nvPr/>
        </p:nvSpPr>
        <p:spPr>
          <a:xfrm>
            <a:off x="338328" y="2020824"/>
            <a:ext cx="21945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02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85800" y="1956816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F172A"/>
                </a:solidFill>
              </a:rPr>
              <a:t>Metryka VoG — Teoria (Faza 1)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685800" y="2249424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</a:rPr>
              <a:t>Podstawy matematyczne i analiza oryginalnego artykułu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320040" y="2679192"/>
            <a:ext cx="850392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pl-PL"/>
          </a:p>
        </p:txBody>
      </p:sp>
      <p:sp>
        <p:nvSpPr>
          <p:cNvPr id="15" name="Shape 13"/>
          <p:cNvSpPr/>
          <p:nvPr/>
        </p:nvSpPr>
        <p:spPr>
          <a:xfrm>
            <a:off x="320040" y="2679192"/>
            <a:ext cx="256032" cy="658368"/>
          </a:xfrm>
          <a:prstGeom prst="rect">
            <a:avLst/>
          </a:prstGeom>
          <a:solidFill>
            <a:srgbClr val="F59E0B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16" name="Text 14"/>
          <p:cNvSpPr/>
          <p:nvPr/>
        </p:nvSpPr>
        <p:spPr>
          <a:xfrm>
            <a:off x="338328" y="2788920"/>
            <a:ext cx="21945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03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85800" y="272491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F172A"/>
                </a:solidFill>
              </a:rPr>
              <a:t>Faza 2: ResNet50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685800" y="3017520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</a:rPr>
              <a:t>Wyznaczanie VoG i eksperymenty z podzbiorami danych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320040" y="3447288"/>
            <a:ext cx="850392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pl-PL"/>
          </a:p>
        </p:txBody>
      </p:sp>
      <p:sp>
        <p:nvSpPr>
          <p:cNvPr id="20" name="Shape 18"/>
          <p:cNvSpPr/>
          <p:nvPr/>
        </p:nvSpPr>
        <p:spPr>
          <a:xfrm>
            <a:off x="320040" y="3447288"/>
            <a:ext cx="256032" cy="658368"/>
          </a:xfrm>
          <a:prstGeom prst="rect">
            <a:avLst/>
          </a:prstGeom>
          <a:solidFill>
            <a:srgbClr val="22C55E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21" name="Text 19"/>
          <p:cNvSpPr/>
          <p:nvPr/>
        </p:nvSpPr>
        <p:spPr>
          <a:xfrm>
            <a:off x="338328" y="3557016"/>
            <a:ext cx="21945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04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85800" y="349300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F172A"/>
                </a:solidFill>
              </a:rPr>
              <a:t>Faza 3: Porównanie Architektur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685800" y="3785616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</a:rPr>
              <a:t>ConvNeXt-Base i transfer rankingów VoG między architekturami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320040" y="4215384"/>
            <a:ext cx="850392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pl-PL"/>
          </a:p>
        </p:txBody>
      </p:sp>
      <p:sp>
        <p:nvSpPr>
          <p:cNvPr id="25" name="Shape 23"/>
          <p:cNvSpPr/>
          <p:nvPr/>
        </p:nvSpPr>
        <p:spPr>
          <a:xfrm>
            <a:off x="320040" y="4215384"/>
            <a:ext cx="256032" cy="658368"/>
          </a:xfrm>
          <a:prstGeom prst="rect">
            <a:avLst/>
          </a:prstGeom>
          <a:solidFill>
            <a:srgbClr val="475569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26" name="Text 24"/>
          <p:cNvSpPr/>
          <p:nvPr/>
        </p:nvSpPr>
        <p:spPr>
          <a:xfrm>
            <a:off x="338328" y="4325112"/>
            <a:ext cx="21945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05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85800" y="4261104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F172A"/>
                </a:solidFill>
              </a:rPr>
              <a:t>Wyniki i Wnioski</a:t>
            </a:r>
            <a:endParaRPr lang="en-US" sz="1350" dirty="0"/>
          </a:p>
        </p:txBody>
      </p:sp>
      <p:sp>
        <p:nvSpPr>
          <p:cNvPr id="28" name="Text 26"/>
          <p:cNvSpPr/>
          <p:nvPr/>
        </p:nvSpPr>
        <p:spPr>
          <a:xfrm>
            <a:off x="685800" y="4553712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</a:rPr>
              <a:t>Kluczowe obserwacje, efektywność danych, pytania otwarte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E3A5F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3" name="Text 1"/>
          <p:cNvSpPr/>
          <p:nvPr/>
        </p:nvSpPr>
        <p:spPr>
          <a:xfrm>
            <a:off x="320040" y="137160"/>
            <a:ext cx="8503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Motywacja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20040" y="640080"/>
            <a:ext cx="8503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 co rankingować dane treningowe?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20040" y="1097280"/>
            <a:ext cx="8503920" cy="822960"/>
          </a:xfrm>
          <a:prstGeom prst="rect">
            <a:avLst/>
          </a:prstGeom>
          <a:solidFill>
            <a:srgbClr val="1E3A5F"/>
          </a:solidFill>
          <a:ln w="12700">
            <a:solidFill>
              <a:srgbClr val="CCCCCC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pl-PL"/>
          </a:p>
        </p:txBody>
      </p:sp>
      <p:sp>
        <p:nvSpPr>
          <p:cNvPr id="6" name="Text 4"/>
          <p:cNvSpPr/>
          <p:nvPr/>
        </p:nvSpPr>
        <p:spPr>
          <a:xfrm>
            <a:off x="411480" y="1188720"/>
            <a:ext cx="8321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Które przykłady treningowe są naprawdę ważne dla nauki modelu?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320040" y="2057400"/>
            <a:ext cx="2697480" cy="2240280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pl-PL"/>
          </a:p>
        </p:txBody>
      </p:sp>
      <p:sp>
        <p:nvSpPr>
          <p:cNvPr id="8" name="Text 6"/>
          <p:cNvSpPr/>
          <p:nvPr/>
        </p:nvSpPr>
        <p:spPr>
          <a:xfrm>
            <a:off x="320040" y="2103120"/>
            <a:ext cx="2697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⚠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429768" y="2670048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3A5F"/>
                </a:solidFill>
              </a:rPr>
              <a:t>Wąskie gardło audytu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29768" y="3054096"/>
            <a:ext cx="24688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475569"/>
                </a:solidFill>
              </a:rPr>
              <a:t>Nowoczesne zbiory danych są ogromne. Przejrzenie wszystkich próbek jest niemożliwe bez wcześniejszego priorytetyzowania najtrudniejszych.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3200400" y="2057400"/>
            <a:ext cx="2697480" cy="2240280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pl-PL"/>
          </a:p>
        </p:txBody>
      </p:sp>
      <p:sp>
        <p:nvSpPr>
          <p:cNvPr id="12" name="Text 10"/>
          <p:cNvSpPr/>
          <p:nvPr/>
        </p:nvSpPr>
        <p:spPr>
          <a:xfrm>
            <a:off x="3200400" y="2103120"/>
            <a:ext cx="2697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⚡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3310128" y="2670048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3A5F"/>
                </a:solidFill>
              </a:rPr>
              <a:t>Nieefektywność treningu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310128" y="3054096"/>
            <a:ext cx="24688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475569"/>
                </a:solidFill>
              </a:rPr>
              <a:t>Nie wszystkie przykłady wnoszą tyle samo. Łatwe, redundantne próbki marnują czas obliczeniowy bez istotnego sygnału gradientu.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6080760" y="2057400"/>
            <a:ext cx="2697480" cy="2240280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pl-PL"/>
          </a:p>
        </p:txBody>
      </p:sp>
      <p:sp>
        <p:nvSpPr>
          <p:cNvPr id="16" name="Text 14"/>
          <p:cNvSpPr/>
          <p:nvPr/>
        </p:nvSpPr>
        <p:spPr>
          <a:xfrm>
            <a:off x="6080760" y="2103120"/>
            <a:ext cx="2697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🎯</a:t>
            </a:r>
            <a:endParaRPr lang="en-US" sz="2600" dirty="0"/>
          </a:p>
        </p:txBody>
      </p:sp>
      <p:sp>
        <p:nvSpPr>
          <p:cNvPr id="17" name="Text 15"/>
          <p:cNvSpPr/>
          <p:nvPr/>
        </p:nvSpPr>
        <p:spPr>
          <a:xfrm>
            <a:off x="6190488" y="2670048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3A5F"/>
                </a:solidFill>
              </a:rPr>
              <a:t>Niezawodność modelu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190488" y="3054096"/>
            <a:ext cx="24688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475569"/>
                </a:solidFill>
              </a:rPr>
              <a:t>Identyfikacja zapamiętanych lub przykładów spoza rozkładu (OoD) jest kluczowa dla bezpiecznego wdrożenia w obszarach high-stakes.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320040" y="4434840"/>
            <a:ext cx="8503920" cy="502920"/>
          </a:xfrm>
          <a:prstGeom prst="rect">
            <a:avLst/>
          </a:prstGeom>
          <a:solidFill>
            <a:srgbClr val="0D9488"/>
          </a:solidFill>
          <a:ln w="12700">
            <a:solidFill>
              <a:srgbClr val="CCCCCC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pl-PL"/>
          </a:p>
        </p:txBody>
      </p:sp>
      <p:sp>
        <p:nvSpPr>
          <p:cNvPr id="20" name="Text 18"/>
          <p:cNvSpPr/>
          <p:nvPr/>
        </p:nvSpPr>
        <p:spPr>
          <a:xfrm>
            <a:off x="411480" y="4462272"/>
            <a:ext cx="8321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Rozwiązanie: VoG — metryka oparta na gradientach, rankingująca próbki według trudności, bez potrzeby dodatkowych etykiet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E3A5F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3" name="Text 1"/>
          <p:cNvSpPr/>
          <p:nvPr/>
        </p:nvSpPr>
        <p:spPr>
          <a:xfrm>
            <a:off x="320040" y="137160"/>
            <a:ext cx="8503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Faza 1 — Czym jest VoG?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20040" y="640080"/>
            <a:ext cx="8503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Variance of Gradients (Wariancja Gradientów) · Agarwal et al., CVPR 2022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20040" y="1097280"/>
            <a:ext cx="3931920" cy="3520440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pl-PL"/>
          </a:p>
        </p:txBody>
      </p:sp>
      <p:sp>
        <p:nvSpPr>
          <p:cNvPr id="6" name="Text 4"/>
          <p:cNvSpPr/>
          <p:nvPr/>
        </p:nvSpPr>
        <p:spPr>
          <a:xfrm>
            <a:off x="457200" y="1170432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3A5F"/>
                </a:solidFill>
              </a:rPr>
              <a:t>Intuicja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1481328"/>
            <a:ext cx="3566160" cy="27432"/>
          </a:xfrm>
          <a:prstGeom prst="rect">
            <a:avLst/>
          </a:prstGeom>
          <a:solidFill>
            <a:srgbClr val="0D9488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8" name="Text 6"/>
          <p:cNvSpPr/>
          <p:nvPr/>
        </p:nvSpPr>
        <p:spPr>
          <a:xfrm>
            <a:off x="457200" y="160020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E3A5F"/>
                </a:solidFill>
              </a:rPr>
              <a:t>🔵 Łatwy przykład  </a:t>
            </a:r>
            <a:r>
              <a:rPr lang="en-US" sz="1050" dirty="0">
                <a:solidFill>
                  <a:srgbClr val="475569"/>
                </a:solidFill>
              </a:rPr>
              <a:t>Gradienty szybko się stabilizują — NISKA wariancja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457200" y="2221992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E3A5F"/>
                </a:solidFill>
              </a:rPr>
              <a:t>🔴 Trudny przykład  </a:t>
            </a:r>
            <a:r>
              <a:rPr lang="en-US" sz="1050" dirty="0">
                <a:solidFill>
                  <a:srgbClr val="475569"/>
                </a:solidFill>
              </a:rPr>
              <a:t>Gradienty ciągle się zmieniają — WYSOKA wariancja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457200" y="2843784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E3A5F"/>
                </a:solidFill>
              </a:rPr>
              <a:t>📊 Wynik VoG  </a:t>
            </a:r>
            <a:r>
              <a:rPr lang="en-US" sz="1050" dirty="0">
                <a:solidFill>
                  <a:srgbClr val="475569"/>
                </a:solidFill>
              </a:rPr>
              <a:t>Średnie odch. stand. gradientów per-piksel przez checkpointy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457200" y="3465576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E3A5F"/>
                </a:solidFill>
              </a:rPr>
              <a:t>🏷  Bez etykiet  </a:t>
            </a:r>
            <a:r>
              <a:rPr lang="en-US" sz="1050" dirty="0">
                <a:solidFill>
                  <a:srgbClr val="475569"/>
                </a:solidFill>
              </a:rPr>
              <a:t>Można użyć przewidywanej etykiety → ranking nienadzorowany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434840" y="1097280"/>
            <a:ext cx="4389120" cy="3520440"/>
          </a:xfrm>
          <a:prstGeom prst="rect">
            <a:avLst/>
          </a:prstGeom>
          <a:solidFill>
            <a:srgbClr val="0F172A"/>
          </a:solidFill>
          <a:ln w="12700">
            <a:solidFill>
              <a:srgbClr val="CCCCCC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pl-PL"/>
          </a:p>
        </p:txBody>
      </p:sp>
      <p:sp>
        <p:nvSpPr>
          <p:cNvPr id="13" name="Text 11"/>
          <p:cNvSpPr/>
          <p:nvPr/>
        </p:nvSpPr>
        <p:spPr>
          <a:xfrm>
            <a:off x="4572000" y="1170432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4B8A6"/>
                </a:solidFill>
              </a:rPr>
              <a:t>Wzory Matematyczne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572000" y="1572768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</a:rPr>
              <a:t>Macierz gradientu (per checkpoint t):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572000" y="1773936"/>
            <a:ext cx="4114800" cy="320040"/>
          </a:xfrm>
          <a:prstGeom prst="rect">
            <a:avLst/>
          </a:prstGeom>
          <a:solidFill>
            <a:srgbClr val="1E293B"/>
          </a:solidFill>
          <a:ln w="12700">
            <a:solidFill>
              <a:srgbClr val="CCCCCC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pl-PL"/>
          </a:p>
        </p:txBody>
      </p:sp>
      <p:sp>
        <p:nvSpPr>
          <p:cNvPr id="16" name="Text 14"/>
          <p:cNvSpPr/>
          <p:nvPr/>
        </p:nvSpPr>
        <p:spPr>
          <a:xfrm>
            <a:off x="4663440" y="1792224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 = ∂A_p^l / ∂x_i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4572000" y="2194560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</a:rPr>
              <a:t>Srednia po K checkpointach: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4572000" y="2395728"/>
            <a:ext cx="4114800" cy="320040"/>
          </a:xfrm>
          <a:prstGeom prst="rect">
            <a:avLst/>
          </a:prstGeom>
          <a:solidFill>
            <a:srgbClr val="1E293B"/>
          </a:solidFill>
          <a:ln w="12700">
            <a:solidFill>
              <a:srgbClr val="CCCCCC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pl-PL"/>
          </a:p>
        </p:txBody>
      </p:sp>
      <p:sp>
        <p:nvSpPr>
          <p:cNvPr id="19" name="Text 17"/>
          <p:cNvSpPr/>
          <p:nvPr/>
        </p:nvSpPr>
        <p:spPr>
          <a:xfrm>
            <a:off x="4663440" y="2414016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μ = (1/K) Σ_t S_t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4572000" y="2816352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</a:rPr>
              <a:t>VoG per piksel: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4572000" y="3017520"/>
            <a:ext cx="4114800" cy="320040"/>
          </a:xfrm>
          <a:prstGeom prst="rect">
            <a:avLst/>
          </a:prstGeom>
          <a:solidFill>
            <a:srgbClr val="1E293B"/>
          </a:solidFill>
          <a:ln w="12700">
            <a:solidFill>
              <a:srgbClr val="CCCCCC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pl-PL"/>
          </a:p>
        </p:txBody>
      </p:sp>
      <p:sp>
        <p:nvSpPr>
          <p:cNvPr id="22" name="Text 20"/>
          <p:cNvSpPr/>
          <p:nvPr/>
        </p:nvSpPr>
        <p:spPr>
          <a:xfrm>
            <a:off x="4663440" y="3035808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VoGₚ = √( (1/K) Σ_t (Sₜ − μ)² )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4572000" y="3438144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</a:rPr>
              <a:t>Wynik skalarny (srednia po pikselach):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4572000" y="3639312"/>
            <a:ext cx="4114800" cy="320040"/>
          </a:xfrm>
          <a:prstGeom prst="rect">
            <a:avLst/>
          </a:prstGeom>
          <a:solidFill>
            <a:srgbClr val="1E293B"/>
          </a:solidFill>
          <a:ln w="12700">
            <a:solidFill>
              <a:srgbClr val="CCCCCC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pl-PL"/>
          </a:p>
        </p:txBody>
      </p:sp>
      <p:sp>
        <p:nvSpPr>
          <p:cNvPr id="25" name="Text 23"/>
          <p:cNvSpPr/>
          <p:nvPr/>
        </p:nvSpPr>
        <p:spPr>
          <a:xfrm>
            <a:off x="4663440" y="365760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VoG = (1/N) Σₚ VoGₚ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4572000" y="4059936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</a:rPr>
              <a:t>Normalizacja wzgledem klasy: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4572000" y="4261104"/>
            <a:ext cx="4114800" cy="320040"/>
          </a:xfrm>
          <a:prstGeom prst="rect">
            <a:avLst/>
          </a:prstGeom>
          <a:solidFill>
            <a:srgbClr val="1E293B"/>
          </a:solidFill>
          <a:ln w="12700">
            <a:solidFill>
              <a:srgbClr val="CCCCCC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pl-PL"/>
          </a:p>
        </p:txBody>
      </p:sp>
      <p:sp>
        <p:nvSpPr>
          <p:cNvPr id="28" name="Text 26"/>
          <p:cNvSpPr/>
          <p:nvPr/>
        </p:nvSpPr>
        <p:spPr>
          <a:xfrm>
            <a:off x="4663440" y="4279392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VoG* = (VoG − μ_klasy) / σ_klasy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320040" y="4709160"/>
            <a:ext cx="8503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475569"/>
                </a:solidFill>
              </a:rPr>
              <a:t>💡  </a:t>
            </a:r>
            <a:r>
              <a:rPr lang="pl-PL" sz="1000" i="1" dirty="0">
                <a:solidFill>
                  <a:srgbClr val="475569"/>
                </a:solidFill>
              </a:rPr>
              <a:t>Według artykułu </a:t>
            </a:r>
            <a:r>
              <a:rPr lang="en-US" sz="1000" i="1" dirty="0" err="1">
                <a:solidFill>
                  <a:srgbClr val="475569"/>
                </a:solidFill>
              </a:rPr>
              <a:t>VoG</a:t>
            </a:r>
            <a:r>
              <a:rPr lang="en-US" sz="1000" i="1" dirty="0">
                <a:solidFill>
                  <a:srgbClr val="475569"/>
                </a:solidFill>
              </a:rPr>
              <a:t> jest niezależny od modelu i dziedziny — wymaga jedynie standardowych gradientów wstecznych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E3A5F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3" name="Text 1"/>
          <p:cNvSpPr/>
          <p:nvPr/>
        </p:nvSpPr>
        <p:spPr>
          <a:xfrm>
            <a:off x="320040" y="137160"/>
            <a:ext cx="8503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Faza 1 — Kluczowe Właściwości VoG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20040" y="640080"/>
            <a:ext cx="8503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 podstawie analizy teoretycznej i oryginalnego artykułu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20040" y="1143000"/>
            <a:ext cx="411480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pl-PL"/>
          </a:p>
        </p:txBody>
      </p:sp>
      <p:sp>
        <p:nvSpPr>
          <p:cNvPr id="6" name="Shape 4"/>
          <p:cNvSpPr/>
          <p:nvPr/>
        </p:nvSpPr>
        <p:spPr>
          <a:xfrm>
            <a:off x="320040" y="1143000"/>
            <a:ext cx="201168" cy="1097280"/>
          </a:xfrm>
          <a:prstGeom prst="rect">
            <a:avLst/>
          </a:prstGeom>
          <a:solidFill>
            <a:srgbClr val="0D9488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7" name="Text 5"/>
          <p:cNvSpPr/>
          <p:nvPr/>
        </p:nvSpPr>
        <p:spPr>
          <a:xfrm>
            <a:off x="612648" y="1197864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F172A"/>
                </a:solidFill>
              </a:rPr>
              <a:t>📉  Trudność ↔ korelacja z błędem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612648" y="1527048"/>
            <a:ext cx="37490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</a:rPr>
              <a:t>Przykłady z wysokim VoG mają wyższe wskaźniki błędnej klasyfikacji. Efekt silniejszy na złożonych zbiorach (CIFAR-100, ImageNet).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4663440" y="1143000"/>
            <a:ext cx="411480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pl-PL"/>
          </a:p>
        </p:txBody>
      </p:sp>
      <p:sp>
        <p:nvSpPr>
          <p:cNvPr id="10" name="Shape 8"/>
          <p:cNvSpPr/>
          <p:nvPr/>
        </p:nvSpPr>
        <p:spPr>
          <a:xfrm>
            <a:off x="4663440" y="1143000"/>
            <a:ext cx="201168" cy="1097280"/>
          </a:xfrm>
          <a:prstGeom prst="rect">
            <a:avLst/>
          </a:prstGeom>
          <a:solidFill>
            <a:srgbClr val="1E3A5F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11" name="Text 9"/>
          <p:cNvSpPr/>
          <p:nvPr/>
        </p:nvSpPr>
        <p:spPr>
          <a:xfrm>
            <a:off x="4956048" y="1197864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F172A"/>
                </a:solidFill>
              </a:rPr>
              <a:t>🔄  Flip zachowania wg etapu treningu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4956048" y="1527048"/>
            <a:ext cx="37490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</a:rPr>
              <a:t>Wczesny trening: wysokie VoG → niski błąd (łatwe przykłady dominują gradienty). Późny trening: odwrotnie. Role się zamieniają.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320040" y="2423160"/>
            <a:ext cx="411480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pl-PL"/>
          </a:p>
        </p:txBody>
      </p:sp>
      <p:sp>
        <p:nvSpPr>
          <p:cNvPr id="14" name="Shape 12"/>
          <p:cNvSpPr/>
          <p:nvPr/>
        </p:nvSpPr>
        <p:spPr>
          <a:xfrm>
            <a:off x="320040" y="2423160"/>
            <a:ext cx="201168" cy="1097280"/>
          </a:xfrm>
          <a:prstGeom prst="rect">
            <a:avLst/>
          </a:prstGeom>
          <a:solidFill>
            <a:srgbClr val="F59E0B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15" name="Text 13"/>
          <p:cNvSpPr/>
          <p:nvPr/>
        </p:nvSpPr>
        <p:spPr>
          <a:xfrm>
            <a:off x="612648" y="2478024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F172A"/>
                </a:solidFill>
              </a:rPr>
              <a:t>🧠  Wykrywanie zapamiętanych próbek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612648" y="2807208"/>
            <a:ext cx="37490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</a:rPr>
              <a:t>Przykłady z losowymi etykietami mają istotnie wyższe VoG (p &lt; 0,001 dla CIFAR-10 i CIFAR-100). VoG jako narzędzie forensyczne.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4663440" y="2423160"/>
            <a:ext cx="411480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pl-PL"/>
          </a:p>
        </p:txBody>
      </p:sp>
      <p:sp>
        <p:nvSpPr>
          <p:cNvPr id="18" name="Shape 16"/>
          <p:cNvSpPr/>
          <p:nvPr/>
        </p:nvSpPr>
        <p:spPr>
          <a:xfrm>
            <a:off x="4663440" y="2423160"/>
            <a:ext cx="201168" cy="1097280"/>
          </a:xfrm>
          <a:prstGeom prst="rect">
            <a:avLst/>
          </a:prstGeom>
          <a:solidFill>
            <a:srgbClr val="22C55E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19" name="Text 17"/>
          <p:cNvSpPr/>
          <p:nvPr/>
        </p:nvSpPr>
        <p:spPr>
          <a:xfrm>
            <a:off x="4956048" y="2478024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F172A"/>
                </a:solidFill>
              </a:rPr>
              <a:t>🌐  Wykrywanie OoD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4956048" y="2807208"/>
            <a:ext cx="37490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</a:rPr>
              <a:t>VoG pokonuje 7 z 9 metod bazowych na MNIST-C. AUROC 85,4% wobec 57–80% dla KDE/SVDD/PCA. Przegrywa tylko z AE i AEGAN.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320040" y="3703320"/>
            <a:ext cx="411480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pl-PL"/>
          </a:p>
        </p:txBody>
      </p:sp>
      <p:sp>
        <p:nvSpPr>
          <p:cNvPr id="22" name="Shape 20"/>
          <p:cNvSpPr/>
          <p:nvPr/>
        </p:nvSpPr>
        <p:spPr>
          <a:xfrm>
            <a:off x="320040" y="3703320"/>
            <a:ext cx="201168" cy="1097280"/>
          </a:xfrm>
          <a:prstGeom prst="rect">
            <a:avLst/>
          </a:prstGeom>
          <a:solidFill>
            <a:srgbClr val="475569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23" name="Text 21"/>
          <p:cNvSpPr/>
          <p:nvPr/>
        </p:nvSpPr>
        <p:spPr>
          <a:xfrm>
            <a:off x="612648" y="3758184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F172A"/>
                </a:solidFill>
              </a:rPr>
              <a:t>📐  Struktura semantyczna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612648" y="4087368"/>
            <a:ext cx="37490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</a:rPr>
              <a:t>Niskie VoG: czyste tła, wycentrowany obiekt, typowe ujęcia. Wysokie VoG: zagracone tła, nietypowe kąty, przesłonięcia.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4663440" y="3703320"/>
            <a:ext cx="411480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pl-PL"/>
          </a:p>
        </p:txBody>
      </p:sp>
      <p:sp>
        <p:nvSpPr>
          <p:cNvPr id="26" name="Shape 24"/>
          <p:cNvSpPr/>
          <p:nvPr/>
        </p:nvSpPr>
        <p:spPr>
          <a:xfrm>
            <a:off x="4663440" y="3703320"/>
            <a:ext cx="201168" cy="1097280"/>
          </a:xfrm>
          <a:prstGeom prst="rect">
            <a:avLst/>
          </a:prstGeom>
          <a:solidFill>
            <a:srgbClr val="EF4444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27" name="Text 25"/>
          <p:cNvSpPr/>
          <p:nvPr/>
        </p:nvSpPr>
        <p:spPr>
          <a:xfrm>
            <a:off x="4956048" y="3758184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F172A"/>
                </a:solidFill>
              </a:rPr>
              <a:t>⚙  Stabilność rankingu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4956048" y="4087368"/>
            <a:ext cx="37490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</a:rPr>
              <a:t>Średnie odch. stand. VoG = 3,81e-9 przy 10 niezależnych inicjalizacjach (CIFAR-10). Odporność na różne rozmiary batcha.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E3A5F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3" name="Text 1"/>
          <p:cNvSpPr/>
          <p:nvPr/>
        </p:nvSpPr>
        <p:spPr>
          <a:xfrm>
            <a:off x="320040" y="137160"/>
            <a:ext cx="8503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Faza 2 — Konfiguracja Eksperymentów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20040" y="640080"/>
            <a:ext cx="8503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VoG zastosowany do ResNet50 na zbiorze Imagenette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20040" y="1097280"/>
            <a:ext cx="4114800" cy="3611880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pl-PL"/>
          </a:p>
        </p:txBody>
      </p:sp>
      <p:sp>
        <p:nvSpPr>
          <p:cNvPr id="6" name="Text 4"/>
          <p:cNvSpPr/>
          <p:nvPr/>
        </p:nvSpPr>
        <p:spPr>
          <a:xfrm>
            <a:off x="457200" y="1170432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3A5F"/>
                </a:solidFill>
              </a:rPr>
              <a:t>Konfiguracja eksperymentu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57200" y="1481328"/>
            <a:ext cx="3566160" cy="27432"/>
          </a:xfrm>
          <a:prstGeom prst="rect">
            <a:avLst/>
          </a:prstGeom>
          <a:solidFill>
            <a:srgbClr val="F59E0B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8" name="Text 6"/>
          <p:cNvSpPr/>
          <p:nvPr/>
        </p:nvSpPr>
        <p:spPr>
          <a:xfrm>
            <a:off x="457200" y="1600200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475569"/>
                </a:solidFill>
              </a:rPr>
              <a:t>Zbiór danych: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1828800" y="1600200"/>
            <a:ext cx="2423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F172A"/>
                </a:solidFill>
              </a:rPr>
              <a:t>Imagenette (frgfm/imagenette) — 10 klas, 9 469 train / 3 925 val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457200" y="2112264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475569"/>
                </a:solidFill>
              </a:rPr>
              <a:t>Model: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1828800" y="2112264"/>
            <a:ext cx="2423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F172A"/>
                </a:solidFill>
              </a:rPr>
              <a:t>ResNet50 (wagi IMAGENET1K_V2, pretrenowany)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457200" y="2624328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475569"/>
                </a:solidFill>
              </a:rPr>
              <a:t>Epoki VoG: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1828800" y="2624328"/>
            <a:ext cx="2423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F172A"/>
                </a:solidFill>
              </a:rPr>
              <a:t>5 epok treningowych, 5 checkpointów, pula gradientów 32×32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457200" y="3136392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475569"/>
                </a:solidFill>
              </a:rPr>
              <a:t>Tryby treningu: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1828800" y="3136392"/>
            <a:ext cx="2423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F172A"/>
                </a:solidFill>
              </a:rPr>
              <a:t>Linear Probe (zamrożony) i Fine-Tuning (pełna sieć)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457200" y="3648456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475569"/>
                </a:solidFill>
              </a:rPr>
              <a:t>Podzbiory: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1828800" y="3648456"/>
            <a:ext cx="2423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F172A"/>
                </a:solidFill>
              </a:rPr>
              <a:t>Górne/dolne 30% wg VoG → ~2 840 próbek każdy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" y="4160520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475569"/>
                </a:solidFill>
              </a:rPr>
              <a:t>Epoki treningu: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1828800" y="4160520"/>
            <a:ext cx="2423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F172A"/>
                </a:solidFill>
              </a:rPr>
              <a:t>10 epok na eksperyment, AMP włączone, pojedyncze GPU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4572000" y="1097280"/>
            <a:ext cx="4251960" cy="3611880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pl-PL"/>
          </a:p>
        </p:txBody>
      </p:sp>
      <p:sp>
        <p:nvSpPr>
          <p:cNvPr id="21" name="Text 19"/>
          <p:cNvSpPr/>
          <p:nvPr/>
        </p:nvSpPr>
        <p:spPr>
          <a:xfrm>
            <a:off x="4709160" y="1170432"/>
            <a:ext cx="3977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3A5F"/>
                </a:solidFill>
              </a:rPr>
              <a:t>Cele eksperymentu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709160" y="1481328"/>
            <a:ext cx="3703320" cy="27432"/>
          </a:xfrm>
          <a:prstGeom prst="rect">
            <a:avLst/>
          </a:prstGeom>
          <a:solidFill>
            <a:srgbClr val="0D9488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23" name="Shape 21"/>
          <p:cNvSpPr/>
          <p:nvPr/>
        </p:nvSpPr>
        <p:spPr>
          <a:xfrm>
            <a:off x="4663440" y="1600200"/>
            <a:ext cx="320040" cy="320040"/>
          </a:xfrm>
          <a:prstGeom prst="rect">
            <a:avLst/>
          </a:prstGeom>
          <a:solidFill>
            <a:srgbClr val="0D9488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24" name="Text 22"/>
          <p:cNvSpPr/>
          <p:nvPr/>
        </p:nvSpPr>
        <p:spPr>
          <a:xfrm>
            <a:off x="4663440" y="1636776"/>
            <a:ext cx="3200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1.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5074920" y="1600200"/>
            <a:ext cx="3611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F172A"/>
                </a:solidFill>
              </a:rPr>
              <a:t>Obliczenie wyników VoG dla wszystkich obrazów treningowych za pomocą ResNet50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4663440" y="2240280"/>
            <a:ext cx="320040" cy="320040"/>
          </a:xfrm>
          <a:prstGeom prst="rect">
            <a:avLst/>
          </a:prstGeom>
          <a:solidFill>
            <a:srgbClr val="0D9488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27" name="Text 25"/>
          <p:cNvSpPr/>
          <p:nvPr/>
        </p:nvSpPr>
        <p:spPr>
          <a:xfrm>
            <a:off x="4663440" y="2276856"/>
            <a:ext cx="3200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2.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5074920" y="2240280"/>
            <a:ext cx="3611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F172A"/>
                </a:solidFill>
              </a:rPr>
              <a:t>Identyfikacja podzbiorów High-VoG (trudne) i Low-VoG (łatwe)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4663440" y="2880360"/>
            <a:ext cx="320040" cy="320040"/>
          </a:xfrm>
          <a:prstGeom prst="rect">
            <a:avLst/>
          </a:prstGeom>
          <a:solidFill>
            <a:srgbClr val="0D9488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30" name="Text 28"/>
          <p:cNvSpPr/>
          <p:nvPr/>
        </p:nvSpPr>
        <p:spPr>
          <a:xfrm>
            <a:off x="4663440" y="2916936"/>
            <a:ext cx="3200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3.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5074920" y="2880360"/>
            <a:ext cx="3611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F172A"/>
                </a:solidFill>
              </a:rPr>
              <a:t>Trening na każdym podzbiorze i porównanie z pełnym zbiorem danych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4663440" y="3520440"/>
            <a:ext cx="320040" cy="320040"/>
          </a:xfrm>
          <a:prstGeom prst="rect">
            <a:avLst/>
          </a:prstGeom>
          <a:solidFill>
            <a:srgbClr val="0D9488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33" name="Text 31"/>
          <p:cNvSpPr/>
          <p:nvPr/>
        </p:nvSpPr>
        <p:spPr>
          <a:xfrm>
            <a:off x="4663440" y="3557016"/>
            <a:ext cx="3200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4.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5074920" y="3520440"/>
            <a:ext cx="3611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F172A"/>
                </a:solidFill>
              </a:rPr>
              <a:t>Analiza decylowa: czy błąd rośnie monotonicznie z percentylem VoG?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4663440" y="4160520"/>
            <a:ext cx="320040" cy="320040"/>
          </a:xfrm>
          <a:prstGeom prst="rect">
            <a:avLst/>
          </a:prstGeom>
          <a:solidFill>
            <a:srgbClr val="0D9488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36" name="Text 34"/>
          <p:cNvSpPr/>
          <p:nvPr/>
        </p:nvSpPr>
        <p:spPr>
          <a:xfrm>
            <a:off x="4663440" y="4197096"/>
            <a:ext cx="3200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5.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5074920" y="4160520"/>
            <a:ext cx="3611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F172A"/>
                </a:solidFill>
              </a:rPr>
              <a:t>Kumulatywne przycinanie: jak agresywnie można usuwać łatwe próbki?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320040" y="4754880"/>
            <a:ext cx="8503920" cy="256032"/>
          </a:xfrm>
          <a:prstGeom prst="rect">
            <a:avLst/>
          </a:prstGeom>
          <a:solidFill>
            <a:srgbClr val="FEF3C7"/>
          </a:solidFill>
          <a:ln w="12700">
            <a:solidFill>
              <a:srgbClr val="CCCCCC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pl-PL"/>
          </a:p>
        </p:txBody>
      </p:sp>
      <p:sp>
        <p:nvSpPr>
          <p:cNvPr id="39" name="Text 37"/>
          <p:cNvSpPr/>
          <p:nvPr/>
        </p:nvSpPr>
        <p:spPr>
          <a:xfrm>
            <a:off x="457200" y="4773168"/>
            <a:ext cx="8321040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F59E0B"/>
                </a:solidFill>
              </a:rPr>
              <a:t>⚡  Implementacja wierna oryginałowi Agarwal et al. CVPR 2022: tryb eval() podczas zbierania gradientów, cel = prawdopodobieństwo softmax prawdziwej klasy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E3A5F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3" name="Text 1"/>
          <p:cNvSpPr/>
          <p:nvPr/>
        </p:nvSpPr>
        <p:spPr>
          <a:xfrm>
            <a:off x="320040" y="137160"/>
            <a:ext cx="8503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Faza 2 — Wyniki: Dokładność Treningu na Podzbiorach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20040" y="640080"/>
            <a:ext cx="8503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ResNet50 na Imagenette — najlepsza dokładność na zbiorze walidacyjnym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20040" y="1097280"/>
            <a:ext cx="269748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pl-PL"/>
          </a:p>
        </p:txBody>
      </p:sp>
      <p:sp>
        <p:nvSpPr>
          <p:cNvPr id="6" name="Shape 4"/>
          <p:cNvSpPr/>
          <p:nvPr/>
        </p:nvSpPr>
        <p:spPr>
          <a:xfrm>
            <a:off x="320040" y="1097280"/>
            <a:ext cx="2697480" cy="73152"/>
          </a:xfrm>
          <a:prstGeom prst="rect">
            <a:avLst/>
          </a:prstGeom>
          <a:solidFill>
            <a:srgbClr val="0D9488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7" name="Text 5"/>
          <p:cNvSpPr/>
          <p:nvPr/>
        </p:nvSpPr>
        <p:spPr>
          <a:xfrm>
            <a:off x="411480" y="1234440"/>
            <a:ext cx="2514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D9488"/>
                </a:solidFill>
              </a:rPr>
              <a:t>High-VoG ≈ Pełny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11480" y="1581912"/>
            <a:ext cx="2514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475569"/>
                </a:solidFill>
              </a:rPr>
              <a:t>30% trudnych próbek dorównuje pełnemu zbiorowi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200400" y="1097280"/>
            <a:ext cx="269748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pl-PL"/>
          </a:p>
        </p:txBody>
      </p:sp>
      <p:sp>
        <p:nvSpPr>
          <p:cNvPr id="10" name="Shape 8"/>
          <p:cNvSpPr/>
          <p:nvPr/>
        </p:nvSpPr>
        <p:spPr>
          <a:xfrm>
            <a:off x="3200400" y="1097280"/>
            <a:ext cx="2697480" cy="73152"/>
          </a:xfrm>
          <a:prstGeom prst="rect">
            <a:avLst/>
          </a:prstGeom>
          <a:solidFill>
            <a:srgbClr val="F59E0B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11" name="Text 9"/>
          <p:cNvSpPr/>
          <p:nvPr/>
        </p:nvSpPr>
        <p:spPr>
          <a:xfrm>
            <a:off x="3291840" y="1234440"/>
            <a:ext cx="2514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59E0B"/>
                </a:solidFill>
              </a:rPr>
              <a:t>Low-VoG słabszy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291840" y="1581912"/>
            <a:ext cx="2514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475569"/>
                </a:solidFill>
              </a:rPr>
              <a:t>Najłatwiejsze 30% — redundantny sygnał gradientu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6080760" y="1097280"/>
            <a:ext cx="269748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pl-PL"/>
          </a:p>
        </p:txBody>
      </p:sp>
      <p:sp>
        <p:nvSpPr>
          <p:cNvPr id="14" name="Shape 12"/>
          <p:cNvSpPr/>
          <p:nvPr/>
        </p:nvSpPr>
        <p:spPr>
          <a:xfrm>
            <a:off x="6080760" y="1097280"/>
            <a:ext cx="2697480" cy="73152"/>
          </a:xfrm>
          <a:prstGeom prst="rect">
            <a:avLst/>
          </a:prstGeom>
          <a:solidFill>
            <a:srgbClr val="1E3A5F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15" name="Text 13"/>
          <p:cNvSpPr/>
          <p:nvPr/>
        </p:nvSpPr>
        <p:spPr>
          <a:xfrm>
            <a:off x="6172200" y="1234440"/>
            <a:ext cx="2514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3A5F"/>
                </a:solidFill>
              </a:rPr>
              <a:t>LP zyskuje więcej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172200" y="1581912"/>
            <a:ext cx="2514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475569"/>
                </a:solidFill>
              </a:rPr>
              <a:t>Zamrożony kręgosłup wzmacnia znaczenie jakości danych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320040" y="2194560"/>
            <a:ext cx="8503920" cy="2514600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pl-PL"/>
          </a:p>
        </p:txBody>
      </p:sp>
      <p:sp>
        <p:nvSpPr>
          <p:cNvPr id="18" name="Shape 16"/>
          <p:cNvSpPr/>
          <p:nvPr/>
        </p:nvSpPr>
        <p:spPr>
          <a:xfrm>
            <a:off x="320040" y="2194560"/>
            <a:ext cx="8503920" cy="73152"/>
          </a:xfrm>
          <a:prstGeom prst="rect">
            <a:avLst/>
          </a:prstGeom>
          <a:solidFill>
            <a:srgbClr val="F59E0B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19" name="Text 17"/>
          <p:cNvSpPr/>
          <p:nvPr/>
        </p:nvSpPr>
        <p:spPr>
          <a:xfrm>
            <a:off x="502920" y="2359152"/>
            <a:ext cx="8138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100" dirty="0"/>
          </a:p>
        </p:txBody>
      </p:sp>
      <p:pic>
        <p:nvPicPr>
          <p:cNvPr id="40" name="Obraz 39">
            <a:extLst>
              <a:ext uri="{FF2B5EF4-FFF2-40B4-BE49-F238E27FC236}">
                <a16:creationId xmlns:a16="http://schemas.microsoft.com/office/drawing/2014/main" id="{725A7434-D69D-A762-F91E-587AFA770A1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14203" y="2320616"/>
            <a:ext cx="5715593" cy="2271631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E3A5F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3" name="Text 1"/>
          <p:cNvSpPr/>
          <p:nvPr/>
        </p:nvSpPr>
        <p:spPr>
          <a:xfrm>
            <a:off x="320040" y="137160"/>
            <a:ext cx="8503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Faza 2 — Analiza Decylowa i Kumulatywna VoG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20040" y="640080"/>
            <a:ext cx="8503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Czy błąd rośnie monotonicznie z percentylem VoG?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20040" y="1097280"/>
            <a:ext cx="8503920" cy="3108960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pl-PL"/>
          </a:p>
        </p:txBody>
      </p:sp>
      <p:sp>
        <p:nvSpPr>
          <p:cNvPr id="6" name="Shape 4"/>
          <p:cNvSpPr/>
          <p:nvPr/>
        </p:nvSpPr>
        <p:spPr>
          <a:xfrm>
            <a:off x="320040" y="1097280"/>
            <a:ext cx="8503920" cy="73152"/>
          </a:xfrm>
          <a:prstGeom prst="rect">
            <a:avLst/>
          </a:prstGeom>
          <a:solidFill>
            <a:srgbClr val="0D9488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20" name="Text 18"/>
          <p:cNvSpPr/>
          <p:nvPr/>
        </p:nvSpPr>
        <p:spPr>
          <a:xfrm>
            <a:off x="411480" y="4297680"/>
            <a:ext cx="8321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F172A"/>
                </a:solidFill>
              </a:rPr>
              <a:t>✅  Błąd rośnie od ~5% (łatwe decyle) do ~14% (trudne) — VoG prawidłowo identyfikuje trudność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11480" y="4572000"/>
            <a:ext cx="8321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F172A"/>
                </a:solidFill>
              </a:rPr>
              <a:t>📌  Usunięcie dolnych 50% danych (najłatwiejszych) nie pogarsza istotnie dokładności — bezpieczna strefa przycinania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11480" y="4846320"/>
            <a:ext cx="8321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59E0B"/>
                </a:solidFill>
              </a:rPr>
              <a:t>⚠  Agresywne przycinanie do top 10% powoduje spadek dokładności — część łatwych próbek zakotwicza generalizację</a:t>
            </a:r>
            <a:endParaRPr lang="en-US" sz="1000" dirty="0"/>
          </a:p>
        </p:txBody>
      </p:sp>
      <p:pic>
        <p:nvPicPr>
          <p:cNvPr id="24" name="Obraz 23">
            <a:extLst>
              <a:ext uri="{FF2B5EF4-FFF2-40B4-BE49-F238E27FC236}">
                <a16:creationId xmlns:a16="http://schemas.microsoft.com/office/drawing/2014/main" id="{D996B0AF-54BC-A12A-483C-DF436163807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0322" y="1223034"/>
            <a:ext cx="7243355" cy="2697432"/>
          </a:xfrm>
          <a:prstGeom prst="rect">
            <a:avLst/>
          </a:prstGeom>
        </p:spPr>
      </p:pic>
      <p:sp>
        <p:nvSpPr>
          <p:cNvPr id="27" name="Text 17">
            <a:extLst>
              <a:ext uri="{FF2B5EF4-FFF2-40B4-BE49-F238E27FC236}">
                <a16:creationId xmlns:a16="http://schemas.microsoft.com/office/drawing/2014/main" id="{D9F0F19C-044F-58D9-861A-9D9D911DFD98}"/>
              </a:ext>
            </a:extLst>
          </p:cNvPr>
          <p:cNvSpPr/>
          <p:nvPr/>
        </p:nvSpPr>
        <p:spPr>
          <a:xfrm>
            <a:off x="4795702" y="3792536"/>
            <a:ext cx="1005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475569"/>
                </a:solidFill>
              </a:rPr>
              <a:t> 10</a:t>
            </a:r>
            <a:r>
              <a:rPr lang="pl-PL" sz="900" b="1" dirty="0">
                <a:solidFill>
                  <a:srgbClr val="475569"/>
                </a:solidFill>
              </a:rPr>
              <a:t>0</a:t>
            </a:r>
            <a:r>
              <a:rPr lang="en-US" sz="900" b="1" dirty="0">
                <a:solidFill>
                  <a:srgbClr val="475569"/>
                </a:solidFill>
              </a:rPr>
              <a:t>% danych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7387047" y="3792536"/>
            <a:ext cx="1005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475569"/>
                </a:solidFill>
              </a:rPr>
              <a:t>10% danych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149532" y="3742002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22C55E"/>
                </a:solidFill>
              </a:rPr>
              <a:t>← Łatwe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3827417" y="3786288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EF4444"/>
                </a:solidFill>
              </a:rPr>
              <a:t>Trudne →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E3A5F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3" name="Text 1"/>
          <p:cNvSpPr/>
          <p:nvPr/>
        </p:nvSpPr>
        <p:spPr>
          <a:xfrm>
            <a:off x="320040" y="137160"/>
            <a:ext cx="8503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Faza 3 — Konfiguracja: Porównanie Architektur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20040" y="640080"/>
            <a:ext cx="8503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ConvNeXt-Base + ResNet50 na zbiorze Imagenette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20040" y="1097280"/>
            <a:ext cx="4114800" cy="2423160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pl-PL"/>
          </a:p>
        </p:txBody>
      </p:sp>
      <p:sp>
        <p:nvSpPr>
          <p:cNvPr id="6" name="Shape 4"/>
          <p:cNvSpPr/>
          <p:nvPr/>
        </p:nvSpPr>
        <p:spPr>
          <a:xfrm>
            <a:off x="320040" y="1097280"/>
            <a:ext cx="4114800" cy="73152"/>
          </a:xfrm>
          <a:prstGeom prst="rect">
            <a:avLst/>
          </a:prstGeom>
          <a:solidFill>
            <a:srgbClr val="0D9488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7" name="Text 5"/>
          <p:cNvSpPr/>
          <p:nvPr/>
        </p:nvSpPr>
        <p:spPr>
          <a:xfrm>
            <a:off x="457200" y="123444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9488"/>
                </a:solidFill>
              </a:rPr>
              <a:t>ResNet50 (baza referencyjna z Fazy 2)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48640" y="1572768"/>
            <a:ext cx="3749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9488"/>
                </a:solidFill>
              </a:rPr>
              <a:t>• </a:t>
            </a:r>
            <a:r>
              <a:rPr lang="en-US" sz="1000" dirty="0">
                <a:solidFill>
                  <a:srgbClr val="0F172A"/>
                </a:solidFill>
              </a:rPr>
              <a:t>Wagi IMAGENET1K_V2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48640" y="1975104"/>
            <a:ext cx="3749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9488"/>
                </a:solidFill>
              </a:rPr>
              <a:t>• </a:t>
            </a:r>
            <a:r>
              <a:rPr lang="en-US" sz="1000" dirty="0">
                <a:solidFill>
                  <a:srgbClr val="0F172A"/>
                </a:solidFill>
              </a:rPr>
              <a:t>74M parametrów, bloki rezydualne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48640" y="2377440"/>
            <a:ext cx="3749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9488"/>
                </a:solidFill>
              </a:rPr>
              <a:t>• </a:t>
            </a:r>
            <a:r>
              <a:rPr lang="en-US" sz="1000" dirty="0">
                <a:solidFill>
                  <a:srgbClr val="0F172A"/>
                </a:solidFill>
              </a:rPr>
              <a:t>Skip connections z pre-aktywacją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48640" y="2779776"/>
            <a:ext cx="3749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9488"/>
                </a:solidFill>
              </a:rPr>
              <a:t>• </a:t>
            </a:r>
            <a:r>
              <a:rPr lang="en-US" sz="1000" dirty="0">
                <a:solidFill>
                  <a:srgbClr val="0F172A"/>
                </a:solidFill>
              </a:rPr>
              <a:t>Używany jako wyznacznik rankingu VoG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572000" y="1097280"/>
            <a:ext cx="4251960" cy="2423160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pl-PL"/>
          </a:p>
        </p:txBody>
      </p:sp>
      <p:sp>
        <p:nvSpPr>
          <p:cNvPr id="13" name="Shape 11"/>
          <p:cNvSpPr/>
          <p:nvPr/>
        </p:nvSpPr>
        <p:spPr>
          <a:xfrm>
            <a:off x="4572000" y="1097280"/>
            <a:ext cx="4251960" cy="73152"/>
          </a:xfrm>
          <a:prstGeom prst="rect">
            <a:avLst/>
          </a:prstGeom>
          <a:solidFill>
            <a:srgbClr val="22C55E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14" name="Text 12"/>
          <p:cNvSpPr/>
          <p:nvPr/>
        </p:nvSpPr>
        <p:spPr>
          <a:xfrm>
            <a:off x="4709160" y="1234440"/>
            <a:ext cx="3977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2C55E"/>
                </a:solidFill>
              </a:rPr>
              <a:t>ConvNeXt-Base (nowa architektura — Faza 3)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709160" y="1572768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2C55E"/>
                </a:solidFill>
              </a:rPr>
              <a:t>• </a:t>
            </a:r>
            <a:r>
              <a:rPr lang="en-US" sz="1000" dirty="0">
                <a:solidFill>
                  <a:srgbClr val="0F172A"/>
                </a:solidFill>
              </a:rPr>
              <a:t>Wagi IMAGENET1K_V1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709160" y="1975104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2C55E"/>
                </a:solidFill>
              </a:rPr>
              <a:t>• </a:t>
            </a:r>
            <a:r>
              <a:rPr lang="en-US" sz="1000" dirty="0">
                <a:solidFill>
                  <a:srgbClr val="0F172A"/>
                </a:solidFill>
              </a:rPr>
              <a:t>89M parametrów, sploty głębokościowe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709160" y="2377440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2C55E"/>
                </a:solidFill>
              </a:rPr>
              <a:t>• </a:t>
            </a:r>
            <a:r>
              <a:rPr lang="en-US" sz="1000" dirty="0">
                <a:solidFill>
                  <a:srgbClr val="0F172A"/>
                </a:solidFill>
              </a:rPr>
              <a:t>Inspirowany transformerami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709160" y="2779776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2C55E"/>
                </a:solidFill>
              </a:rPr>
              <a:t>• </a:t>
            </a:r>
            <a:r>
              <a:rPr lang="en-US" sz="1000" dirty="0">
                <a:solidFill>
                  <a:srgbClr val="0F172A"/>
                </a:solidFill>
              </a:rPr>
              <a:t>Całkowicie inna indukcja strukturalna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20040" y="3657600"/>
            <a:ext cx="8503920" cy="731520"/>
          </a:xfrm>
          <a:prstGeom prst="rect">
            <a:avLst/>
          </a:prstGeom>
          <a:solidFill>
            <a:srgbClr val="1E3A5F"/>
          </a:solidFill>
          <a:ln w="12700">
            <a:solidFill>
              <a:srgbClr val="CCCCCC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pl-PL"/>
          </a:p>
        </p:txBody>
      </p:sp>
      <p:sp>
        <p:nvSpPr>
          <p:cNvPr id="20" name="Text 18"/>
          <p:cNvSpPr/>
          <p:nvPr/>
        </p:nvSpPr>
        <p:spPr>
          <a:xfrm>
            <a:off x="457200" y="3730752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5EEAD4"/>
                </a:solidFill>
              </a:rPr>
              <a:t>🔑  Kluczowe Pytanie: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57200" y="400507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</a:rPr>
              <a:t>Czy rankingi trudności próbek wyznaczone przez VoG ResNet50 są własnością danych — czy tylko artefaktem konkretnego modelu?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20040" y="4498848"/>
            <a:ext cx="8503920" cy="512064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pl-PL"/>
          </a:p>
        </p:txBody>
      </p:sp>
      <p:sp>
        <p:nvSpPr>
          <p:cNvPr id="23" name="Text 21"/>
          <p:cNvSpPr/>
          <p:nvPr/>
        </p:nvSpPr>
        <p:spPr>
          <a:xfrm>
            <a:off x="457200" y="4544568"/>
            <a:ext cx="82296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75569"/>
                </a:solidFill>
              </a:rPr>
              <a:t>Metryki:  Spearman ρ  |  Pearson r  |  Nakładanie się Top-k  |  Korelacja per klasa  |  Dokładność treningu z transferem rankingów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E3A5F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3" name="Text 1"/>
          <p:cNvSpPr/>
          <p:nvPr/>
        </p:nvSpPr>
        <p:spPr>
          <a:xfrm>
            <a:off x="320040" y="137160"/>
            <a:ext cx="8503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Faza 3 — Spójność Rankingów VoG Między Architekturami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20040" y="640080"/>
            <a:ext cx="8503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Czy ResNet50 i ConvNeXt zgadzają się, które próbki są trudne?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20040" y="1033272"/>
            <a:ext cx="196596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pl-PL"/>
          </a:p>
        </p:txBody>
      </p:sp>
      <p:sp>
        <p:nvSpPr>
          <p:cNvPr id="6" name="Shape 4"/>
          <p:cNvSpPr/>
          <p:nvPr/>
        </p:nvSpPr>
        <p:spPr>
          <a:xfrm>
            <a:off x="320040" y="1033272"/>
            <a:ext cx="1965960" cy="73152"/>
          </a:xfrm>
          <a:prstGeom prst="rect">
            <a:avLst/>
          </a:prstGeom>
          <a:solidFill>
            <a:srgbClr val="0D9488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7" name="Text 5"/>
          <p:cNvSpPr/>
          <p:nvPr/>
        </p:nvSpPr>
        <p:spPr>
          <a:xfrm>
            <a:off x="365760" y="1197864"/>
            <a:ext cx="1874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D9488"/>
                </a:solidFill>
              </a:rPr>
              <a:t>ρ = 0,558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365760" y="1673352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F172A"/>
                </a:solidFill>
              </a:rPr>
              <a:t>Korelacja rang Spearmana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365760" y="1965960"/>
            <a:ext cx="1874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i="1" dirty="0">
                <a:solidFill>
                  <a:srgbClr val="475569"/>
                </a:solidFill>
              </a:rPr>
              <a:t>Umiarkowanie silna zgodność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2468880" y="1033272"/>
            <a:ext cx="196596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pl-PL"/>
          </a:p>
        </p:txBody>
      </p:sp>
      <p:sp>
        <p:nvSpPr>
          <p:cNvPr id="11" name="Shape 9"/>
          <p:cNvSpPr/>
          <p:nvPr/>
        </p:nvSpPr>
        <p:spPr>
          <a:xfrm>
            <a:off x="2468880" y="1033272"/>
            <a:ext cx="1965960" cy="73152"/>
          </a:xfrm>
          <a:prstGeom prst="rect">
            <a:avLst/>
          </a:prstGeom>
          <a:solidFill>
            <a:srgbClr val="1E3A5F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12" name="Text 10"/>
          <p:cNvSpPr/>
          <p:nvPr/>
        </p:nvSpPr>
        <p:spPr>
          <a:xfrm>
            <a:off x="2514600" y="1197864"/>
            <a:ext cx="1874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E3A5F"/>
                </a:solidFill>
              </a:rPr>
              <a:t>r = 0,578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2514600" y="1673352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F172A"/>
                </a:solidFill>
              </a:rPr>
              <a:t>Korelacja liniowa Pearsona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2514600" y="1965960"/>
            <a:ext cx="1874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i="1" dirty="0">
                <a:solidFill>
                  <a:srgbClr val="475569"/>
                </a:solidFill>
              </a:rPr>
              <a:t>Istotna przy p ≈ 0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4617720" y="1033272"/>
            <a:ext cx="196596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pl-PL"/>
          </a:p>
        </p:txBody>
      </p:sp>
      <p:sp>
        <p:nvSpPr>
          <p:cNvPr id="16" name="Shape 14"/>
          <p:cNvSpPr/>
          <p:nvPr/>
        </p:nvSpPr>
        <p:spPr>
          <a:xfrm>
            <a:off x="4617720" y="1033272"/>
            <a:ext cx="1965960" cy="73152"/>
          </a:xfrm>
          <a:prstGeom prst="rect">
            <a:avLst/>
          </a:prstGeom>
          <a:solidFill>
            <a:srgbClr val="22C55E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17" name="Text 15"/>
          <p:cNvSpPr/>
          <p:nvPr/>
        </p:nvSpPr>
        <p:spPr>
          <a:xfrm>
            <a:off x="4663440" y="1197864"/>
            <a:ext cx="1874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22C55E"/>
                </a:solidFill>
              </a:rPr>
              <a:t>64,6%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4663440" y="1673352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F172A"/>
                </a:solidFill>
              </a:rPr>
              <a:t>Nakładanie Top-30%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4663440" y="1965960"/>
            <a:ext cx="1874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i="1" dirty="0">
                <a:solidFill>
                  <a:srgbClr val="475569"/>
                </a:solidFill>
              </a:rPr>
              <a:t>Oba modele zgadzają się co do trudnych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6766560" y="1033272"/>
            <a:ext cx="196596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pl-PL"/>
          </a:p>
        </p:txBody>
      </p:sp>
      <p:sp>
        <p:nvSpPr>
          <p:cNvPr id="21" name="Shape 19"/>
          <p:cNvSpPr/>
          <p:nvPr/>
        </p:nvSpPr>
        <p:spPr>
          <a:xfrm>
            <a:off x="6766560" y="1033272"/>
            <a:ext cx="1965960" cy="73152"/>
          </a:xfrm>
          <a:prstGeom prst="rect">
            <a:avLst/>
          </a:prstGeom>
          <a:solidFill>
            <a:srgbClr val="F59E0B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22" name="Text 20"/>
          <p:cNvSpPr/>
          <p:nvPr/>
        </p:nvSpPr>
        <p:spPr>
          <a:xfrm>
            <a:off x="6812280" y="1197864"/>
            <a:ext cx="1874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59E0B"/>
                </a:solidFill>
              </a:rPr>
              <a:t>ρ=0,647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6812280" y="1673352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F172A"/>
                </a:solidFill>
              </a:rPr>
              <a:t>Srednia korelacja per klasa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6812280" y="1965960"/>
            <a:ext cx="1874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i="1" dirty="0">
                <a:solidFill>
                  <a:srgbClr val="475569"/>
                </a:solidFill>
              </a:rPr>
              <a:t>Wszystkie 10 klas: ρ &gt; 0,5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320040" y="2468880"/>
            <a:ext cx="3004457" cy="2331720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pl-PL"/>
          </a:p>
        </p:txBody>
      </p:sp>
      <p:sp>
        <p:nvSpPr>
          <p:cNvPr id="26" name="Text 24"/>
          <p:cNvSpPr/>
          <p:nvPr/>
        </p:nvSpPr>
        <p:spPr>
          <a:xfrm>
            <a:off x="457200" y="254203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3A5F"/>
                </a:solidFill>
              </a:rPr>
              <a:t>Nakładanie się Top-k zbiorów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457200" y="2926080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</a:rPr>
              <a:t>Top 5%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1463040" y="2926080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59E0B"/>
                </a:solidFill>
              </a:rPr>
              <a:t>47,6%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2560320" y="2926080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F59E0B"/>
                </a:solidFill>
              </a:rPr>
              <a:t>Umiarkowane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457200" y="3291840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</a:rPr>
              <a:t>Top 10%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1463040" y="3291840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59E0B"/>
                </a:solidFill>
              </a:rPr>
              <a:t>58,1%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2560320" y="3291840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F59E0B"/>
                </a:solidFill>
              </a:rPr>
              <a:t>Umiarkowane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457200" y="3657600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</a:rPr>
              <a:t>Top 20%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1463040" y="3657600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22C55E"/>
                </a:solidFill>
              </a:rPr>
              <a:t>61,7%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2560320" y="3657600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22C55E"/>
                </a:solidFill>
              </a:rPr>
              <a:t>Silne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457200" y="4023360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</a:rPr>
              <a:t>Top 30%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1463040" y="4023360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22C55E"/>
                </a:solidFill>
              </a:rPr>
              <a:t>64,6%</a:t>
            </a:r>
            <a:endParaRPr lang="en-US" sz="1050" dirty="0"/>
          </a:p>
        </p:txBody>
      </p:sp>
      <p:sp>
        <p:nvSpPr>
          <p:cNvPr id="38" name="Text 36"/>
          <p:cNvSpPr/>
          <p:nvPr/>
        </p:nvSpPr>
        <p:spPr>
          <a:xfrm>
            <a:off x="2560320" y="4023360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22C55E"/>
                </a:solidFill>
              </a:rPr>
              <a:t>Silne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457200" y="4389120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</a:rPr>
              <a:t>Top 50%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1463040" y="4389120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22C55E"/>
                </a:solidFill>
              </a:rPr>
              <a:t>69,6%</a:t>
            </a:r>
            <a:endParaRPr lang="en-US" sz="1050" dirty="0"/>
          </a:p>
        </p:txBody>
      </p:sp>
      <p:sp>
        <p:nvSpPr>
          <p:cNvPr id="41" name="Text 39"/>
          <p:cNvSpPr/>
          <p:nvPr/>
        </p:nvSpPr>
        <p:spPr>
          <a:xfrm>
            <a:off x="2560320" y="4389120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22C55E"/>
                </a:solidFill>
              </a:rPr>
              <a:t>Silne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3383280" y="2468880"/>
            <a:ext cx="5440680" cy="2331720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pl-PL"/>
          </a:p>
        </p:txBody>
      </p:sp>
      <p:sp>
        <p:nvSpPr>
          <p:cNvPr id="43" name="Shape 41"/>
          <p:cNvSpPr/>
          <p:nvPr/>
        </p:nvSpPr>
        <p:spPr>
          <a:xfrm>
            <a:off x="3383280" y="2468880"/>
            <a:ext cx="5440680" cy="73152"/>
          </a:xfrm>
          <a:prstGeom prst="rect">
            <a:avLst/>
          </a:prstGeom>
          <a:solidFill>
            <a:srgbClr val="0D9488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46" name="Shape 44"/>
          <p:cNvSpPr/>
          <p:nvPr/>
        </p:nvSpPr>
        <p:spPr>
          <a:xfrm>
            <a:off x="320040" y="4841748"/>
            <a:ext cx="8503920" cy="274320"/>
          </a:xfrm>
          <a:prstGeom prst="rect">
            <a:avLst/>
          </a:prstGeom>
          <a:solidFill>
            <a:srgbClr val="F0FDF4"/>
          </a:solidFill>
          <a:ln w="12700">
            <a:solidFill>
              <a:srgbClr val="CCCCCC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pl-PL"/>
          </a:p>
        </p:txBody>
      </p:sp>
      <p:sp>
        <p:nvSpPr>
          <p:cNvPr id="47" name="Text 45"/>
          <p:cNvSpPr/>
          <p:nvPr/>
        </p:nvSpPr>
        <p:spPr>
          <a:xfrm>
            <a:off x="457200" y="4864608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22C55E"/>
                </a:solidFill>
              </a:rPr>
              <a:t>✅  Oba modele mają umiarkowanie silną zgodność rankingów → trudność próbek jest cechą danych, nie artefaktem modelu</a:t>
            </a:r>
            <a:endParaRPr lang="en-US" sz="950" dirty="0"/>
          </a:p>
        </p:txBody>
      </p:sp>
      <p:pic>
        <p:nvPicPr>
          <p:cNvPr id="51" name="Obraz 50">
            <a:extLst>
              <a:ext uri="{FF2B5EF4-FFF2-40B4-BE49-F238E27FC236}">
                <a16:creationId xmlns:a16="http://schemas.microsoft.com/office/drawing/2014/main" id="{DC6DBD9B-01E7-5079-499E-6D4009A4409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38757" y="2791731"/>
            <a:ext cx="3190643" cy="1844930"/>
          </a:xfrm>
          <a:prstGeom prst="rect">
            <a:avLst/>
          </a:prstGeom>
        </p:spPr>
      </p:pic>
      <p:pic>
        <p:nvPicPr>
          <p:cNvPr id="49" name="Obraz 48">
            <a:extLst>
              <a:ext uri="{FF2B5EF4-FFF2-40B4-BE49-F238E27FC236}">
                <a16:creationId xmlns:a16="http://schemas.microsoft.com/office/drawing/2014/main" id="{D4442C34-2DF9-F50D-A51B-FBE6A1C52E5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37960" y="2585888"/>
            <a:ext cx="2205346" cy="2143424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E3A5F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3" name="Text 1"/>
          <p:cNvSpPr/>
          <p:nvPr/>
        </p:nvSpPr>
        <p:spPr>
          <a:xfrm>
            <a:off x="320040" y="137160"/>
            <a:ext cx="8503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Faza 3 — Wyniki Treningu ConvNeXt-Base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20040" y="640080"/>
            <a:ext cx="8503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Tabela efektywności danych — dokładność walidacyjna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20040" y="1005840"/>
            <a:ext cx="8503920" cy="2926080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pl-PL"/>
          </a:p>
        </p:txBody>
      </p:sp>
      <p:sp>
        <p:nvSpPr>
          <p:cNvPr id="7" name="Shape 5"/>
          <p:cNvSpPr/>
          <p:nvPr/>
        </p:nvSpPr>
        <p:spPr>
          <a:xfrm>
            <a:off x="411480" y="1074420"/>
            <a:ext cx="2286000" cy="384048"/>
          </a:xfrm>
          <a:prstGeom prst="rect">
            <a:avLst/>
          </a:prstGeom>
          <a:solidFill>
            <a:srgbClr val="1E3A5F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8" name="Text 6"/>
          <p:cNvSpPr/>
          <p:nvPr/>
        </p:nvSpPr>
        <p:spPr>
          <a:xfrm>
            <a:off x="457200" y="1101852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Podzbiór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2788920" y="1074420"/>
            <a:ext cx="1371600" cy="384048"/>
          </a:xfrm>
          <a:prstGeom prst="rect">
            <a:avLst/>
          </a:prstGeom>
          <a:solidFill>
            <a:srgbClr val="1E3A5F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10" name="Text 8"/>
          <p:cNvSpPr/>
          <p:nvPr/>
        </p:nvSpPr>
        <p:spPr>
          <a:xfrm>
            <a:off x="2834640" y="1101852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LP Dokładność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251960" y="1074420"/>
            <a:ext cx="1371600" cy="384048"/>
          </a:xfrm>
          <a:prstGeom prst="rect">
            <a:avLst/>
          </a:prstGeom>
          <a:solidFill>
            <a:srgbClr val="1E3A5F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12" name="Text 10"/>
          <p:cNvSpPr/>
          <p:nvPr/>
        </p:nvSpPr>
        <p:spPr>
          <a:xfrm>
            <a:off x="4297680" y="1101852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LP vs Pełny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5715000" y="1074420"/>
            <a:ext cx="1371600" cy="384048"/>
          </a:xfrm>
          <a:prstGeom prst="rect">
            <a:avLst/>
          </a:prstGeom>
          <a:solidFill>
            <a:srgbClr val="1E3A5F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14" name="Text 12"/>
          <p:cNvSpPr/>
          <p:nvPr/>
        </p:nvSpPr>
        <p:spPr>
          <a:xfrm>
            <a:off x="5760720" y="1101852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FT Dokładność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7178040" y="1074420"/>
            <a:ext cx="1371600" cy="384048"/>
          </a:xfrm>
          <a:prstGeom prst="rect">
            <a:avLst/>
          </a:prstGeom>
          <a:solidFill>
            <a:srgbClr val="1E3A5F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16" name="Text 14"/>
          <p:cNvSpPr/>
          <p:nvPr/>
        </p:nvSpPr>
        <p:spPr>
          <a:xfrm>
            <a:off x="7223760" y="1101852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FT vs Pełny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365760" y="1504188"/>
            <a:ext cx="841248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18" name="Text 16"/>
          <p:cNvSpPr/>
          <p:nvPr/>
        </p:nvSpPr>
        <p:spPr>
          <a:xfrm>
            <a:off x="457200" y="1559052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0F172A"/>
                </a:solidFill>
              </a:rPr>
              <a:t>Pełny zbiór danych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2834640" y="1559052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475569"/>
                </a:solidFill>
              </a:rPr>
              <a:t>99,97%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4297680" y="1559052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475569"/>
                </a:solidFill>
              </a:rPr>
              <a:t>—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5760720" y="1559052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475569"/>
                </a:solidFill>
              </a:rPr>
              <a:t>93,71%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7223760" y="1559052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475569"/>
                </a:solidFill>
              </a:rPr>
              <a:t>—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365760" y="1961388"/>
            <a:ext cx="8412480" cy="411480"/>
          </a:xfrm>
          <a:prstGeom prst="rect">
            <a:avLst/>
          </a:prstGeom>
          <a:solidFill>
            <a:srgbClr val="F0FDF4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24" name="Text 22"/>
          <p:cNvSpPr/>
          <p:nvPr/>
        </p:nvSpPr>
        <p:spPr>
          <a:xfrm>
            <a:off x="457200" y="2016252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0F172A"/>
                </a:solidFill>
              </a:rPr>
              <a:t>High VoG (ranking R50)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2834640" y="2016252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475569"/>
                </a:solidFill>
              </a:rPr>
              <a:t>99,97%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4297680" y="2016252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22C55E"/>
                </a:solidFill>
              </a:rPr>
              <a:t>+0,00%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5760720" y="2016252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475569"/>
                </a:solidFill>
              </a:rPr>
              <a:t>95,59%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7223760" y="2016252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22C55E"/>
                </a:solidFill>
              </a:rPr>
              <a:t>+1,89% ✅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365760" y="2418588"/>
            <a:ext cx="841248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30" name="Text 28"/>
          <p:cNvSpPr/>
          <p:nvPr/>
        </p:nvSpPr>
        <p:spPr>
          <a:xfrm>
            <a:off x="457200" y="2473452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0F172A"/>
                </a:solidFill>
              </a:rPr>
              <a:t>Low VoG (ranking R50)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2834640" y="2473452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475569"/>
                </a:solidFill>
              </a:rPr>
              <a:t>99,90%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4297680" y="2473452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EF4444"/>
                </a:solidFill>
              </a:rPr>
              <a:t>-0,08%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5760720" y="2473452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475569"/>
                </a:solidFill>
              </a:rPr>
              <a:t>88,08%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7223760" y="2473452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EF4444"/>
                </a:solidFill>
              </a:rPr>
              <a:t>-5,63% ⚠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365760" y="2875788"/>
            <a:ext cx="8412480" cy="411480"/>
          </a:xfrm>
          <a:prstGeom prst="rect">
            <a:avLst/>
          </a:prstGeom>
          <a:solidFill>
            <a:srgbClr val="F0FDF4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36" name="Text 34"/>
          <p:cNvSpPr/>
          <p:nvPr/>
        </p:nvSpPr>
        <p:spPr>
          <a:xfrm>
            <a:off x="457200" y="2930652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0F172A"/>
                </a:solidFill>
              </a:rPr>
              <a:t>High VoG (ranking CNX)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2834640" y="2930652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475569"/>
                </a:solidFill>
              </a:rPr>
              <a:t>99,97%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4297680" y="2930652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22C55E"/>
                </a:solidFill>
              </a:rPr>
              <a:t>+0,00%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5760720" y="2930652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475569"/>
                </a:solidFill>
              </a:rPr>
              <a:t>95,16%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7223760" y="2930652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22C55E"/>
                </a:solidFill>
              </a:rPr>
              <a:t>+1,45% ✅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365760" y="3332988"/>
            <a:ext cx="841248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42" name="Text 40"/>
          <p:cNvSpPr/>
          <p:nvPr/>
        </p:nvSpPr>
        <p:spPr>
          <a:xfrm>
            <a:off x="457200" y="3387852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0F172A"/>
                </a:solidFill>
              </a:rPr>
              <a:t>Low VoG (ranking CNX)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2834640" y="3387852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475569"/>
                </a:solidFill>
              </a:rPr>
              <a:t>99,92%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4297680" y="3387852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EF4444"/>
                </a:solidFill>
              </a:rPr>
              <a:t>-0,05%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5760720" y="3387852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475569"/>
                </a:solidFill>
              </a:rPr>
              <a:t>87,72%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7223760" y="3387852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EF4444"/>
                </a:solidFill>
              </a:rPr>
              <a:t>-5,99% ⚠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320040" y="3931920"/>
            <a:ext cx="8503920" cy="1158240"/>
          </a:xfrm>
          <a:prstGeom prst="rect">
            <a:avLst/>
          </a:prstGeom>
          <a:solidFill>
            <a:srgbClr val="0F172A"/>
          </a:solidFill>
          <a:ln w="12700">
            <a:solidFill>
              <a:srgbClr val="CCCCCC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pl-PL" dirty="0"/>
          </a:p>
        </p:txBody>
      </p:sp>
      <p:sp>
        <p:nvSpPr>
          <p:cNvPr id="48" name="Text 46"/>
          <p:cNvSpPr/>
          <p:nvPr/>
        </p:nvSpPr>
        <p:spPr>
          <a:xfrm>
            <a:off x="502920" y="3947160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4B8A6"/>
                </a:solidFill>
              </a:rPr>
              <a:t>Kluczowe Obserwacje</a:t>
            </a:r>
            <a:endParaRPr lang="en-US" sz="1200" dirty="0"/>
          </a:p>
        </p:txBody>
      </p:sp>
      <p:sp>
        <p:nvSpPr>
          <p:cNvPr id="49" name="Text 47"/>
          <p:cNvSpPr/>
          <p:nvPr/>
        </p:nvSpPr>
        <p:spPr>
          <a:xfrm>
            <a:off x="502920" y="4242816"/>
            <a:ext cx="82296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</a:rPr>
              <a:t>• High-VoG (30%) pokonuje Low-VoG o nawet 7,8 pp w Fine-Tuning — informacyjne próbki dominują sygnał gradientu</a:t>
            </a:r>
            <a:endParaRPr lang="en-US" sz="950" dirty="0"/>
          </a:p>
        </p:txBody>
      </p:sp>
      <p:sp>
        <p:nvSpPr>
          <p:cNvPr id="50" name="Text 48"/>
          <p:cNvSpPr/>
          <p:nvPr/>
        </p:nvSpPr>
        <p:spPr>
          <a:xfrm>
            <a:off x="502920" y="4544568"/>
            <a:ext cx="82296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</a:rPr>
              <a:t>• Transfer między architekturami działa: ranking R50 VoG poprawia trening ConvNeXt (+1,89% FT vs pełny zbiór)</a:t>
            </a:r>
            <a:endParaRPr lang="en-US" sz="950" dirty="0"/>
          </a:p>
        </p:txBody>
      </p:sp>
      <p:sp>
        <p:nvSpPr>
          <p:cNvPr id="51" name="Text 49"/>
          <p:cNvSpPr/>
          <p:nvPr/>
        </p:nvSpPr>
        <p:spPr>
          <a:xfrm>
            <a:off x="502920" y="4841748"/>
            <a:ext cx="82296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</a:rPr>
              <a:t>• Linear Probe osiąga sufit (~99,97%) niezależnie od podzbioru — jakość backbone'u dominuje; FT jest wrażliwszy na dane</a:t>
            </a:r>
            <a:endParaRPr lang="en-US" sz="9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E3A5F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3" name="Text 1"/>
          <p:cNvSpPr/>
          <p:nvPr/>
        </p:nvSpPr>
        <p:spPr>
          <a:xfrm>
            <a:off x="320040" y="137160"/>
            <a:ext cx="8503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Faza 3 — Efektywność VoG: Analiza Decylowa (obie architektury)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20040" y="640080"/>
            <a:ext cx="8503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Błąd per decyl 10-percentylowy — oczekiwany wzrost monot.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20040" y="1097280"/>
            <a:ext cx="8503920" cy="2377440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pl-PL"/>
          </a:p>
        </p:txBody>
      </p:sp>
      <p:sp>
        <p:nvSpPr>
          <p:cNvPr id="6" name="Shape 4"/>
          <p:cNvSpPr/>
          <p:nvPr/>
        </p:nvSpPr>
        <p:spPr>
          <a:xfrm>
            <a:off x="320040" y="1097280"/>
            <a:ext cx="8503920" cy="73152"/>
          </a:xfrm>
          <a:prstGeom prst="rect">
            <a:avLst/>
          </a:prstGeom>
          <a:solidFill>
            <a:srgbClr val="0D9488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13" name="Shape 11"/>
          <p:cNvSpPr/>
          <p:nvPr/>
        </p:nvSpPr>
        <p:spPr>
          <a:xfrm>
            <a:off x="320040" y="3611880"/>
            <a:ext cx="850392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pl-PL"/>
          </a:p>
        </p:txBody>
      </p:sp>
      <p:sp>
        <p:nvSpPr>
          <p:cNvPr id="14" name="Text 12"/>
          <p:cNvSpPr/>
          <p:nvPr/>
        </p:nvSpPr>
        <p:spPr>
          <a:xfrm>
            <a:off x="457200" y="3657600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3A5F"/>
                </a:solidFill>
              </a:rPr>
              <a:t>Zestawienie błędu testowego per decyl VoG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11480" y="3977640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0F172A"/>
                </a:solidFill>
              </a:rPr>
              <a:t>Przedział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1207008" y="3977640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0F172A"/>
                </a:solidFill>
              </a:rPr>
              <a:t>0-10%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1975104" y="3977640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0F172A"/>
                </a:solidFill>
              </a:rPr>
              <a:t>10-20%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2743200" y="3977640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0F172A"/>
                </a:solidFill>
              </a:rPr>
              <a:t>20-30%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3511296" y="3977640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0F172A"/>
                </a:solidFill>
              </a:rPr>
              <a:t>30-40%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4279392" y="3977640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0F172A"/>
                </a:solidFill>
              </a:rPr>
              <a:t>40-50%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5047488" y="3977640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0F172A"/>
                </a:solidFill>
              </a:rPr>
              <a:t>50-60%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5815584" y="3977640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0F172A"/>
                </a:solidFill>
              </a:rPr>
              <a:t>60-70%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6583680" y="3977640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0F172A"/>
                </a:solidFill>
              </a:rPr>
              <a:t>70-80%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7351776" y="3977640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0F172A"/>
                </a:solidFill>
              </a:rPr>
              <a:t>80-90%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8119872" y="3977640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0F172A"/>
                </a:solidFill>
              </a:rPr>
              <a:t>90-100%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411480" y="4297680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0D9488"/>
                </a:solidFill>
              </a:rPr>
              <a:t>R50 błąd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1207008" y="4297680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D9488"/>
                </a:solidFill>
              </a:rPr>
              <a:t>15,2%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975104" y="4297680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D9488"/>
                </a:solidFill>
              </a:rPr>
              <a:t>14,3%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2743200" y="4297680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D9488"/>
                </a:solidFill>
              </a:rPr>
              <a:t>12,4%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3511296" y="4297680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D9488"/>
                </a:solidFill>
              </a:rPr>
              <a:t>10,7%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4279392" y="4297680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D9488"/>
                </a:solidFill>
              </a:rPr>
              <a:t>10,3%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5047488" y="4297680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D9488"/>
                </a:solidFill>
              </a:rPr>
              <a:t>9,7%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5815584" y="4297680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D9488"/>
                </a:solidFill>
              </a:rPr>
              <a:t>8,1%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6583680" y="4297680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D9488"/>
                </a:solidFill>
              </a:rPr>
              <a:t>7,8%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7351776" y="4297680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D9488"/>
                </a:solidFill>
              </a:rPr>
              <a:t>5,6%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8119872" y="4297680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D9488"/>
                </a:solidFill>
              </a:rPr>
              <a:t>6,9%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411480" y="4617720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22C55E"/>
                </a:solidFill>
              </a:rPr>
              <a:t>CNX błąd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1207008" y="4617720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22C55E"/>
                </a:solidFill>
              </a:rPr>
              <a:t>9,1%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1975104" y="4617720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22C55E"/>
                </a:solidFill>
              </a:rPr>
              <a:t>9,7%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2743200" y="4617720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22C55E"/>
                </a:solidFill>
              </a:rPr>
              <a:t>7,6%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3511296" y="4617720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22C55E"/>
                </a:solidFill>
              </a:rPr>
              <a:t>5,9%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4279392" y="4617720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22C55E"/>
                </a:solidFill>
              </a:rPr>
              <a:t>6,2%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5047488" y="4617720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22C55E"/>
                </a:solidFill>
              </a:rPr>
              <a:t>5,7%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5815584" y="4617720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22C55E"/>
                </a:solidFill>
              </a:rPr>
              <a:t>5,1%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6583680" y="4617720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22C55E"/>
                </a:solidFill>
              </a:rPr>
              <a:t>4,9%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7351776" y="4617720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22C55E"/>
                </a:solidFill>
              </a:rPr>
              <a:t>4,1%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8119872" y="4617720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22C55E"/>
                </a:solidFill>
              </a:rPr>
              <a:t>2,4%</a:t>
            </a:r>
            <a:endParaRPr lang="en-US" sz="900" dirty="0"/>
          </a:p>
        </p:txBody>
      </p:sp>
      <p:pic>
        <p:nvPicPr>
          <p:cNvPr id="49" name="Obraz 48">
            <a:extLst>
              <a:ext uri="{FF2B5EF4-FFF2-40B4-BE49-F238E27FC236}">
                <a16:creationId xmlns:a16="http://schemas.microsoft.com/office/drawing/2014/main" id="{54DC822A-A936-9E27-FE45-A551DD224C1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09928" y="1240645"/>
            <a:ext cx="5870448" cy="218616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D9488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3" name="Shape 1"/>
          <p:cNvSpPr/>
          <p:nvPr/>
        </p:nvSpPr>
        <p:spPr>
          <a:xfrm>
            <a:off x="0" y="64008"/>
            <a:ext cx="9144000" cy="914400"/>
          </a:xfrm>
          <a:prstGeom prst="rect">
            <a:avLst/>
          </a:prstGeom>
          <a:solidFill>
            <a:srgbClr val="1E3A5F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4" name="Text 2"/>
          <p:cNvSpPr/>
          <p:nvPr/>
        </p:nvSpPr>
        <p:spPr>
          <a:xfrm>
            <a:off x="365760" y="164592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Wnioski i Kluczowe Obserwacje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74320" y="1097280"/>
            <a:ext cx="4206240" cy="1417320"/>
          </a:xfrm>
          <a:prstGeom prst="rect">
            <a:avLst/>
          </a:prstGeom>
          <a:solidFill>
            <a:srgbClr val="1E293B"/>
          </a:solidFill>
          <a:ln w="12700">
            <a:solidFill>
              <a:srgbClr val="CCCCCC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pl-PL"/>
          </a:p>
        </p:txBody>
      </p:sp>
      <p:sp>
        <p:nvSpPr>
          <p:cNvPr id="6" name="Shape 4"/>
          <p:cNvSpPr/>
          <p:nvPr/>
        </p:nvSpPr>
        <p:spPr>
          <a:xfrm>
            <a:off x="384048" y="1207008"/>
            <a:ext cx="438912" cy="438912"/>
          </a:xfrm>
          <a:prstGeom prst="ellipse">
            <a:avLst/>
          </a:prstGeom>
          <a:solidFill>
            <a:srgbClr val="0D9488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7" name="Text 5"/>
          <p:cNvSpPr/>
          <p:nvPr/>
        </p:nvSpPr>
        <p:spPr>
          <a:xfrm>
            <a:off x="384048" y="1234440"/>
            <a:ext cx="4389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F172A"/>
                </a:solidFill>
              </a:rPr>
              <a:t>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932688" y="1188720"/>
            <a:ext cx="3429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D9488"/>
                </a:solidFill>
              </a:rPr>
              <a:t>VoG prawidłowo mierzy trudność danych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932688" y="1572768"/>
            <a:ext cx="3429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</a:rPr>
              <a:t>Błąd rośnie monotonicznie od niskiego do wysokiego VoG w obu architekturach — potwierdza centralną tezę artykułu na zbiorze Imagenette.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4709160" y="1097280"/>
            <a:ext cx="4206240" cy="1417320"/>
          </a:xfrm>
          <a:prstGeom prst="rect">
            <a:avLst/>
          </a:prstGeom>
          <a:solidFill>
            <a:srgbClr val="1E293B"/>
          </a:solidFill>
          <a:ln w="12700">
            <a:solidFill>
              <a:srgbClr val="CCCCCC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pl-PL"/>
          </a:p>
        </p:txBody>
      </p:sp>
      <p:sp>
        <p:nvSpPr>
          <p:cNvPr id="11" name="Shape 9"/>
          <p:cNvSpPr/>
          <p:nvPr/>
        </p:nvSpPr>
        <p:spPr>
          <a:xfrm>
            <a:off x="4818888" y="1207008"/>
            <a:ext cx="438912" cy="438912"/>
          </a:xfrm>
          <a:prstGeom prst="ellipse">
            <a:avLst/>
          </a:prstGeom>
          <a:solidFill>
            <a:srgbClr val="22C55E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12" name="Text 10"/>
          <p:cNvSpPr/>
          <p:nvPr/>
        </p:nvSpPr>
        <p:spPr>
          <a:xfrm>
            <a:off x="4818888" y="1234440"/>
            <a:ext cx="4389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F172A"/>
                </a:solidFill>
              </a:rPr>
              <a:t>2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367528" y="1188720"/>
            <a:ext cx="3429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22C55E"/>
                </a:solidFill>
              </a:rPr>
              <a:t>30% high-VoG ≥ 100% pełnego zbioru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5367528" y="1572768"/>
            <a:ext cx="3429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</a:rPr>
              <a:t>Trening na najtrudniejszych 30% próbek dorównuje lub pokonuje pełny zbiór w trybie Fine-Tuning. Łatwe próbki są w dużej mierze redundantne.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274320" y="2743200"/>
            <a:ext cx="4206240" cy="1417320"/>
          </a:xfrm>
          <a:prstGeom prst="rect">
            <a:avLst/>
          </a:prstGeom>
          <a:solidFill>
            <a:srgbClr val="1E293B"/>
          </a:solidFill>
          <a:ln w="12700">
            <a:solidFill>
              <a:srgbClr val="CCCCCC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pl-PL"/>
          </a:p>
        </p:txBody>
      </p:sp>
      <p:sp>
        <p:nvSpPr>
          <p:cNvPr id="16" name="Shape 14"/>
          <p:cNvSpPr/>
          <p:nvPr/>
        </p:nvSpPr>
        <p:spPr>
          <a:xfrm>
            <a:off x="384048" y="2852928"/>
            <a:ext cx="438912" cy="438912"/>
          </a:xfrm>
          <a:prstGeom prst="ellipse">
            <a:avLst/>
          </a:prstGeom>
          <a:solidFill>
            <a:srgbClr val="F59E0B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17" name="Text 15"/>
          <p:cNvSpPr/>
          <p:nvPr/>
        </p:nvSpPr>
        <p:spPr>
          <a:xfrm>
            <a:off x="384048" y="2880360"/>
            <a:ext cx="4389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F172A"/>
                </a:solidFill>
              </a:rPr>
              <a:t>3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932688" y="2834640"/>
            <a:ext cx="3429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59E0B"/>
                </a:solidFill>
              </a:rPr>
              <a:t>Transfer między architekturami jest realny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932688" y="3218688"/>
            <a:ext cx="3429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</a:rPr>
              <a:t>Spearman ρ = 0,558, nakładanie top-30% = 64,6%, średnie ρ per klasa = 0,647. Trudność próbek to cecha danych, nie artefakt modelu.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4709160" y="2743200"/>
            <a:ext cx="4206240" cy="1417320"/>
          </a:xfrm>
          <a:prstGeom prst="rect">
            <a:avLst/>
          </a:prstGeom>
          <a:solidFill>
            <a:srgbClr val="1E293B"/>
          </a:solidFill>
          <a:ln w="12700">
            <a:solidFill>
              <a:srgbClr val="CCCCCC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pl-PL"/>
          </a:p>
        </p:txBody>
      </p:sp>
      <p:sp>
        <p:nvSpPr>
          <p:cNvPr id="21" name="Shape 19"/>
          <p:cNvSpPr/>
          <p:nvPr/>
        </p:nvSpPr>
        <p:spPr>
          <a:xfrm>
            <a:off x="4818888" y="2852928"/>
            <a:ext cx="438912" cy="438912"/>
          </a:xfrm>
          <a:prstGeom prst="ellipse">
            <a:avLst/>
          </a:prstGeom>
          <a:solidFill>
            <a:srgbClr val="5EEAD4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22" name="Text 20"/>
          <p:cNvSpPr/>
          <p:nvPr/>
        </p:nvSpPr>
        <p:spPr>
          <a:xfrm>
            <a:off x="4818888" y="2880360"/>
            <a:ext cx="4389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F172A"/>
                </a:solidFill>
              </a:rPr>
              <a:t>4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5367528" y="2834640"/>
            <a:ext cx="3429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5EEAD4"/>
                </a:solidFill>
              </a:rPr>
              <a:t>Ranking R50 przenosi się na ConvNeXt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5367528" y="3218688"/>
            <a:ext cx="3429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</a:rPr>
              <a:t>Użycie VoG ResNet50 do wyboru danych treningowych ConvNeXt daje +1,89% dokładności FT vs pełny zbiór — transfer jest praktycznie użyteczny.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274320" y="4828032"/>
            <a:ext cx="8595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94A3B8"/>
                </a:solidFill>
              </a:rPr>
              <a:t>Zbiór: Imagenette (10-klasowy podzbiór ImageNet)  |  Modele: ResNet50 + ConvNeXt-Base  |  VoG: Agarwal et al. CVPR 2022</a:t>
            </a:r>
            <a:endParaRPr lang="en-US" sz="8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E3A5F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3" name="Text 1"/>
          <p:cNvSpPr/>
          <p:nvPr/>
        </p:nvSpPr>
        <p:spPr>
          <a:xfrm>
            <a:off x="320040" y="137160"/>
            <a:ext cx="8503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Ograniczenia i Kierunki Przyszłych Badań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20040" y="1097280"/>
            <a:ext cx="4114800" cy="3703320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pl-PL"/>
          </a:p>
        </p:txBody>
      </p:sp>
      <p:sp>
        <p:nvSpPr>
          <p:cNvPr id="5" name="Text 3"/>
          <p:cNvSpPr/>
          <p:nvPr/>
        </p:nvSpPr>
        <p:spPr>
          <a:xfrm>
            <a:off x="457200" y="1170432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F4444"/>
                </a:solidFill>
              </a:rPr>
              <a:t>⚠  Ograniczenia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481328"/>
            <a:ext cx="3566160" cy="27432"/>
          </a:xfrm>
          <a:prstGeom prst="rect">
            <a:avLst/>
          </a:prstGeom>
          <a:solidFill>
            <a:srgbClr val="EF4444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7" name="Text 5"/>
          <p:cNvSpPr/>
          <p:nvPr/>
        </p:nvSpPr>
        <p:spPr>
          <a:xfrm>
            <a:off x="502920" y="1600200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EF4444"/>
                </a:solidFill>
              </a:rPr>
              <a:t>⛔  Mały zbiór danych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502920" y="1837944"/>
            <a:ext cx="3749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</a:rPr>
              <a:t>Imagenette ma tylko 9 469 obrazów treningowych — efekty mogą się różnić na większych zbiorach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502920" y="2221992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EF4444"/>
                </a:solidFill>
              </a:rPr>
              <a:t>⛔  Mało epok VoG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502920" y="2459736"/>
            <a:ext cx="3749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</a:rPr>
              <a:t>Użyto tylko 5 epok; w artykule użyto 350 dla CIFAR — rankingi mogą być mniej stabilne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502920" y="2843784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EF4444"/>
                </a:solidFill>
              </a:rPr>
              <a:t>⛔  Pojedynczy przebieg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502920" y="3081528"/>
            <a:ext cx="3749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</a:rPr>
              <a:t>Brak uśredniania po wielu inicjalizacjach; wariancja wyników jest nieznana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02920" y="3465576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EF4444"/>
                </a:solidFill>
              </a:rPr>
              <a:t>⛔  Prosty problem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502920" y="3703320"/>
            <a:ext cx="3749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</a:rPr>
              <a:t>Imagenette jest prostszy niż CIFAR-100 czy ImageNet (1000 klas)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502920" y="4087368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EF4444"/>
                </a:solidFill>
              </a:rPr>
              <a:t>⛔  Efekt sufitu LP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502920" y="4325112"/>
            <a:ext cx="3749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</a:rPr>
              <a:t>Linear Probe osiąga ~99,97% dla wszystkich podzbiorów — za mało miejsca do dyskryminacji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4572000" y="1097280"/>
            <a:ext cx="4251960" cy="3703320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pl-PL"/>
          </a:p>
        </p:txBody>
      </p:sp>
      <p:sp>
        <p:nvSpPr>
          <p:cNvPr id="18" name="Text 16"/>
          <p:cNvSpPr/>
          <p:nvPr/>
        </p:nvSpPr>
        <p:spPr>
          <a:xfrm>
            <a:off x="4709160" y="1170432"/>
            <a:ext cx="3977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9488"/>
                </a:solidFill>
              </a:rPr>
              <a:t>🚀  Kierunki Przyszłych Badań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709160" y="1481328"/>
            <a:ext cx="3703320" cy="27432"/>
          </a:xfrm>
          <a:prstGeom prst="rect">
            <a:avLst/>
          </a:prstGeom>
          <a:solidFill>
            <a:srgbClr val="0D9488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20" name="Text 18"/>
          <p:cNvSpPr/>
          <p:nvPr/>
        </p:nvSpPr>
        <p:spPr>
          <a:xfrm>
            <a:off x="4754880" y="1600200"/>
            <a:ext cx="3977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D9488"/>
                </a:solidFill>
              </a:rPr>
              <a:t>→  Skalowanie do CIFAR-100 / ImageNet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4754880" y="1837944"/>
            <a:ext cx="3977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</a:rPr>
              <a:t>Dokładniejsze odwzorowanie warunków oryginalnego artykułu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4754880" y="2221992"/>
            <a:ext cx="3977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D9488"/>
                </a:solidFill>
              </a:rPr>
              <a:t>→  Więcej architektur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4754880" y="2459736"/>
            <a:ext cx="3977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</a:rPr>
              <a:t>Vision Transformer (ViT), EfficientNet — test powszechności VoG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4754880" y="2843784"/>
            <a:ext cx="3977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D9488"/>
                </a:solidFill>
              </a:rPr>
              <a:t>→  Więcej checkpointów VoG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4754880" y="3081528"/>
            <a:ext cx="3977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</a:rPr>
              <a:t>Użycie 10–30 checkpointów dla stabilniejszych rankingów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4754880" y="3465576"/>
            <a:ext cx="3977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D9488"/>
                </a:solidFill>
              </a:rPr>
              <a:t>→  Curriculum learning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4754880" y="3703320"/>
            <a:ext cx="3977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</a:rPr>
              <a:t>Użycie rankingów VoG do planowania kolejności próbek w treningu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4754880" y="4087368"/>
            <a:ext cx="3977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D9488"/>
                </a:solidFill>
              </a:rPr>
              <a:t>→  Active learning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4754880" y="4325112"/>
            <a:ext cx="3977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</a:rPr>
              <a:t>VoG jako kryterium wyboru próbek do etykietowania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320040" y="4919472"/>
            <a:ext cx="8503920" cy="109728"/>
          </a:xfrm>
          <a:prstGeom prst="rect">
            <a:avLst/>
          </a:prstGeom>
          <a:solidFill>
            <a:srgbClr val="0D9488"/>
          </a:solidFill>
          <a:ln w="12700">
            <a:solidFill>
              <a:srgbClr val="CCCCCC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pl-PL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D9488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3" name="Shape 1"/>
          <p:cNvSpPr/>
          <p:nvPr/>
        </p:nvSpPr>
        <p:spPr>
          <a:xfrm>
            <a:off x="-914400" y="2286000"/>
            <a:ext cx="4572000" cy="4572000"/>
          </a:xfrm>
          <a:prstGeom prst="ellipse">
            <a:avLst/>
          </a:prstGeom>
          <a:solidFill>
            <a:srgbClr val="1E3A5F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4" name="Shape 2"/>
          <p:cNvSpPr/>
          <p:nvPr/>
        </p:nvSpPr>
        <p:spPr>
          <a:xfrm>
            <a:off x="6400800" y="-914400"/>
            <a:ext cx="3657600" cy="3657600"/>
          </a:xfrm>
          <a:prstGeom prst="ellipse">
            <a:avLst/>
          </a:prstGeom>
          <a:solidFill>
            <a:srgbClr val="0D9488">
              <a:alpha val="25000"/>
            </a:srgbClr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5" name="Text 3"/>
          <p:cNvSpPr/>
          <p:nvPr/>
        </p:nvSpPr>
        <p:spPr>
          <a:xfrm>
            <a:off x="1508761" y="1193292"/>
            <a:ext cx="5943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Dziękujemy!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1531788" y="1984248"/>
            <a:ext cx="5943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14B8A6"/>
                </a:solidFill>
              </a:rPr>
              <a:t>Pytania i Dyskusja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2903388" y="2564892"/>
            <a:ext cx="3200400" cy="45720"/>
          </a:xfrm>
          <a:prstGeom prst="rect">
            <a:avLst/>
          </a:prstGeom>
          <a:solidFill>
            <a:srgbClr val="0D9488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8" name="Shape 6"/>
          <p:cNvSpPr/>
          <p:nvPr/>
        </p:nvSpPr>
        <p:spPr>
          <a:xfrm>
            <a:off x="640081" y="2898648"/>
            <a:ext cx="1737360" cy="1051560"/>
          </a:xfrm>
          <a:prstGeom prst="rect">
            <a:avLst/>
          </a:prstGeom>
          <a:solidFill>
            <a:srgbClr val="1E293B"/>
          </a:solidFill>
          <a:ln w="12700">
            <a:solidFill>
              <a:srgbClr val="CCCCCC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pl-PL"/>
          </a:p>
        </p:txBody>
      </p:sp>
      <p:sp>
        <p:nvSpPr>
          <p:cNvPr id="9" name="Text 7"/>
          <p:cNvSpPr/>
          <p:nvPr/>
        </p:nvSpPr>
        <p:spPr>
          <a:xfrm>
            <a:off x="685801" y="2944368"/>
            <a:ext cx="1645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4B8A6"/>
                </a:solidFill>
              </a:rPr>
              <a:t>3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685801" y="3474720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</a:rPr>
              <a:t>Fazy projektu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2651761" y="2898648"/>
            <a:ext cx="1737360" cy="1051560"/>
          </a:xfrm>
          <a:prstGeom prst="rect">
            <a:avLst/>
          </a:prstGeom>
          <a:solidFill>
            <a:srgbClr val="1E293B"/>
          </a:solidFill>
          <a:ln w="12700">
            <a:solidFill>
              <a:srgbClr val="CCCCCC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pl-PL"/>
          </a:p>
        </p:txBody>
      </p:sp>
      <p:sp>
        <p:nvSpPr>
          <p:cNvPr id="12" name="Text 10"/>
          <p:cNvSpPr/>
          <p:nvPr/>
        </p:nvSpPr>
        <p:spPr>
          <a:xfrm>
            <a:off x="2697481" y="2944368"/>
            <a:ext cx="1645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4B8A6"/>
                </a:solidFill>
              </a:rPr>
              <a:t>2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2697481" y="3474720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</a:rPr>
              <a:t>Architektury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663441" y="2898648"/>
            <a:ext cx="1737360" cy="1051560"/>
          </a:xfrm>
          <a:prstGeom prst="rect">
            <a:avLst/>
          </a:prstGeom>
          <a:solidFill>
            <a:srgbClr val="1E293B"/>
          </a:solidFill>
          <a:ln w="12700">
            <a:solidFill>
              <a:srgbClr val="CCCCCC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pl-PL"/>
          </a:p>
        </p:txBody>
      </p:sp>
      <p:sp>
        <p:nvSpPr>
          <p:cNvPr id="15" name="Text 13"/>
          <p:cNvSpPr/>
          <p:nvPr/>
        </p:nvSpPr>
        <p:spPr>
          <a:xfrm>
            <a:off x="4709161" y="2944368"/>
            <a:ext cx="1645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4B8A6"/>
                </a:solidFill>
              </a:rPr>
              <a:t>9 469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4709161" y="3474720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</a:rPr>
              <a:t>Próbek treningowych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6675121" y="2898648"/>
            <a:ext cx="1737360" cy="1051560"/>
          </a:xfrm>
          <a:prstGeom prst="rect">
            <a:avLst/>
          </a:prstGeom>
          <a:solidFill>
            <a:srgbClr val="1E293B"/>
          </a:solidFill>
          <a:ln w="12700">
            <a:solidFill>
              <a:srgbClr val="CCCCCC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pl-PL"/>
          </a:p>
        </p:txBody>
      </p:sp>
      <p:sp>
        <p:nvSpPr>
          <p:cNvPr id="18" name="Text 16"/>
          <p:cNvSpPr/>
          <p:nvPr/>
        </p:nvSpPr>
        <p:spPr>
          <a:xfrm>
            <a:off x="6720841" y="2944368"/>
            <a:ext cx="1645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4B8A6"/>
                </a:solidFill>
              </a:rPr>
              <a:t>ρ=0,558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6720841" y="3474720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</a:rPr>
              <a:t>Korelacja rang między-arch.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457200" y="41605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94A3B8"/>
                </a:solidFill>
              </a:rPr>
              <a:t>Artykuł: Agarwal, D'souza, Hooker — "Estimating Example Difficulty using Variance of Gradients" — arXiv:2008.11600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228601" y="4459335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 err="1">
                <a:solidFill>
                  <a:srgbClr val="5EEAD4"/>
                </a:solidFill>
              </a:rPr>
              <a:t>Kod</a:t>
            </a:r>
            <a:r>
              <a:rPr lang="pl-PL" sz="900" dirty="0">
                <a:solidFill>
                  <a:srgbClr val="5EEAD4"/>
                </a:solidFill>
              </a:rPr>
              <a:t> Badaczy</a:t>
            </a:r>
            <a:r>
              <a:rPr lang="en-US" sz="900" dirty="0">
                <a:solidFill>
                  <a:srgbClr val="5EEAD4"/>
                </a:solidFill>
              </a:rPr>
              <a:t>: https://github.com/chirag126/VOG.git  |  Strona: https://varianceofgradients.github.io/</a:t>
            </a:r>
            <a:endParaRPr lang="en-US" sz="900" dirty="0"/>
          </a:p>
        </p:txBody>
      </p:sp>
      <p:sp>
        <p:nvSpPr>
          <p:cNvPr id="23" name="pole tekstowe 22">
            <a:extLst>
              <a:ext uri="{FF2B5EF4-FFF2-40B4-BE49-F238E27FC236}">
                <a16:creationId xmlns:a16="http://schemas.microsoft.com/office/drawing/2014/main" id="{DF9E2873-C16B-AFC6-0057-D9E2E014CD8D}"/>
              </a:ext>
            </a:extLst>
          </p:cNvPr>
          <p:cNvSpPr txBox="1"/>
          <p:nvPr/>
        </p:nvSpPr>
        <p:spPr>
          <a:xfrm>
            <a:off x="2303354" y="4773773"/>
            <a:ext cx="4400467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l-PL" sz="900" dirty="0">
                <a:solidFill>
                  <a:srgbClr val="5EEAD4"/>
                </a:solidFill>
              </a:rPr>
              <a:t>Nasz k</a:t>
            </a:r>
            <a:r>
              <a:rPr lang="en-US" sz="900" dirty="0">
                <a:solidFill>
                  <a:srgbClr val="5EEAD4"/>
                </a:solidFill>
              </a:rPr>
              <a:t>od: https://</a:t>
            </a:r>
            <a:r>
              <a:rPr lang="en-US" sz="900" dirty="0" err="1">
                <a:solidFill>
                  <a:srgbClr val="5EEAD4"/>
                </a:solidFill>
              </a:rPr>
              <a:t>github.com</a:t>
            </a:r>
            <a:r>
              <a:rPr lang="en-US" sz="900" dirty="0">
                <a:solidFill>
                  <a:srgbClr val="5EEAD4"/>
                </a:solidFill>
              </a:rPr>
              <a:t>/</a:t>
            </a:r>
            <a:r>
              <a:rPr lang="en-US" sz="900" dirty="0" err="1">
                <a:solidFill>
                  <a:srgbClr val="5EEAD4"/>
                </a:solidFill>
              </a:rPr>
              <a:t>Fichey</a:t>
            </a:r>
            <a:r>
              <a:rPr lang="en-US" sz="900" dirty="0">
                <a:solidFill>
                  <a:srgbClr val="5EEAD4"/>
                </a:solidFill>
              </a:rPr>
              <a:t>/Impact-of-Data-Ranking-on-Training-Dynamics</a:t>
            </a:r>
            <a:endParaRPr lang="pl-PL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Motyw pakietu Office">
  <a:themeElements>
    <a:clrScheme name="Pakiet 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Pakiet 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Pakiet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133</TotalTime>
  <Words>1784</Words>
  <Application>Microsoft Office PowerPoint</Application>
  <PresentationFormat>Pokaz na ekranie (16:9)</PresentationFormat>
  <Paragraphs>297</Paragraphs>
  <Slides>15</Slides>
  <Notes>15</Notes>
  <HiddenSlides>0</HiddenSlides>
  <MMClips>0</MMClips>
  <ScaleCrop>false</ScaleCrop>
  <HeadingPairs>
    <vt:vector size="6" baseType="variant">
      <vt:variant>
        <vt:lpstr>Używane czcionki</vt:lpstr>
      </vt:variant>
      <vt:variant>
        <vt:i4>3</vt:i4>
      </vt:variant>
      <vt:variant>
        <vt:lpstr>Motyw</vt:lpstr>
      </vt:variant>
      <vt:variant>
        <vt:i4>1</vt:i4>
      </vt:variant>
      <vt:variant>
        <vt:lpstr>Tytuły slajdów</vt:lpstr>
      </vt:variant>
      <vt:variant>
        <vt:i4>15</vt:i4>
      </vt:variant>
    </vt:vector>
  </HeadingPairs>
  <TitlesOfParts>
    <vt:vector size="19" baseType="lpstr">
      <vt:lpstr>Arial</vt:lpstr>
      <vt:lpstr>Calibri</vt:lpstr>
      <vt:lpstr>Consolas</vt:lpstr>
      <vt:lpstr>Office Theme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Wpływ Rankingu Danych na Dynamikę Treningu</dc:title>
  <dc:subject>PptxGenJS Presentation</dc:subject>
  <dc:creator>PptxGenJS</dc:creator>
  <cp:lastModifiedBy>7505452 Polkowski Cezary</cp:lastModifiedBy>
  <cp:revision>3</cp:revision>
  <dcterms:created xsi:type="dcterms:W3CDTF">2026-06-01T13:35:55Z</dcterms:created>
  <dcterms:modified xsi:type="dcterms:W3CDTF">2026-06-01T23:48:00Z</dcterms:modified>
</cp:coreProperties>
</file>
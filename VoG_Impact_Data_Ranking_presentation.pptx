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2" r:id="rId14"/>
    <p:sldId id="273" r:id="rId15"/>
    <p:sldId id="274" r:id="rId16"/>
    <p:sldId id="269" r:id="rId17"/>
    <p:sldId id="270" r:id="rId18"/>
    <p:sldId id="271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02035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914400" y="1554480"/>
            <a:ext cx="10424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Wpływ rankingu danych VoG</a:t>
            </a:r>
            <a:endParaRPr lang="en-US" sz="4200" dirty="0"/>
          </a:p>
          <a:p>
            <a:pPr marL="0" indent="0" algn="ctr">
              <a:buNone/>
            </a:pPr>
            <a:r>
              <a:rPr lang="en-US" sz="4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dynamikę treningu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554480" y="3200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11827"/>
                </a:solidFill>
              </a:rPr>
              <a:t>Project 2: Impact of Data Ranking on Training Dynamics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97280" y="374904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B7280"/>
                </a:solidFill>
              </a:rPr>
              <a:t>Agarwal, D’souza, Hooker: Estimating Example Difficulty using Variance of Gradients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26080" y="4343400"/>
            <a:ext cx="6309360" cy="0"/>
          </a:xfrm>
          <a:prstGeom prst="line">
            <a:avLst/>
          </a:prstGeom>
          <a:noFill/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80" dirty="0"/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19DBAD23-6CF0-A5FD-8313-08A8CCAEC8A7}"/>
              </a:ext>
            </a:extLst>
          </p:cNvPr>
          <p:cNvSpPr txBox="1"/>
          <p:nvPr/>
        </p:nvSpPr>
        <p:spPr>
          <a:xfrm>
            <a:off x="3436219" y="5196957"/>
            <a:ext cx="5380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dirty="0"/>
              <a:t>Autorzy projektu: Cezary Polkowski, Karol Socha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Intuicja VoG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3504" y="85039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przykładów przez zmienność gradientów w trakcie uczenia.</a:t>
            </a:r>
            <a:endParaRPr lang="en-US" sz="1250" dirty="0"/>
          </a:p>
        </p:txBody>
      </p:sp>
      <p:pic>
        <p:nvPicPr>
          <p:cNvPr id="5" name="Image 0" descr="/mnt/data/presentation_assets/formula_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2435" y="1170432"/>
            <a:ext cx="4376651" cy="594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1920240"/>
            <a:ext cx="493776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" name="Shape 4"/>
          <p:cNvSpPr/>
          <p:nvPr/>
        </p:nvSpPr>
        <p:spPr>
          <a:xfrm>
            <a:off x="896112" y="2423160"/>
            <a:ext cx="4608576" cy="0"/>
          </a:xfrm>
          <a:prstGeom prst="line">
            <a:avLst/>
          </a:prstGeom>
          <a:noFill/>
          <a:ln w="254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8" name="Text 5"/>
          <p:cNvSpPr/>
          <p:nvPr/>
        </p:nvSpPr>
        <p:spPr>
          <a:xfrm>
            <a:off x="896112" y="2066544"/>
            <a:ext cx="4608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C55E"/>
                </a:solidFill>
              </a:rPr>
              <a:t>Low-VoG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96112" y="2633472"/>
            <a:ext cx="4608576" cy="2240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Gradienty stabilizują się szybko. Próbki są zwykle prototypowe, łatwiejsze i mogą być bardziej redundantne.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92240" y="1920240"/>
            <a:ext cx="493776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1" name="Shape 8"/>
          <p:cNvSpPr/>
          <p:nvPr/>
        </p:nvSpPr>
        <p:spPr>
          <a:xfrm>
            <a:off x="6656832" y="2423160"/>
            <a:ext cx="4608576" cy="0"/>
          </a:xfrm>
          <a:prstGeom prst="line">
            <a:avLst/>
          </a:prstGeom>
          <a:noFill/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2" name="Text 9"/>
          <p:cNvSpPr/>
          <p:nvPr/>
        </p:nvSpPr>
        <p:spPr>
          <a:xfrm>
            <a:off x="6656832" y="2066544"/>
            <a:ext cx="4608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</a:rPr>
              <a:t>High-VoG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656832" y="2633472"/>
            <a:ext cx="4608576" cy="2240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Gradienty zmieniają się silniej między checkpointami. Próbki są mniej typowe, trudniejsze lub bardziej informatywne.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080760" y="2011680"/>
            <a:ext cx="0" cy="2926080"/>
          </a:xfrm>
          <a:prstGeom prst="line">
            <a:avLst/>
          </a:prstGeom>
          <a:noFill/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5" name="Text 12"/>
          <p:cNvSpPr/>
          <p:nvPr/>
        </p:nvSpPr>
        <p:spPr>
          <a:xfrm>
            <a:off x="1005840" y="544068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dirty="0">
                <a:solidFill>
                  <a:srgbClr val="111827"/>
                </a:solidFill>
              </a:rPr>
              <a:t>W projekcie traktujemy VoG jako ranking ważności danych: sortujemy próbki i testujemy, jak podzbiory wpływają na wynik treningu.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VoG — </a:t>
            </a:r>
            <a:r>
              <a:rPr lang="pl-PL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definicja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417320"/>
            <a:ext cx="2834640" cy="658368"/>
          </a:xfrm>
          <a:prstGeom prst="roundRect">
            <a:avLst>
              <a:gd name="adj" fmla="val 11111"/>
            </a:avLst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/>
          <p:nvPr/>
        </p:nvSpPr>
        <p:spPr>
          <a:xfrm>
            <a:off x="941832" y="1609344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1. Gradient klasy</a:t>
            </a:r>
            <a:endParaRPr lang="en-US" sz="1300" dirty="0"/>
          </a:p>
        </p:txBody>
      </p:sp>
      <p:pic>
        <p:nvPicPr>
          <p:cNvPr id="7" name="Image 0" descr="/mnt/data/presentation_assets/formula_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0649" y="1389888"/>
            <a:ext cx="5251981" cy="71323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7240" y="2331720"/>
            <a:ext cx="2834640" cy="658368"/>
          </a:xfrm>
          <a:prstGeom prst="roundRect">
            <a:avLst>
              <a:gd name="adj" fmla="val 11111"/>
            </a:avLst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Text 6"/>
          <p:cNvSpPr/>
          <p:nvPr/>
        </p:nvSpPr>
        <p:spPr>
          <a:xfrm>
            <a:off x="941832" y="2523744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2. Średni gradient</a:t>
            </a:r>
            <a:endParaRPr lang="en-US" sz="1300" dirty="0"/>
          </a:p>
        </p:txBody>
      </p:sp>
      <p:pic>
        <p:nvPicPr>
          <p:cNvPr id="10" name="Image 1" descr="/mnt/data/presentation_assets/formula_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1989" y="2304288"/>
            <a:ext cx="3569302" cy="71323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7240" y="3337560"/>
            <a:ext cx="2834640" cy="658368"/>
          </a:xfrm>
          <a:prstGeom prst="roundRect">
            <a:avLst>
              <a:gd name="adj" fmla="val 11111"/>
            </a:avLst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2" name="Text 8"/>
          <p:cNvSpPr/>
          <p:nvPr/>
        </p:nvSpPr>
        <p:spPr>
          <a:xfrm>
            <a:off x="941832" y="3529584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3. Odchylenie po checkpointach</a:t>
            </a:r>
            <a:endParaRPr lang="en-US" sz="1300" dirty="0"/>
          </a:p>
        </p:txBody>
      </p:sp>
      <p:pic>
        <p:nvPicPr>
          <p:cNvPr id="13" name="Image 2" descr="/mnt/data/presentation_assets/formula_vog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8284" y="3310128"/>
            <a:ext cx="5436712" cy="713232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777240" y="4343400"/>
            <a:ext cx="2834640" cy="658368"/>
          </a:xfrm>
          <a:prstGeom prst="roundRect">
            <a:avLst>
              <a:gd name="adj" fmla="val 11111"/>
            </a:avLst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5" name="Text 10"/>
          <p:cNvSpPr/>
          <p:nvPr/>
        </p:nvSpPr>
        <p:spPr>
          <a:xfrm>
            <a:off x="941832" y="4535424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4. Agregacja po pikselach</a:t>
            </a:r>
            <a:endParaRPr lang="en-US" sz="1300" dirty="0"/>
          </a:p>
        </p:txBody>
      </p:sp>
      <p:pic>
        <p:nvPicPr>
          <p:cNvPr id="16" name="Image 3" descr="/mnt/data/presentation_assets/formula_vo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8274" y="4315968"/>
            <a:ext cx="3916732" cy="71323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eksperymentalny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3504" y="85039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Zgodnie z poleceniem projektu: baseline + porównanie podzbiorów + transfer architektury.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960120" y="1417320"/>
            <a:ext cx="2686507" cy="620486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/>
          <p:nvPr/>
        </p:nvSpPr>
        <p:spPr>
          <a:xfrm>
            <a:off x="1014984" y="1453896"/>
            <a:ext cx="2576779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</a:rPr>
              <a:t>Element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46627" y="1417320"/>
            <a:ext cx="7646213" cy="620486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3701491" y="1453896"/>
            <a:ext cx="7536485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</a:rPr>
              <a:t>Wartość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60120" y="2037806"/>
            <a:ext cx="2686507" cy="620486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/>
          <p:nvPr/>
        </p:nvSpPr>
        <p:spPr>
          <a:xfrm>
            <a:off x="1014984" y="2074382"/>
            <a:ext cx="2576779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11827"/>
                </a:solidFill>
              </a:rPr>
              <a:t>Dataset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46627" y="2037806"/>
            <a:ext cx="7646213" cy="620486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2" name="Text 10"/>
          <p:cNvSpPr/>
          <p:nvPr/>
        </p:nvSpPr>
        <p:spPr>
          <a:xfrm>
            <a:off x="3701491" y="2074382"/>
            <a:ext cx="7536485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11827"/>
                </a:solidFill>
              </a:rPr>
              <a:t>frgfm/imagenette: 9 469 train, 3 925 val, 10 klas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60120" y="2658291"/>
            <a:ext cx="2686507" cy="620486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1014984" y="2694867"/>
            <a:ext cx="2576779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11827"/>
                </a:solidFill>
              </a:rPr>
              <a:t>Ranking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46627" y="2658291"/>
            <a:ext cx="7646213" cy="620486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/>
          <p:nvPr/>
        </p:nvSpPr>
        <p:spPr>
          <a:xfrm>
            <a:off x="3701491" y="2694867"/>
            <a:ext cx="7536485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11827"/>
                </a:solidFill>
              </a:rPr>
              <a:t>VoG z 5 epok/checkpointów; pool gradientu 32×32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60120" y="3278777"/>
            <a:ext cx="2686507" cy="620486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8" name="Text 16"/>
          <p:cNvSpPr/>
          <p:nvPr/>
        </p:nvSpPr>
        <p:spPr>
          <a:xfrm>
            <a:off x="1014984" y="3315353"/>
            <a:ext cx="2576779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11827"/>
                </a:solidFill>
              </a:rPr>
              <a:t>Podzbiory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46627" y="3278777"/>
            <a:ext cx="7646213" cy="620486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0" name="Text 18"/>
          <p:cNvSpPr/>
          <p:nvPr/>
        </p:nvSpPr>
        <p:spPr>
          <a:xfrm>
            <a:off x="3701491" y="3315353"/>
            <a:ext cx="7536485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11827"/>
                </a:solidFill>
              </a:rPr>
              <a:t>Full, High-VoG 30%, Low-VoG 30%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60120" y="3899263"/>
            <a:ext cx="2686507" cy="620486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2" name="Text 20"/>
          <p:cNvSpPr/>
          <p:nvPr/>
        </p:nvSpPr>
        <p:spPr>
          <a:xfrm>
            <a:off x="1014984" y="3935839"/>
            <a:ext cx="2576779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11827"/>
                </a:solidFill>
              </a:rPr>
              <a:t>Phase 2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46627" y="3899263"/>
            <a:ext cx="7646213" cy="620486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4" name="Text 22"/>
          <p:cNvSpPr/>
          <p:nvPr/>
        </p:nvSpPr>
        <p:spPr>
          <a:xfrm>
            <a:off x="3701491" y="3935839"/>
            <a:ext cx="7536485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11827"/>
                </a:solidFill>
              </a:rPr>
              <a:t>ResNet50 IMAGENET1K_V2; Linear Probe i Fine-Tuning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60120" y="4519749"/>
            <a:ext cx="2686507" cy="620486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6" name="Text 24"/>
          <p:cNvSpPr/>
          <p:nvPr/>
        </p:nvSpPr>
        <p:spPr>
          <a:xfrm>
            <a:off x="1014984" y="4556325"/>
            <a:ext cx="2576779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11827"/>
                </a:solidFill>
              </a:rPr>
              <a:t>Phase 3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46627" y="4519749"/>
            <a:ext cx="7646213" cy="620486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8" name="Text 26"/>
          <p:cNvSpPr/>
          <p:nvPr/>
        </p:nvSpPr>
        <p:spPr>
          <a:xfrm>
            <a:off x="3701491" y="4556325"/>
            <a:ext cx="7536485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11827"/>
                </a:solidFill>
              </a:rPr>
              <a:t>ConvNeXt-Base; Linear Probe pretrained + Fine-Tuning from scratch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60120" y="5140234"/>
            <a:ext cx="2686507" cy="620486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0" name="Text 28"/>
          <p:cNvSpPr/>
          <p:nvPr/>
        </p:nvSpPr>
        <p:spPr>
          <a:xfrm>
            <a:off x="1014984" y="5176810"/>
            <a:ext cx="2576779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11827"/>
                </a:solidFill>
              </a:rPr>
              <a:t>Metryki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46627" y="5140234"/>
            <a:ext cx="7646213" cy="620486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2" name="Text 30"/>
          <p:cNvSpPr/>
          <p:nvPr/>
        </p:nvSpPr>
        <p:spPr>
          <a:xfrm>
            <a:off x="3701491" y="5176810"/>
            <a:ext cx="7536485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11827"/>
                </a:solidFill>
              </a:rPr>
              <a:t>Accuracy, error, Spearman ρ, Pearson r, overlap Top-k, per-class ρ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60120" y="59893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11827"/>
                </a:solidFill>
              </a:rPr>
              <a:t>Najważniejsze porównanie: czy High-VoG zachowuje więcej informacji niż Low-VoG przy tym samym budżecie danych?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ranking ResNet50 rozdziela typy próbek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3504" y="85039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Przykłady z notebooka pokazują, że skrajne wartości VoG często odpowiadają wizualnie innym przypadkom.</a:t>
            </a:r>
            <a:endParaRPr lang="en-US" sz="1250" dirty="0"/>
          </a:p>
        </p:txBody>
      </p:sp>
      <p:pic>
        <p:nvPicPr>
          <p:cNvPr id="5" name="Image 0" descr="/mnt/data/presentation_assets/vog_examp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12866"/>
            <a:ext cx="11201400" cy="45694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60120" y="5989320"/>
            <a:ext cx="10241280" cy="347472"/>
          </a:xfrm>
          <a:prstGeom prst="roundRect">
            <a:avLst>
              <a:gd name="adj" fmla="val 21053"/>
            </a:avLst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" name="Text 4"/>
          <p:cNvSpPr/>
          <p:nvPr/>
        </p:nvSpPr>
        <p:spPr>
          <a:xfrm>
            <a:off x="1097280" y="6062472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11827"/>
                </a:solidFill>
              </a:rPr>
              <a:t>Interpretacja: High-VoG częściej wskazuje przykłady nietypowe, z mniejszym obiektem, trudniejszym tłem lub mniejszym kontrastem.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High-VoG 30% prawie dorównuje pełnemu zbiorowi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3504" y="85039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ResNet50: ten sam budżet danych, ale różne podzbiory według rankingu VoG.</a:t>
            </a:r>
            <a:endParaRPr lang="en-US" sz="1250" dirty="0"/>
          </a:p>
        </p:txBody>
      </p:sp>
      <p:pic>
        <p:nvPicPr>
          <p:cNvPr id="5" name="Image 0" descr="/mnt/data/presentation_assets/phase2_accuracy_ref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07186"/>
            <a:ext cx="10881360" cy="366989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43000" y="571500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" name="Text 4"/>
          <p:cNvSpPr/>
          <p:nvPr/>
        </p:nvSpPr>
        <p:spPr>
          <a:xfrm>
            <a:off x="1216152" y="5824728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F4444"/>
                </a:solidFill>
              </a:rPr>
              <a:t>-0.08 pp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1216152" y="6281928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High vs Full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Linear Probe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657600" y="571500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0" name="Text 7"/>
          <p:cNvSpPr/>
          <p:nvPr/>
        </p:nvSpPr>
        <p:spPr>
          <a:xfrm>
            <a:off x="3730752" y="5824728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2C55E"/>
                </a:solidFill>
              </a:rPr>
              <a:t>-2.80 pp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3730752" y="6281928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Low vs Full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Linear Probe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72200" y="571500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3" name="Text 10"/>
          <p:cNvSpPr/>
          <p:nvPr/>
        </p:nvSpPr>
        <p:spPr>
          <a:xfrm>
            <a:off x="6245352" y="5824728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F4444"/>
                </a:solidFill>
              </a:rPr>
              <a:t>-0.31 pp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245352" y="6281928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High vs Full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Fine-Tuning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686800" y="571500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6" name="Text 13"/>
          <p:cNvSpPr/>
          <p:nvPr/>
        </p:nvSpPr>
        <p:spPr>
          <a:xfrm>
            <a:off x="8759952" y="5824728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2C55E"/>
                </a:solidFill>
              </a:rPr>
              <a:t>-7.64 pp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8759952" y="6281928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Low vs Full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Fine-Tuning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VoG selekcjonuje próbki niosące sygnał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3504" y="85039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decylowa i Top-k: wynik zbliżony do pełnego zbioru już przy Top 30%.</a:t>
            </a:r>
            <a:endParaRPr lang="en-US" sz="1250" dirty="0"/>
          </a:p>
        </p:txBody>
      </p:sp>
      <p:pic>
        <p:nvPicPr>
          <p:cNvPr id="5" name="Image 0" descr="/mnt/data/presentation_assets/phase2_effectiveness_ref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570924"/>
            <a:ext cx="11018520" cy="37161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592531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30" dirty="0" err="1">
                <a:solidFill>
                  <a:srgbClr val="111827"/>
                </a:solidFill>
              </a:rPr>
              <a:t>Wniosek</a:t>
            </a:r>
            <a:r>
              <a:rPr lang="en-US" sz="1330" dirty="0">
                <a:solidFill>
                  <a:srgbClr val="111827"/>
                </a:solidFill>
              </a:rPr>
              <a:t>: niski VoG daje znacznie gorszy sygnał treningowy, a najwyższe percentyle są najcenniejsze przy ograniczonym budżecie danych.</a:t>
            </a:r>
            <a:endParaRPr lang="en-US" sz="1330" dirty="0"/>
          </a:p>
        </p:txBody>
      </p:sp>
      <p:sp>
        <p:nvSpPr>
          <p:cNvPr id="8" name="Text 5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transfer i uniwersalność VoG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3504" y="85039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Sprawdzamy, czy ranking z jednej architektury pozostaje użyteczny dla innej.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68680" y="1463040"/>
            <a:ext cx="2834640" cy="960120"/>
          </a:xfrm>
          <a:prstGeom prst="roundRect">
            <a:avLst>
              <a:gd name="adj" fmla="val 7619"/>
            </a:avLst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/>
          <p:nvPr/>
        </p:nvSpPr>
        <p:spPr>
          <a:xfrm>
            <a:off x="1005840" y="170078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</a:rPr>
              <a:t>ResNet50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</a:rPr>
              <a:t>ranking VoG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886200" y="1938528"/>
            <a:ext cx="114300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l-PL"/>
          </a:p>
        </p:txBody>
      </p:sp>
      <p:sp>
        <p:nvSpPr>
          <p:cNvPr id="8" name="Shape 6"/>
          <p:cNvSpPr/>
          <p:nvPr/>
        </p:nvSpPr>
        <p:spPr>
          <a:xfrm>
            <a:off x="5212080" y="14630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5349240" y="170078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F4444"/>
                </a:solidFill>
              </a:rPr>
              <a:t>High 30%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EF4444"/>
                </a:solidFill>
              </a:rPr>
              <a:t>Low 30%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406640" y="1938528"/>
            <a:ext cx="114300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l-PL"/>
          </a:p>
        </p:txBody>
      </p:sp>
      <p:sp>
        <p:nvSpPr>
          <p:cNvPr id="11" name="Shape 9"/>
          <p:cNvSpPr/>
          <p:nvPr/>
        </p:nvSpPr>
        <p:spPr>
          <a:xfrm>
            <a:off x="8732520" y="146304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5F3FF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2" name="Text 10"/>
          <p:cNvSpPr/>
          <p:nvPr/>
        </p:nvSpPr>
        <p:spPr>
          <a:xfrm>
            <a:off x="8869680" y="170078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B5CF6"/>
                </a:solidFill>
              </a:rPr>
              <a:t>ConvNeXt-Base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8B5CF6"/>
                </a:solidFill>
              </a:rPr>
              <a:t>training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820924" y="2928927"/>
            <a:ext cx="2674620" cy="7924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 dirty="0"/>
          </a:p>
        </p:txBody>
      </p:sp>
      <p:sp>
        <p:nvSpPr>
          <p:cNvPr id="14" name="Text 12"/>
          <p:cNvSpPr/>
          <p:nvPr/>
        </p:nvSpPr>
        <p:spPr>
          <a:xfrm>
            <a:off x="2875788" y="2965503"/>
            <a:ext cx="2564892" cy="719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111827"/>
                </a:solidFill>
              </a:rPr>
              <a:t>Część Phase 3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5495544" y="2935570"/>
            <a:ext cx="3703320" cy="7924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 dirty="0"/>
          </a:p>
        </p:txBody>
      </p:sp>
      <p:sp>
        <p:nvSpPr>
          <p:cNvPr id="18" name="Text 16"/>
          <p:cNvSpPr/>
          <p:nvPr/>
        </p:nvSpPr>
        <p:spPr>
          <a:xfrm>
            <a:off x="5550408" y="2965503"/>
            <a:ext cx="3593592" cy="719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111827"/>
                </a:solidFill>
              </a:rPr>
              <a:t>Dlaczego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2820924" y="3721407"/>
            <a:ext cx="2674620" cy="79248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0" name="Text 18"/>
          <p:cNvSpPr/>
          <p:nvPr/>
        </p:nvSpPr>
        <p:spPr>
          <a:xfrm>
            <a:off x="2875788" y="3757983"/>
            <a:ext cx="2564892" cy="719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11827"/>
                </a:solidFill>
              </a:rPr>
              <a:t>Linear Probe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5495544" y="3721407"/>
            <a:ext cx="3703320" cy="79248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 dirty="0"/>
          </a:p>
        </p:txBody>
      </p:sp>
      <p:sp>
        <p:nvSpPr>
          <p:cNvPr id="24" name="Text 22"/>
          <p:cNvSpPr/>
          <p:nvPr/>
        </p:nvSpPr>
        <p:spPr>
          <a:xfrm>
            <a:off x="5550408" y="3775237"/>
            <a:ext cx="3593592" cy="719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11827"/>
                </a:solidFill>
              </a:rPr>
              <a:t>izoluje transfer rankingu przy silnych cechach ImageNet</a:t>
            </a:r>
            <a:endParaRPr lang="en-US" sz="1220" dirty="0"/>
          </a:p>
        </p:txBody>
      </p:sp>
      <p:sp>
        <p:nvSpPr>
          <p:cNvPr id="25" name="Shape 23"/>
          <p:cNvSpPr/>
          <p:nvPr/>
        </p:nvSpPr>
        <p:spPr>
          <a:xfrm>
            <a:off x="2820924" y="4513887"/>
            <a:ext cx="2674620" cy="79248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6" name="Text 24"/>
          <p:cNvSpPr/>
          <p:nvPr/>
        </p:nvSpPr>
        <p:spPr>
          <a:xfrm>
            <a:off x="2875788" y="4550463"/>
            <a:ext cx="2564892" cy="719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11827"/>
                </a:solidFill>
              </a:rPr>
              <a:t>Fine-Tuning</a:t>
            </a:r>
            <a:endParaRPr lang="en-US" sz="1220" dirty="0"/>
          </a:p>
        </p:txBody>
      </p:sp>
      <p:sp>
        <p:nvSpPr>
          <p:cNvPr id="29" name="Shape 27"/>
          <p:cNvSpPr/>
          <p:nvPr/>
        </p:nvSpPr>
        <p:spPr>
          <a:xfrm>
            <a:off x="5495544" y="4513887"/>
            <a:ext cx="3703320" cy="79248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0" name="Text 28"/>
          <p:cNvSpPr/>
          <p:nvPr/>
        </p:nvSpPr>
        <p:spPr>
          <a:xfrm>
            <a:off x="5550408" y="4550463"/>
            <a:ext cx="3593592" cy="719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11827"/>
                </a:solidFill>
              </a:rPr>
              <a:t>trudniejszy test: model musi nauczyć reprezentacje od zera</a:t>
            </a:r>
            <a:endParaRPr lang="en-US" sz="1220" dirty="0"/>
          </a:p>
        </p:txBody>
      </p:sp>
      <p:sp>
        <p:nvSpPr>
          <p:cNvPr id="33" name="Text 31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Linear Probe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3504" y="85039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ConvNeXt-Base pretrained: wszystkie podzbiory osiągają prawie 100% accuracy.</a:t>
            </a:r>
            <a:endParaRPr lang="en-US" sz="1250" dirty="0"/>
          </a:p>
        </p:txBody>
      </p:sp>
      <p:pic>
        <p:nvPicPr>
          <p:cNvPr id="5" name="Image 0" descr="/mnt/data/presentation_assets/phase3_linear_probe_pretrained_ref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46896"/>
            <a:ext cx="7040880" cy="35984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001000" y="1325880"/>
            <a:ext cx="1448410" cy="6324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" name="Text 4"/>
          <p:cNvSpPr/>
          <p:nvPr/>
        </p:nvSpPr>
        <p:spPr>
          <a:xfrm>
            <a:off x="8055864" y="1362456"/>
            <a:ext cx="1338682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11827"/>
                </a:solidFill>
              </a:rPr>
              <a:t>Subset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449410" y="1325880"/>
            <a:ext cx="921715" cy="6324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Text 6"/>
          <p:cNvSpPr/>
          <p:nvPr/>
        </p:nvSpPr>
        <p:spPr>
          <a:xfrm>
            <a:off x="9504274" y="136245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</a:rPr>
              <a:t>LP acc.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371125" y="1325880"/>
            <a:ext cx="921715" cy="6324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1" name="Text 8"/>
          <p:cNvSpPr/>
          <p:nvPr/>
        </p:nvSpPr>
        <p:spPr>
          <a:xfrm>
            <a:off x="10425989" y="136245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</a:rPr>
              <a:t>Δ vs Full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01000" y="1958340"/>
            <a:ext cx="1448410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3" name="Text 10"/>
          <p:cNvSpPr/>
          <p:nvPr/>
        </p:nvSpPr>
        <p:spPr>
          <a:xfrm>
            <a:off x="8055864" y="1994916"/>
            <a:ext cx="1338682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</a:rPr>
              <a:t>Full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449410" y="1958340"/>
            <a:ext cx="921715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5" name="Text 12"/>
          <p:cNvSpPr/>
          <p:nvPr/>
        </p:nvSpPr>
        <p:spPr>
          <a:xfrm>
            <a:off x="9504274" y="199491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99.97%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0371125" y="1958340"/>
            <a:ext cx="921715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7" name="Text 14"/>
          <p:cNvSpPr/>
          <p:nvPr/>
        </p:nvSpPr>
        <p:spPr>
          <a:xfrm>
            <a:off x="10425989" y="199491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+0.00 pp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001000" y="2590800"/>
            <a:ext cx="1448410" cy="63246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9" name="Text 16"/>
          <p:cNvSpPr/>
          <p:nvPr/>
        </p:nvSpPr>
        <p:spPr>
          <a:xfrm>
            <a:off x="8055864" y="2627376"/>
            <a:ext cx="1338682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</a:rPr>
              <a:t>High-VoG R50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9449410" y="2590800"/>
            <a:ext cx="921715" cy="63246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1" name="Text 18"/>
          <p:cNvSpPr/>
          <p:nvPr/>
        </p:nvSpPr>
        <p:spPr>
          <a:xfrm>
            <a:off x="9504274" y="262737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99.97%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371125" y="2590800"/>
            <a:ext cx="921715" cy="63246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3" name="Text 20"/>
          <p:cNvSpPr/>
          <p:nvPr/>
        </p:nvSpPr>
        <p:spPr>
          <a:xfrm>
            <a:off x="10425989" y="262737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+0.00 pp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001000" y="3223260"/>
            <a:ext cx="1448410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5" name="Text 22"/>
          <p:cNvSpPr/>
          <p:nvPr/>
        </p:nvSpPr>
        <p:spPr>
          <a:xfrm>
            <a:off x="8055864" y="3259836"/>
            <a:ext cx="1338682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</a:rPr>
              <a:t>Low-VoG R50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9449410" y="3223260"/>
            <a:ext cx="921715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7" name="Text 24"/>
          <p:cNvSpPr/>
          <p:nvPr/>
        </p:nvSpPr>
        <p:spPr>
          <a:xfrm>
            <a:off x="9504274" y="325983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99.90%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10371125" y="3223260"/>
            <a:ext cx="921715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9" name="Text 26"/>
          <p:cNvSpPr/>
          <p:nvPr/>
        </p:nvSpPr>
        <p:spPr>
          <a:xfrm>
            <a:off x="10425989" y="325983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-0.08 pp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8001000" y="3855720"/>
            <a:ext cx="1448410" cy="63246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1" name="Text 28"/>
          <p:cNvSpPr/>
          <p:nvPr/>
        </p:nvSpPr>
        <p:spPr>
          <a:xfrm>
            <a:off x="8055864" y="3892296"/>
            <a:ext cx="1338682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</a:rPr>
              <a:t>High-VoG CNX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9449410" y="3855720"/>
            <a:ext cx="921715" cy="63246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3" name="Text 30"/>
          <p:cNvSpPr/>
          <p:nvPr/>
        </p:nvSpPr>
        <p:spPr>
          <a:xfrm>
            <a:off x="9504274" y="389229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99.97%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10371125" y="3855720"/>
            <a:ext cx="921715" cy="63246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5" name="Text 32"/>
          <p:cNvSpPr/>
          <p:nvPr/>
        </p:nvSpPr>
        <p:spPr>
          <a:xfrm>
            <a:off x="10425989" y="389229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+0.00 pp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8001000" y="4488180"/>
            <a:ext cx="1448410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7" name="Text 34"/>
          <p:cNvSpPr/>
          <p:nvPr/>
        </p:nvSpPr>
        <p:spPr>
          <a:xfrm>
            <a:off x="8055864" y="4524756"/>
            <a:ext cx="1338682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</a:rPr>
              <a:t>Low-VoG CNX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449410" y="4488180"/>
            <a:ext cx="921715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9" name="Text 36"/>
          <p:cNvSpPr/>
          <p:nvPr/>
        </p:nvSpPr>
        <p:spPr>
          <a:xfrm>
            <a:off x="9504274" y="452475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99.92%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10371125" y="4488180"/>
            <a:ext cx="921715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1" name="Text 38"/>
          <p:cNvSpPr/>
          <p:nvPr/>
        </p:nvSpPr>
        <p:spPr>
          <a:xfrm>
            <a:off x="10425989" y="452475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-0.05 pp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Fine-Tuning </a:t>
            </a:r>
            <a:r>
              <a:rPr lang="pl-PL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 zera</a:t>
            </a: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High-VoG &gt; Low-VoG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3504" y="85039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ConvNeXt-Base uczony od zera: pełny zbiór wygrywa, ale ranking VoG zachowuje sygnał selekcji.</a:t>
            </a:r>
            <a:endParaRPr lang="en-US" sz="1250" dirty="0"/>
          </a:p>
        </p:txBody>
      </p:sp>
      <p:pic>
        <p:nvPicPr>
          <p:cNvPr id="5" name="Image 0" descr="/mnt/data/presentation_assets/phase3_finetuning_scratch_ref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46896"/>
            <a:ext cx="7040880" cy="35984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001000" y="1325880"/>
            <a:ext cx="1448410" cy="6324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" name="Text 4"/>
          <p:cNvSpPr/>
          <p:nvPr/>
        </p:nvSpPr>
        <p:spPr>
          <a:xfrm>
            <a:off x="8055864" y="1362456"/>
            <a:ext cx="1338682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11827"/>
                </a:solidFill>
              </a:rPr>
              <a:t>Subset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449410" y="1325880"/>
            <a:ext cx="921715" cy="6324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Text 6"/>
          <p:cNvSpPr/>
          <p:nvPr/>
        </p:nvSpPr>
        <p:spPr>
          <a:xfrm>
            <a:off x="9504274" y="136245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</a:rPr>
              <a:t>FT acc.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371125" y="1325880"/>
            <a:ext cx="921715" cy="6324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1" name="Text 8"/>
          <p:cNvSpPr/>
          <p:nvPr/>
        </p:nvSpPr>
        <p:spPr>
          <a:xfrm>
            <a:off x="10425989" y="136245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</a:rPr>
              <a:t>Δ vs Full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01000" y="1958340"/>
            <a:ext cx="1448410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3" name="Text 10"/>
          <p:cNvSpPr/>
          <p:nvPr/>
        </p:nvSpPr>
        <p:spPr>
          <a:xfrm>
            <a:off x="8055864" y="1994916"/>
            <a:ext cx="1338682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</a:rPr>
              <a:t>Full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449410" y="1958340"/>
            <a:ext cx="921715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5" name="Text 12"/>
          <p:cNvSpPr/>
          <p:nvPr/>
        </p:nvSpPr>
        <p:spPr>
          <a:xfrm>
            <a:off x="9504274" y="199491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42.19%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0371125" y="1958340"/>
            <a:ext cx="921715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7" name="Text 14"/>
          <p:cNvSpPr/>
          <p:nvPr/>
        </p:nvSpPr>
        <p:spPr>
          <a:xfrm>
            <a:off x="10425989" y="199491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+0.00 pp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001000" y="2590800"/>
            <a:ext cx="1448410" cy="63246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9" name="Text 16"/>
          <p:cNvSpPr/>
          <p:nvPr/>
        </p:nvSpPr>
        <p:spPr>
          <a:xfrm>
            <a:off x="8055864" y="2627376"/>
            <a:ext cx="1338682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</a:rPr>
              <a:t>High-VoG R50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9449410" y="2590800"/>
            <a:ext cx="921715" cy="63246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1" name="Text 18"/>
          <p:cNvSpPr/>
          <p:nvPr/>
        </p:nvSpPr>
        <p:spPr>
          <a:xfrm>
            <a:off x="9504274" y="262737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35.57%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371125" y="2590800"/>
            <a:ext cx="921715" cy="63246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3" name="Text 20"/>
          <p:cNvSpPr/>
          <p:nvPr/>
        </p:nvSpPr>
        <p:spPr>
          <a:xfrm>
            <a:off x="10425989" y="262737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-6.62 pp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001000" y="3223260"/>
            <a:ext cx="1448410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5" name="Text 22"/>
          <p:cNvSpPr/>
          <p:nvPr/>
        </p:nvSpPr>
        <p:spPr>
          <a:xfrm>
            <a:off x="8055864" y="3259836"/>
            <a:ext cx="1338682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</a:rPr>
              <a:t>Low-VoG R50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9449410" y="3223260"/>
            <a:ext cx="921715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7" name="Text 24"/>
          <p:cNvSpPr/>
          <p:nvPr/>
        </p:nvSpPr>
        <p:spPr>
          <a:xfrm>
            <a:off x="9504274" y="325983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17.86%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10371125" y="3223260"/>
            <a:ext cx="921715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9" name="Text 26"/>
          <p:cNvSpPr/>
          <p:nvPr/>
        </p:nvSpPr>
        <p:spPr>
          <a:xfrm>
            <a:off x="10425989" y="325983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-24.33 pp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8001000" y="3855720"/>
            <a:ext cx="1448410" cy="63246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1" name="Text 28"/>
          <p:cNvSpPr/>
          <p:nvPr/>
        </p:nvSpPr>
        <p:spPr>
          <a:xfrm>
            <a:off x="8055864" y="3892296"/>
            <a:ext cx="1338682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</a:rPr>
              <a:t>High-VoG CNX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9449410" y="3855720"/>
            <a:ext cx="921715" cy="63246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3" name="Text 30"/>
          <p:cNvSpPr/>
          <p:nvPr/>
        </p:nvSpPr>
        <p:spPr>
          <a:xfrm>
            <a:off x="9504274" y="389229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35.85%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10371125" y="3855720"/>
            <a:ext cx="921715" cy="63246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5" name="Text 32"/>
          <p:cNvSpPr/>
          <p:nvPr/>
        </p:nvSpPr>
        <p:spPr>
          <a:xfrm>
            <a:off x="10425989" y="389229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-6.34 pp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8001000" y="4488180"/>
            <a:ext cx="1448410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7" name="Text 34"/>
          <p:cNvSpPr/>
          <p:nvPr/>
        </p:nvSpPr>
        <p:spPr>
          <a:xfrm>
            <a:off x="8055864" y="4524756"/>
            <a:ext cx="1338682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</a:rPr>
              <a:t>Low-VoG CNX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449410" y="4488180"/>
            <a:ext cx="921715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9" name="Text 36"/>
          <p:cNvSpPr/>
          <p:nvPr/>
        </p:nvSpPr>
        <p:spPr>
          <a:xfrm>
            <a:off x="9504274" y="452475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18.01%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10371125" y="4488180"/>
            <a:ext cx="921715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1" name="Text 38"/>
          <p:cNvSpPr/>
          <p:nvPr/>
        </p:nvSpPr>
        <p:spPr>
          <a:xfrm>
            <a:off x="10425989" y="452475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-24.18 pp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Czy ranking VoG jest uniwersalny między architekturami?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3504" y="85039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Spójność ResNet50 ↔ ConvNeXt jest wyraźnie większa przy modelach pretrained.</a:t>
            </a:r>
            <a:endParaRPr lang="en-US" sz="1250" dirty="0"/>
          </a:p>
        </p:txBody>
      </p:sp>
      <p:pic>
        <p:nvPicPr>
          <p:cNvPr id="5" name="Image 0" descr="/mnt/data/presentation_assets/consistency_pretrained_vs_scratch_ref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25921"/>
            <a:ext cx="8412480" cy="391471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55480" y="1325880"/>
            <a:ext cx="16459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" name="Text 4"/>
          <p:cNvSpPr/>
          <p:nvPr/>
        </p:nvSpPr>
        <p:spPr>
          <a:xfrm>
            <a:off x="9628632" y="143560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8B5CF6"/>
                </a:solidFill>
              </a:rPr>
              <a:t>0.56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9628632" y="189280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Spearman ρ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pretrained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9555480" y="2331720"/>
            <a:ext cx="16459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0" name="Text 7"/>
          <p:cNvSpPr/>
          <p:nvPr/>
        </p:nvSpPr>
        <p:spPr>
          <a:xfrm>
            <a:off x="9628632" y="244144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8B5CF6"/>
                </a:solidFill>
              </a:rPr>
              <a:t>64.6%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9628632" y="289864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Top-30% overlap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pretrained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9555480" y="3429000"/>
            <a:ext cx="16459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3" name="Text 10"/>
          <p:cNvSpPr/>
          <p:nvPr/>
        </p:nvSpPr>
        <p:spPr>
          <a:xfrm>
            <a:off x="9628632" y="353872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6B7280"/>
                </a:solidFill>
              </a:rPr>
              <a:t>0.27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9628632" y="399592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Spearman ρ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from scratch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9555480" y="4434840"/>
            <a:ext cx="16459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6" name="Text 13"/>
          <p:cNvSpPr/>
          <p:nvPr/>
        </p:nvSpPr>
        <p:spPr>
          <a:xfrm>
            <a:off x="9628632" y="454456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6B7280"/>
                </a:solidFill>
              </a:rPr>
              <a:t>38.9%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9628632" y="500176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Top-30% overlap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from scratch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Najważniejszy wzorzec wyników: High-VoG &gt; Low-VoG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3504" y="85039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Różnica High–Low pojawia się w kilku wariantach, nawet gdy full dataset pozostaje najlepszy.</a:t>
            </a:r>
            <a:endParaRPr lang="en-US" sz="1250" dirty="0"/>
          </a:p>
        </p:txBody>
      </p:sp>
      <p:pic>
        <p:nvPicPr>
          <p:cNvPr id="5" name="Image 0" descr="/mnt/data/presentation_assets/high_low_gap_summary_ref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997" y="1234440"/>
            <a:ext cx="10704967" cy="4160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43000" y="5650992"/>
            <a:ext cx="9875520" cy="530352"/>
          </a:xfrm>
          <a:prstGeom prst="roundRect">
            <a:avLst>
              <a:gd name="adj" fmla="val 13793"/>
            </a:avLst>
          </a:prstGeom>
          <a:solidFill>
            <a:srgbClr val="F9FAFB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" name="Text 4"/>
          <p:cNvSpPr/>
          <p:nvPr/>
        </p:nvSpPr>
        <p:spPr>
          <a:xfrm>
            <a:off x="1325880" y="5797296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11827"/>
                </a:solidFill>
              </a:rPr>
              <a:t>Najmocniejszy dowód dla hipotezy: Low-VoG przy takim samym budżecie danych jest konsekwentnie słabszy, szczególnie w Fine-Tuningu.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az 1">
            <a:extLst>
              <a:ext uri="{FF2B5EF4-FFF2-40B4-BE49-F238E27FC236}">
                <a16:creationId xmlns:a16="http://schemas.microsoft.com/office/drawing/2014/main" id="{8CA9FDB4-BD61-9DB4-5ECB-07C14167F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927" y="1240644"/>
            <a:ext cx="9074847" cy="3379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2704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az 2">
            <a:extLst>
              <a:ext uri="{FF2B5EF4-FFF2-40B4-BE49-F238E27FC236}">
                <a16:creationId xmlns:a16="http://schemas.microsoft.com/office/drawing/2014/main" id="{75AF213E-3226-6A9A-5E51-ED9689A18B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232" y="0"/>
            <a:ext cx="974353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8978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az 2">
            <a:extLst>
              <a:ext uri="{FF2B5EF4-FFF2-40B4-BE49-F238E27FC236}">
                <a16:creationId xmlns:a16="http://schemas.microsoft.com/office/drawing/2014/main" id="{694B3155-DBAF-E4A5-CC6B-45C797E2EE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232" y="0"/>
            <a:ext cx="974353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3233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Hipotezy z artykułu vs nasze wyniki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3504" y="85039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Czy wyniki z projektu potwierdzają zamysł VoG?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Hipoteza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663440" y="1234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Ocena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766560" y="12344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Dowód z projektu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1600200"/>
            <a:ext cx="3749040" cy="804672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889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932688" y="1719072"/>
            <a:ext cx="3429000" cy="51206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111827"/>
                </a:solidFill>
              </a:rPr>
              <a:t>High-VoG oznacza próbki trudniejsze / bardziej informatywne</a:t>
            </a:r>
            <a:endParaRPr lang="en-US" sz="1140" dirty="0"/>
          </a:p>
        </p:txBody>
      </p:sp>
      <p:sp>
        <p:nvSpPr>
          <p:cNvPr id="10" name="Shape 8"/>
          <p:cNvSpPr/>
          <p:nvPr/>
        </p:nvSpPr>
        <p:spPr>
          <a:xfrm>
            <a:off x="4709160" y="1600200"/>
            <a:ext cx="160020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24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1" name="Text 9"/>
          <p:cNvSpPr/>
          <p:nvPr/>
        </p:nvSpPr>
        <p:spPr>
          <a:xfrm>
            <a:off x="4782312" y="1691640"/>
            <a:ext cx="1453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C55E"/>
                </a:solidFill>
              </a:rPr>
              <a:t>TAK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55464" y="2039112"/>
            <a:ext cx="1307592" cy="2926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6629400" y="1600200"/>
            <a:ext cx="4663440" cy="804672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889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6784848" y="1700784"/>
            <a:ext cx="4343400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111827"/>
                </a:solidFill>
              </a:rPr>
              <a:t>Phase 2: High 30% ≈ Full; Low 30% dużo słabszy. Decyle o wyższym VoG mają niższy error.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77240" y="2606040"/>
            <a:ext cx="3749040" cy="804672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889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/>
          <p:nvPr/>
        </p:nvSpPr>
        <p:spPr>
          <a:xfrm>
            <a:off x="932688" y="2724912"/>
            <a:ext cx="3429000" cy="51206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111827"/>
                </a:solidFill>
              </a:rPr>
              <a:t>Ranking pozwala ograniczyć dane bez dużej straty jakości</a:t>
            </a:r>
            <a:endParaRPr lang="en-US" sz="1140" dirty="0"/>
          </a:p>
        </p:txBody>
      </p:sp>
      <p:sp>
        <p:nvSpPr>
          <p:cNvPr id="17" name="Shape 15"/>
          <p:cNvSpPr/>
          <p:nvPr/>
        </p:nvSpPr>
        <p:spPr>
          <a:xfrm>
            <a:off x="4709160" y="2606040"/>
            <a:ext cx="160020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8" name="Text 16"/>
          <p:cNvSpPr/>
          <p:nvPr/>
        </p:nvSpPr>
        <p:spPr>
          <a:xfrm>
            <a:off x="4782312" y="2697480"/>
            <a:ext cx="1453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</a:rPr>
              <a:t>CZĘŚCIOWO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55464" y="3044952"/>
            <a:ext cx="1307592" cy="2926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6629400" y="2606040"/>
            <a:ext cx="4663440" cy="804672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889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1" name="Text 19"/>
          <p:cNvSpPr/>
          <p:nvPr/>
        </p:nvSpPr>
        <p:spPr>
          <a:xfrm>
            <a:off x="6784848" y="2706624"/>
            <a:ext cx="4343400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111827"/>
                </a:solidFill>
              </a:rPr>
              <a:t>Top 30% w ResNet50 osiąga wynik bliski full; przy ConvNeXt from scratch full dataset nadal wyraźnie najlepszy.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777240" y="3611880"/>
            <a:ext cx="3749040" cy="804672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889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3" name="Text 21"/>
          <p:cNvSpPr/>
          <p:nvPr/>
        </p:nvSpPr>
        <p:spPr>
          <a:xfrm>
            <a:off x="932688" y="3730752"/>
            <a:ext cx="3429000" cy="51206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111827"/>
                </a:solidFill>
              </a:rPr>
              <a:t>Ranking jest stabilny między architekturami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4709160" y="3611880"/>
            <a:ext cx="160020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5" name="Text 23"/>
          <p:cNvSpPr/>
          <p:nvPr/>
        </p:nvSpPr>
        <p:spPr>
          <a:xfrm>
            <a:off x="4782312" y="3703320"/>
            <a:ext cx="1453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</a:rPr>
              <a:t>CZĘŚCIOWO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55464" y="4050792"/>
            <a:ext cx="1307592" cy="2926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endParaRPr lang="en-US" sz="940" dirty="0"/>
          </a:p>
        </p:txBody>
      </p:sp>
      <p:sp>
        <p:nvSpPr>
          <p:cNvPr id="27" name="Shape 25"/>
          <p:cNvSpPr/>
          <p:nvPr/>
        </p:nvSpPr>
        <p:spPr>
          <a:xfrm>
            <a:off x="6629400" y="3611880"/>
            <a:ext cx="4663440" cy="804672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889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8" name="Text 26"/>
          <p:cNvSpPr/>
          <p:nvPr/>
        </p:nvSpPr>
        <p:spPr>
          <a:xfrm>
            <a:off x="6784848" y="3712464"/>
            <a:ext cx="4343400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111827"/>
                </a:solidFill>
              </a:rPr>
              <a:t>Pretrained: ρ=0.56, overlap Top-30=64.6%. From scratch: ρ=0.27, overlap Top-30=38.9%.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777240" y="4617720"/>
            <a:ext cx="3749040" cy="804672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889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0" name="Text 28"/>
          <p:cNvSpPr/>
          <p:nvPr/>
        </p:nvSpPr>
        <p:spPr>
          <a:xfrm>
            <a:off x="932688" y="4736592"/>
            <a:ext cx="3429000" cy="51206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111827"/>
                </a:solidFill>
              </a:rPr>
              <a:t>VoG nadaje się do OoD / memorization audit</a:t>
            </a:r>
            <a:endParaRPr lang="en-US" sz="1140" dirty="0"/>
          </a:p>
        </p:txBody>
      </p:sp>
      <p:sp>
        <p:nvSpPr>
          <p:cNvPr id="31" name="Shape 29"/>
          <p:cNvSpPr/>
          <p:nvPr/>
        </p:nvSpPr>
        <p:spPr>
          <a:xfrm>
            <a:off x="4709160" y="4617720"/>
            <a:ext cx="160020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24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2" name="Text 30"/>
          <p:cNvSpPr/>
          <p:nvPr/>
        </p:nvSpPr>
        <p:spPr>
          <a:xfrm>
            <a:off x="4782312" y="4709160"/>
            <a:ext cx="1453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280"/>
                </a:solidFill>
              </a:rPr>
              <a:t>NIE TESTOWANO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55464" y="5056632"/>
            <a:ext cx="1307592" cy="2926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endParaRPr lang="en-US" sz="940" dirty="0"/>
          </a:p>
        </p:txBody>
      </p:sp>
      <p:sp>
        <p:nvSpPr>
          <p:cNvPr id="34" name="Shape 32"/>
          <p:cNvSpPr/>
          <p:nvPr/>
        </p:nvSpPr>
        <p:spPr>
          <a:xfrm>
            <a:off x="6629400" y="4617720"/>
            <a:ext cx="4663440" cy="804672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889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5" name="Text 33"/>
          <p:cNvSpPr/>
          <p:nvPr/>
        </p:nvSpPr>
        <p:spPr>
          <a:xfrm>
            <a:off x="6784848" y="4718304"/>
            <a:ext cx="4343400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111827"/>
                </a:solidFill>
              </a:rPr>
              <a:t>Artykuł pokazuje ten kierunek, ale nasz zakres obejmował dobór podzbiorów i transfer architektury.</a:t>
            </a:r>
            <a:endParaRPr lang="en-US" sz="1080" dirty="0"/>
          </a:p>
        </p:txBody>
      </p:sp>
      <p:sp>
        <p:nvSpPr>
          <p:cNvPr id="36" name="Text 34"/>
          <p:cNvSpPr/>
          <p:nvPr/>
        </p:nvSpPr>
        <p:spPr>
          <a:xfrm>
            <a:off x="914400" y="5806440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11827"/>
                </a:solidFill>
              </a:rPr>
              <a:t>Konkluzja: projekt wspiera główną intuicję VoG, ale nie potwierdza pełnej uniwersalności bez zastrzeżeń.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594360" y="6547104"/>
            <a:ext cx="9601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Macierz dowodów: artykuł vs wyniki Phase 2/Phase 3</a:t>
            </a:r>
            <a:endParaRPr lang="en-US" sz="780" dirty="0"/>
          </a:p>
        </p:txBody>
      </p:sp>
      <p:sp>
        <p:nvSpPr>
          <p:cNvPr id="38" name="Text 36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Ograniczenia eksperymentów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3504" y="85039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Uczciwa interpretacja: wyniki są obiecujące, ale nie zamykają tematu.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6" name="Shape 4"/>
          <p:cNvSpPr/>
          <p:nvPr/>
        </p:nvSpPr>
        <p:spPr>
          <a:xfrm>
            <a:off x="896112" y="1828800"/>
            <a:ext cx="2322576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/>
          <p:nvPr/>
        </p:nvSpPr>
        <p:spPr>
          <a:xfrm>
            <a:off x="896112" y="1472184"/>
            <a:ext cx="2322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</a:rPr>
              <a:t>Metryka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2039112"/>
            <a:ext cx="2322576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Notebooki używają surowego, uśrednionego std gradientu; pełna normalizacja klasowa z paperu nie została konsekwentnie odtworzona.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11880" y="132588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0" name="Shape 8"/>
          <p:cNvSpPr/>
          <p:nvPr/>
        </p:nvSpPr>
        <p:spPr>
          <a:xfrm>
            <a:off x="3776472" y="1828800"/>
            <a:ext cx="2322576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1" name="Text 9"/>
          <p:cNvSpPr/>
          <p:nvPr/>
        </p:nvSpPr>
        <p:spPr>
          <a:xfrm>
            <a:off x="3776472" y="1472184"/>
            <a:ext cx="2322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</a:rPr>
              <a:t>Dataset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776472" y="2039112"/>
            <a:ext cx="2322576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Jeden zbiór: Imagenette. Brak testów na CIFAR/ImageNet oraz brak dedykowanego benchmarku OoD.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92240" y="132588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4" name="Shape 12"/>
          <p:cNvSpPr/>
          <p:nvPr/>
        </p:nvSpPr>
        <p:spPr>
          <a:xfrm>
            <a:off x="6656832" y="1828800"/>
            <a:ext cx="2322576" cy="0"/>
          </a:xfrm>
          <a:prstGeom prst="line">
            <a:avLst/>
          </a:prstGeom>
          <a:noFill/>
          <a:ln w="254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5" name="Text 13"/>
          <p:cNvSpPr/>
          <p:nvPr/>
        </p:nvSpPr>
        <p:spPr>
          <a:xfrm>
            <a:off x="6656832" y="1472184"/>
            <a:ext cx="2322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B5CF6"/>
                </a:solidFill>
              </a:rPr>
              <a:t>Compute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56832" y="2039112"/>
            <a:ext cx="2322576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Krótki horyzont VoG: 5 epok. Wyniki mogą zależeć od liczby checkpointów i batch size.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372600" y="1325880"/>
            <a:ext cx="2103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8" name="Shape 16"/>
          <p:cNvSpPr/>
          <p:nvPr/>
        </p:nvSpPr>
        <p:spPr>
          <a:xfrm>
            <a:off x="9537192" y="1828800"/>
            <a:ext cx="1773936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9" name="Text 17"/>
          <p:cNvSpPr/>
          <p:nvPr/>
        </p:nvSpPr>
        <p:spPr>
          <a:xfrm>
            <a:off x="9537192" y="1472184"/>
            <a:ext cx="1773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B7280"/>
                </a:solidFill>
              </a:rPr>
              <a:t>Zakres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537192" y="2039112"/>
            <a:ext cx="1773936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Nie testujemy memorization / corrupted labels z artykułu.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005840" y="3977640"/>
            <a:ext cx="10149840" cy="1325880"/>
          </a:xfrm>
          <a:prstGeom prst="roundRect">
            <a:avLst>
              <a:gd name="adj" fmla="val 5517"/>
            </a:avLst>
          </a:prstGeom>
          <a:solidFill>
            <a:srgbClr val="F9FAFB"/>
          </a:solidFill>
          <a:ln w="889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2" name="Text 20"/>
          <p:cNvSpPr/>
          <p:nvPr/>
        </p:nvSpPr>
        <p:spPr>
          <a:xfrm>
            <a:off x="1234440" y="4187952"/>
            <a:ext cx="969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Najważniejsze następne kroki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25880" y="4617720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11827"/>
                </a:solidFill>
              </a:rPr>
              <a:t>1) class-normalized VoG, 2) więcej checkpointów, 3) powtórzenia z losowymi seedami, 4) benchmark OoD/memorization, 5) porównanie z rankingiem reprezentacyjnym DINOv2.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94360" y="6547104"/>
            <a:ext cx="9601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Ograniczenia wynikają z zakresu projektu i zasobów obliczeniowych</a:t>
            </a:r>
            <a:endParaRPr lang="en-US" sz="780" dirty="0"/>
          </a:p>
        </p:txBody>
      </p:sp>
      <p:sp>
        <p:nvSpPr>
          <p:cNvPr id="25" name="Text 23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Wniosek końcowy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3504" y="85039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Czy hipotezy z artykułu znajdują potwierdzenie?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051560" y="141732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59E0B"/>
                </a:solidFill>
              </a:rPr>
              <a:t>CZĘŚCIOWO TAK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868680" y="2423160"/>
            <a:ext cx="338328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" name="Shape 5"/>
          <p:cNvSpPr/>
          <p:nvPr/>
        </p:nvSpPr>
        <p:spPr>
          <a:xfrm>
            <a:off x="1033272" y="2926080"/>
            <a:ext cx="3054096" cy="0"/>
          </a:xfrm>
          <a:prstGeom prst="line">
            <a:avLst/>
          </a:prstGeom>
          <a:noFill/>
          <a:ln w="254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1033272" y="2569464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C55E"/>
                </a:solidFill>
              </a:rPr>
              <a:t>1. Informatywność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33272" y="3136392"/>
            <a:ext cx="3054096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High-VoG 30% zachowuje znacznie więcej sygnału niż Low-VoG 30%. To jest najstabilniejszy wynik projektu.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89120" y="2423160"/>
            <a:ext cx="338328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1" name="Shape 9"/>
          <p:cNvSpPr/>
          <p:nvPr/>
        </p:nvSpPr>
        <p:spPr>
          <a:xfrm>
            <a:off x="4553712" y="2926080"/>
            <a:ext cx="3054096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2" name="Text 10"/>
          <p:cNvSpPr/>
          <p:nvPr/>
        </p:nvSpPr>
        <p:spPr>
          <a:xfrm>
            <a:off x="4553712" y="2569464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</a:rPr>
              <a:t>2. Efektywność danych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53712" y="3136392"/>
            <a:ext cx="3054096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W Phase 2 Top 30% prawie dorównuje full dataset. W trudniejszym fine-tuningu od zera full dataset nadal wygrywa.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909560" y="2423160"/>
            <a:ext cx="338328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5" name="Shape 13"/>
          <p:cNvSpPr/>
          <p:nvPr/>
        </p:nvSpPr>
        <p:spPr>
          <a:xfrm>
            <a:off x="8074152" y="2926080"/>
            <a:ext cx="3054096" cy="0"/>
          </a:xfrm>
          <a:prstGeom prst="line">
            <a:avLst/>
          </a:prstGeom>
          <a:noFill/>
          <a:ln w="254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/>
          <p:nvPr/>
        </p:nvSpPr>
        <p:spPr>
          <a:xfrm>
            <a:off x="8074152" y="2569464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B5CF6"/>
                </a:solidFill>
              </a:rPr>
              <a:t>3. Transfer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074152" y="3136392"/>
            <a:ext cx="3054096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Ranking przenosi się umiarkowanie dobrze w pretrained, ale słabo w from-scratch. Uniwersalność zależy od reżimu.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05840" y="5074920"/>
            <a:ext cx="10149840" cy="822960"/>
          </a:xfrm>
          <a:prstGeom prst="roundRect">
            <a:avLst>
              <a:gd name="adj" fmla="val 8889"/>
            </a:avLst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9" name="Text 17"/>
          <p:cNvSpPr/>
          <p:nvPr/>
        </p:nvSpPr>
        <p:spPr>
          <a:xfrm>
            <a:off x="1188720" y="523036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827"/>
                </a:solidFill>
              </a:rPr>
              <a:t>Źródła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057400" y="5230368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111827"/>
                </a:solidFill>
              </a:rPr>
              <a:t>Agarwal et al. 2022, arXiv:2008.11600  •  phase2_WB2_wyniki.ipynb  •  phqse3_WB2 — kopia — kopia.ipynb  •  pahse3_WB2_od_zera.ipynb  •  github.com/Fichey/Impact-of-Data-Ranking-on-Training-Dynamics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1005840" y="605332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</a:rPr>
              <a:t>Prezentacja gotowa do obrony: mało tekstu na slajdach, wykresy/tabele jako główny nośnik argumentacji.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94360" y="6547104"/>
            <a:ext cx="9601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Podsumowanie końcowe</a:t>
            </a:r>
            <a:endParaRPr lang="en-US" sz="780" dirty="0"/>
          </a:p>
        </p:txBody>
      </p:sp>
      <p:sp>
        <p:nvSpPr>
          <p:cNvPr id="23" name="Text 21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1083</Words>
  <Application>Microsoft Office PowerPoint</Application>
  <PresentationFormat>Panoramiczny</PresentationFormat>
  <Paragraphs>200</Paragraphs>
  <Slides>18</Slides>
  <Notes>15</Notes>
  <HiddenSlides>0</HiddenSlides>
  <MMClips>0</MMClips>
  <ScaleCrop>false</ScaleCrop>
  <HeadingPairs>
    <vt:vector size="6" baseType="variant">
      <vt:variant>
        <vt:lpstr>Używane czcionki</vt:lpstr>
      </vt:variant>
      <vt:variant>
        <vt:i4>2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>WUT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Impact of Data Ranking on Training Dynamics</dc:title>
  <dc:subject>Impact of Data Ranking on Training Dynamics — VoG</dc:subject>
  <dc:creator>OpenAI + Cezary Bolkowski</dc:creator>
  <cp:lastModifiedBy>Socha Karol 2 (STUD)</cp:lastModifiedBy>
  <cp:revision>2</cp:revision>
  <dcterms:created xsi:type="dcterms:W3CDTF">2026-06-02T23:01:09Z</dcterms:created>
  <dcterms:modified xsi:type="dcterms:W3CDTF">2026-06-03T00:01:19Z</dcterms:modified>
</cp:coreProperties>
</file>
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77" r:id="rId7"/>
    <p:sldId id="263" r:id="rId8"/>
    <p:sldId id="264" r:id="rId9"/>
    <p:sldId id="265" r:id="rId10"/>
    <p:sldId id="266" r:id="rId11"/>
    <p:sldId id="267" r:id="rId12"/>
    <p:sldId id="268" r:id="rId13"/>
    <p:sldId id="275" r:id="rId14"/>
    <p:sldId id="278" r:id="rId15"/>
    <p:sldId id="28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035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D0C8-3535-1181-C6A1-8E7BCAFF7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7B947-1FC1-A7D6-8A28-77BAD7EB7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7E439-F8B5-F796-31EF-6A7FF6D63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4B0A5-8845-BC2A-A86E-339C0DF54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92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fazie 3 </a:t>
            </a:r>
            <a:r>
              <a:rPr lang="pl-PL" dirty="0" err="1"/>
              <a:t>pozstanowiliśmy</a:t>
            </a:r>
            <a:r>
              <a:rPr lang="pl-PL" dirty="0"/>
              <a:t> sprawdzić czy ranking </a:t>
            </a:r>
            <a:r>
              <a:rPr lang="pl-PL" dirty="0" err="1"/>
              <a:t>VoG</a:t>
            </a:r>
            <a:r>
              <a:rPr lang="pl-PL" dirty="0"/>
              <a:t> liczony podczas treningu jednej architektury jest użyteczny dla innej. Trenowaliśmy ResNet50 i podczas treningu policzyliśmy </a:t>
            </a:r>
            <a:r>
              <a:rPr lang="pl-PL" dirty="0" err="1"/>
              <a:t>VoG</a:t>
            </a:r>
            <a:r>
              <a:rPr lang="pl-PL" dirty="0"/>
              <a:t>, a potem wydzieliliśmy zbiór 30% danych z najwyższym </a:t>
            </a:r>
            <a:r>
              <a:rPr lang="pl-PL" dirty="0" err="1"/>
              <a:t>VoG</a:t>
            </a:r>
            <a:r>
              <a:rPr lang="pl-PL" dirty="0"/>
              <a:t> i 30% z najniższym i badaliśmy jak zachowuje się Resnet50 i </a:t>
            </a:r>
            <a:r>
              <a:rPr lang="pl-PL" dirty="0" err="1"/>
              <a:t>ConvNext</a:t>
            </a:r>
            <a:r>
              <a:rPr lang="pl-PL" dirty="0"/>
              <a:t> po treningu na tych podzbiorach. Ponadto zastosowaliśmy 2 podejścia. Najpierw odmrażaliśmy tylko ostatnią warstwę modeli, a potem wszystkie.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4EF67-871D-89A7-04BC-9CC962B4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A2F3E-CA0E-F783-D064-14BF7D2B5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6E144-85D2-1475-9EB0-570E1DD5B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3028B-D8FF-7D7E-040C-A06D305CB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5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3B314-E215-BC46-54F8-B1DE9155B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97347-ED7D-5BB0-B24B-C9C87F559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65C11-5DC2-E805-1726-4E36173F5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LOW: Wyraźne tło, kontrast, cały obiekt, tylko obiekt, jednolite otoczenie, HIGH: część, niewyraźne tło, mniejszy kontrast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EF90-0F56-04DB-A9FF-629DC954E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33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8311-107A-2C11-C902-F7A6805E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FA5F1-689B-998E-12A1-9176C9353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CC456-EB13-19EF-B8B5-6EF685E2D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5BF52-0104-4C2C-53E3-2D8AFE16B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0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 rankingu danych VoG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dynamikę treningu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55448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Project 2: Impact of Data Ranking on Training Dynamics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</a:rPr>
              <a:t>Agarwal, D’souza, Hooker: Estimating Example Difficulty using Variance of Gradients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4343400"/>
            <a:ext cx="630936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80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9DBAD23-6CF0-A5FD-8313-08A8CCAEC8A7}"/>
              </a:ext>
            </a:extLst>
          </p:cNvPr>
          <p:cNvSpPr txBox="1"/>
          <p:nvPr/>
        </p:nvSpPr>
        <p:spPr>
          <a:xfrm>
            <a:off x="3436219" y="5196957"/>
            <a:ext cx="538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Autorzy projektu: Cezary Polkowski, Karol Socha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Intuicja VoG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przykładów przez zmienność gradientów w trakcie uczenia.</a:t>
            </a:r>
            <a:endParaRPr lang="en-US" sz="1250" dirty="0"/>
          </a:p>
        </p:txBody>
      </p:sp>
      <p:pic>
        <p:nvPicPr>
          <p:cNvPr id="5" name="Image 0" descr="/mnt/data/presentation_assets/formula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435" y="1170432"/>
            <a:ext cx="4376651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92024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896112" y="2423160"/>
            <a:ext cx="460857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896112" y="2066544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Low-VoG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633472"/>
            <a:ext cx="4608576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Gradienty stabilizują się szybko. Próbki są zwykle prototypowe, łatwiejsze i mogą być bardziej redundantne.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92240" y="192024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6656832" y="2423160"/>
            <a:ext cx="4608576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6656832" y="2066544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High-VoG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56832" y="2633472"/>
            <a:ext cx="4608576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Gradienty zmieniają się silniej między checkpointami. Próbki są mniej typowe, trudniejsze lub bardziej informatywne.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80760" y="2011680"/>
            <a:ext cx="0" cy="292608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100584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11827"/>
                </a:solidFill>
              </a:rPr>
              <a:t>W projekcie traktujemy VoG jako ranking ważności danych: sortujemy próbki i testujemy, jak podzbiory wpływają na wynik treningu.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 — 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definicja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27738" y="174650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692330" y="19385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1. Gradient klasy</a:t>
            </a:r>
            <a:endParaRPr lang="en-US" sz="1300" dirty="0"/>
          </a:p>
        </p:txBody>
      </p:sp>
      <p:pic>
        <p:nvPicPr>
          <p:cNvPr id="7" name="Image 0" descr="/mnt/data/presentation_assets/formula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47" y="1719072"/>
            <a:ext cx="5251981" cy="7132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7738" y="266090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1692330" y="2852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2. Średni gradient</a:t>
            </a:r>
            <a:endParaRPr lang="en-US" sz="1300" dirty="0"/>
          </a:p>
        </p:txBody>
      </p:sp>
      <p:pic>
        <p:nvPicPr>
          <p:cNvPr id="10" name="Image 1" descr="/mnt/data/presentation_assets/formula_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487" y="2633472"/>
            <a:ext cx="3569302" cy="7132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27738" y="366674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8"/>
          <p:cNvSpPr/>
          <p:nvPr/>
        </p:nvSpPr>
        <p:spPr>
          <a:xfrm>
            <a:off x="1692330" y="38587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3. Odchylenie po checkpointach</a:t>
            </a:r>
            <a:endParaRPr lang="en-US" sz="1300" dirty="0"/>
          </a:p>
        </p:txBody>
      </p:sp>
      <p:pic>
        <p:nvPicPr>
          <p:cNvPr id="13" name="Image 2" descr="/mnt/data/presentation_assets/formula_vog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782" y="3639312"/>
            <a:ext cx="5436712" cy="7132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527738" y="4672584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0"/>
          <p:cNvSpPr/>
          <p:nvPr/>
        </p:nvSpPr>
        <p:spPr>
          <a:xfrm>
            <a:off x="1692330" y="4864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4. Agregacja po pikselach</a:t>
            </a:r>
            <a:endParaRPr lang="en-US" sz="1300" dirty="0"/>
          </a:p>
        </p:txBody>
      </p:sp>
      <p:pic>
        <p:nvPicPr>
          <p:cNvPr id="16" name="Image 3" descr="/mnt/data/presentation_assets/formula_v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8772" y="4645152"/>
            <a:ext cx="3916732" cy="7132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eksperymentalny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" y="1417320"/>
            <a:ext cx="2686507" cy="62048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14984" y="1453896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</a:rPr>
              <a:t>Element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46627" y="1417320"/>
            <a:ext cx="7646213" cy="620486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701491" y="1453896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</a:rPr>
              <a:t>Wartość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2037806"/>
            <a:ext cx="268650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014984" y="2074382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46627" y="2037806"/>
            <a:ext cx="764621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701491" y="2074382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frgfm/imagenette: 9 469 train, 3 925 val, 10 klas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2658291"/>
            <a:ext cx="268650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014984" y="2694867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Ranking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46627" y="2658291"/>
            <a:ext cx="764621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701491" y="2694867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VoG z 5 epok/checkpointów; pool gradientu 32×32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278777"/>
            <a:ext cx="268650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1014984" y="3315353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Podzbiory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46627" y="3278777"/>
            <a:ext cx="764621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701491" y="3315353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Full, High-VoG 30%, Low-VoG 30%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" y="3899263"/>
            <a:ext cx="268650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1014984" y="3935839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Phase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46627" y="3899263"/>
            <a:ext cx="764621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701491" y="3935839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ResNet50 IMAGENET1K_V2; Linear Probe i Fine-Tuning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0120" y="4519749"/>
            <a:ext cx="2686507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014984" y="4556325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Phase 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46627" y="4519749"/>
            <a:ext cx="7646213" cy="62048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3701491" y="4556325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ConvNeXt-Base; Linear Probe pretrained + Fine-Tuning from scratch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" y="5140234"/>
            <a:ext cx="2686507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1014984" y="5176810"/>
            <a:ext cx="2576779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Metryki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46627" y="5140234"/>
            <a:ext cx="7646213" cy="620486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3701491" y="5176810"/>
            <a:ext cx="7536485" cy="54733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</a:rPr>
              <a:t>Accuracy, error, Spearman ρ, Pearson r, overlap Top-k, per-class 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</a:rPr>
              <a:t>Najważniejsze porównanie: czy High-VoG zachowuje więcej informacji niż Low-VoG przy tym samym budżecie danych?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ranking ResNet50 rozdziela typy próbek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z notebooka pokazują, że skrajne wartości VoG często odpowiadają wizualnie innym przypadkom.</a:t>
            </a:r>
            <a:endParaRPr lang="en-US" sz="1250" dirty="0"/>
          </a:p>
        </p:txBody>
      </p:sp>
      <p:pic>
        <p:nvPicPr>
          <p:cNvPr id="5" name="Image 0" descr="/mnt/data/presentation_assets/vog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12866"/>
            <a:ext cx="11201400" cy="45694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0120" y="5989320"/>
            <a:ext cx="1024128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1097280" y="606247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827"/>
                </a:solidFill>
              </a:rPr>
              <a:t>Interpretacja: High-VoG częściej wskazuje przykłady nietypowe, z mniejszym obiektem, trudniejszym tłem lub mniejszym kontrastem.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3B2C0-5A1E-6874-F5D5-48008550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687FDE-1037-4B8D-FF8F-E03407C9938B}"/>
              </a:ext>
            </a:extLst>
          </p:cNvPr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62BD49-58E5-A4D2-ED69-91C766F67DF8}"/>
              </a:ext>
            </a:extLst>
          </p:cNvPr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High-VoG 30% prawie dorównuje pełnemu zbiorowi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9BCE16-2DC1-49E1-5B52-98374BA0BC0D}"/>
              </a:ext>
            </a:extLst>
          </p:cNvPr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ten sam budżet danych, ale różne podzbiory według rankingu VoG.</a:t>
            </a:r>
            <a:endParaRPr lang="en-US" sz="1250" dirty="0"/>
          </a:p>
        </p:txBody>
      </p:sp>
      <p:pic>
        <p:nvPicPr>
          <p:cNvPr id="5" name="Image 0" descr="/mnt/data/presentation_assets/phase2_accuracy_refined.png">
            <a:extLst>
              <a:ext uri="{FF2B5EF4-FFF2-40B4-BE49-F238E27FC236}">
                <a16:creationId xmlns:a16="http://schemas.microsoft.com/office/drawing/2014/main" id="{5A9CD215-EA53-B1BF-0365-3684330BC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7186"/>
            <a:ext cx="10881360" cy="3669893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72BD9721-6246-3CF3-1218-646F0F0EAB48}"/>
              </a:ext>
            </a:extLst>
          </p:cNvPr>
          <p:cNvSpPr/>
          <p:nvPr/>
        </p:nvSpPr>
        <p:spPr>
          <a:xfrm>
            <a:off x="1143000" y="57150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4D8860-C2C7-81ED-5F3F-A7E86AB4A4C9}"/>
              </a:ext>
            </a:extLst>
          </p:cNvPr>
          <p:cNvSpPr/>
          <p:nvPr/>
        </p:nvSpPr>
        <p:spPr>
          <a:xfrm>
            <a:off x="1216152" y="58247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4444"/>
                </a:solidFill>
              </a:rPr>
              <a:t>-0.08 pp</a:t>
            </a:r>
            <a:endParaRPr lang="en-US" sz="2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97CB391-2556-EB47-DF7F-CAEDF1592D26}"/>
              </a:ext>
            </a:extLst>
          </p:cNvPr>
          <p:cNvSpPr/>
          <p:nvPr/>
        </p:nvSpPr>
        <p:spPr>
          <a:xfrm>
            <a:off x="1216152" y="62819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High vs Full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Linear Probe</a:t>
            </a:r>
            <a:endParaRPr lang="en-US" sz="9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ECE0D3D-5D26-4B9A-57C1-887520FCD88B}"/>
              </a:ext>
            </a:extLst>
          </p:cNvPr>
          <p:cNvSpPr/>
          <p:nvPr/>
        </p:nvSpPr>
        <p:spPr>
          <a:xfrm>
            <a:off x="3657600" y="57150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E344F95-38A9-DB0F-6CA2-0CB4DED979E6}"/>
              </a:ext>
            </a:extLst>
          </p:cNvPr>
          <p:cNvSpPr/>
          <p:nvPr/>
        </p:nvSpPr>
        <p:spPr>
          <a:xfrm>
            <a:off x="3730752" y="58247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C55E"/>
                </a:solidFill>
              </a:rPr>
              <a:t>-2.80 pp</a:t>
            </a:r>
            <a:endParaRPr lang="en-US" sz="2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913041D-950E-2970-2B74-06AC0F178320}"/>
              </a:ext>
            </a:extLst>
          </p:cNvPr>
          <p:cNvSpPr/>
          <p:nvPr/>
        </p:nvSpPr>
        <p:spPr>
          <a:xfrm>
            <a:off x="3730752" y="62819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Low vs Full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Linear Probe</a:t>
            </a:r>
            <a:endParaRPr lang="en-US" sz="9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1C5FA01-7A78-D43F-987A-0BD74A249CB9}"/>
              </a:ext>
            </a:extLst>
          </p:cNvPr>
          <p:cNvSpPr/>
          <p:nvPr/>
        </p:nvSpPr>
        <p:spPr>
          <a:xfrm>
            <a:off x="6172200" y="57150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EEAC21E-FEF7-5283-8DED-43BC05082BF7}"/>
              </a:ext>
            </a:extLst>
          </p:cNvPr>
          <p:cNvSpPr/>
          <p:nvPr/>
        </p:nvSpPr>
        <p:spPr>
          <a:xfrm>
            <a:off x="6245352" y="58247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4444"/>
                </a:solidFill>
              </a:rPr>
              <a:t>-0.31 pp</a:t>
            </a:r>
            <a:endParaRPr lang="en-US" sz="2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C823F2A-CCB8-621B-2A89-9A315CDA7E5A}"/>
              </a:ext>
            </a:extLst>
          </p:cNvPr>
          <p:cNvSpPr/>
          <p:nvPr/>
        </p:nvSpPr>
        <p:spPr>
          <a:xfrm>
            <a:off x="6245352" y="62819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High vs Full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Fine-Tuning</a:t>
            </a:r>
            <a:endParaRPr lang="en-US" sz="9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9F3BDBA-C330-D180-39AB-85855C87C39E}"/>
              </a:ext>
            </a:extLst>
          </p:cNvPr>
          <p:cNvSpPr/>
          <p:nvPr/>
        </p:nvSpPr>
        <p:spPr>
          <a:xfrm>
            <a:off x="8686800" y="57150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336FE8E-95F7-64D1-C7A9-8E788276F49F}"/>
              </a:ext>
            </a:extLst>
          </p:cNvPr>
          <p:cNvSpPr/>
          <p:nvPr/>
        </p:nvSpPr>
        <p:spPr>
          <a:xfrm>
            <a:off x="8759952" y="58247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2C55E"/>
                </a:solidFill>
              </a:rPr>
              <a:t>-7.64 pp</a:t>
            </a:r>
            <a:endParaRPr lang="en-US" sz="2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8AFD95F-1218-50F0-1A27-B80607F594A3}"/>
              </a:ext>
            </a:extLst>
          </p:cNvPr>
          <p:cNvSpPr/>
          <p:nvPr/>
        </p:nvSpPr>
        <p:spPr>
          <a:xfrm>
            <a:off x="8759952" y="628192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Low vs Full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Fine-Tuning</a:t>
            </a:r>
            <a:endParaRPr lang="en-US" sz="9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54D178F-7125-E06B-777D-0C4B8F2B1D0C}"/>
              </a:ext>
            </a:extLst>
          </p:cNvPr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154971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VoG selekcjonuje próbki niosące sygnał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decylowa i Top-k: wynik zbliżony do pełnego zbioru już przy Top 30%.</a:t>
            </a:r>
            <a:endParaRPr lang="en-US" sz="1250" dirty="0"/>
          </a:p>
        </p:txBody>
      </p:sp>
      <p:pic>
        <p:nvPicPr>
          <p:cNvPr id="5" name="Image 0" descr="/mnt/data/presentation_assets/phase2_effectiveness_r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0924"/>
            <a:ext cx="11018520" cy="3716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92531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dirty="0" err="1">
                <a:solidFill>
                  <a:srgbClr val="111827"/>
                </a:solidFill>
              </a:rPr>
              <a:t>Wniosek</a:t>
            </a:r>
            <a:r>
              <a:rPr lang="en-US" sz="1330" dirty="0">
                <a:solidFill>
                  <a:srgbClr val="111827"/>
                </a:solidFill>
              </a:rPr>
              <a:t>: niski VoG daje znacznie gorszy sygnał treningowy, a najwyższe percentyle są najcenniejsze przy ograniczonym budżecie danych.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transfer i uniwersalność VoG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Sprawdzamy, czy ranking z jednej architektury pozostaje użyteczny dla innej.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05840" y="17007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ResNet50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ranking VoG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86200" y="1938528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52120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349240" y="1700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</a:rPr>
              <a:t>High 30%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</a:rPr>
              <a:t>Low 30%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06640" y="1938528"/>
            <a:ext cx="11430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8732520" y="14630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869680" y="17007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</a:rPr>
              <a:t>ConvNeXt-Base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</a:rPr>
              <a:t>training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20924" y="2928927"/>
            <a:ext cx="2674620" cy="792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14" name="Text 12"/>
          <p:cNvSpPr/>
          <p:nvPr/>
        </p:nvSpPr>
        <p:spPr>
          <a:xfrm>
            <a:off x="2875788" y="2965503"/>
            <a:ext cx="25648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</a:rPr>
              <a:t>Część Phase 3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495544" y="2935570"/>
            <a:ext cx="3703320" cy="79248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18" name="Text 16"/>
          <p:cNvSpPr/>
          <p:nvPr/>
        </p:nvSpPr>
        <p:spPr>
          <a:xfrm>
            <a:off x="5550408" y="2965503"/>
            <a:ext cx="35935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</a:rPr>
              <a:t>Dlaczego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2820924" y="3721407"/>
            <a:ext cx="267462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2875788" y="3757983"/>
            <a:ext cx="25648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Linear Probe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495544" y="3721407"/>
            <a:ext cx="3703320" cy="792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24" name="Text 22"/>
          <p:cNvSpPr/>
          <p:nvPr/>
        </p:nvSpPr>
        <p:spPr>
          <a:xfrm>
            <a:off x="5550408" y="3775237"/>
            <a:ext cx="35935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izoluje transfer rankingu przy silnych cechach ImageNet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2820924" y="4513887"/>
            <a:ext cx="2674620" cy="79248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2875788" y="4550463"/>
            <a:ext cx="25648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Fine-Tuning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495544" y="4513887"/>
            <a:ext cx="3703320" cy="79248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5550408" y="4550463"/>
            <a:ext cx="3593592" cy="719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827"/>
                </a:solidFill>
              </a:rPr>
              <a:t>trudniejszy test: model musi nauczyć reprezentacje od zera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Linear Probe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ConvNeXt-Base pretrained: wszystkie podzbiory osiągają prawie 100% accuracy.</a:t>
            </a:r>
            <a:endParaRPr lang="en-US" sz="1250" dirty="0"/>
          </a:p>
        </p:txBody>
      </p:sp>
      <p:pic>
        <p:nvPicPr>
          <p:cNvPr id="5" name="Image 0" descr="/mnt/data/presentation_assets/phase3_linear_probe_pretrained_r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64661"/>
            <a:ext cx="7040880" cy="3598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743645"/>
            <a:ext cx="1448410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8101584" y="178022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</a:rPr>
              <a:t>Subset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495130" y="1743645"/>
            <a:ext cx="921715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9549994" y="178022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LP acc.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416845" y="1743645"/>
            <a:ext cx="921715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10471709" y="178022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Δ vs Full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2376105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8101584" y="241268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Full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495130" y="237610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9549994" y="241268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99.97%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416845" y="237610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10471709" y="241268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+0.00 pp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46720" y="3008565"/>
            <a:ext cx="1448410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8101584" y="304514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High-VoG R50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495130" y="3008565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8"/>
          <p:cNvSpPr/>
          <p:nvPr/>
        </p:nvSpPr>
        <p:spPr>
          <a:xfrm>
            <a:off x="9549994" y="304514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99.97%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416845" y="3008565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10471709" y="304514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+0.00 pp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46720" y="3641025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2"/>
          <p:cNvSpPr/>
          <p:nvPr/>
        </p:nvSpPr>
        <p:spPr>
          <a:xfrm>
            <a:off x="8101584" y="367760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Low-VoG R50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495130" y="364102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4"/>
          <p:cNvSpPr/>
          <p:nvPr/>
        </p:nvSpPr>
        <p:spPr>
          <a:xfrm>
            <a:off x="9549994" y="367760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99.90%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416845" y="364102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6"/>
          <p:cNvSpPr/>
          <p:nvPr/>
        </p:nvSpPr>
        <p:spPr>
          <a:xfrm>
            <a:off x="10471709" y="367760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-0.08 pp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46720" y="4273485"/>
            <a:ext cx="1448410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8"/>
          <p:cNvSpPr/>
          <p:nvPr/>
        </p:nvSpPr>
        <p:spPr>
          <a:xfrm>
            <a:off x="8101584" y="431006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High-VoG CNX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495130" y="4273485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0"/>
          <p:cNvSpPr/>
          <p:nvPr/>
        </p:nvSpPr>
        <p:spPr>
          <a:xfrm>
            <a:off x="9549994" y="431006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99.97%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416845" y="4273485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2"/>
          <p:cNvSpPr/>
          <p:nvPr/>
        </p:nvSpPr>
        <p:spPr>
          <a:xfrm>
            <a:off x="10471709" y="431006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+0.00 pp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046720" y="4905945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4"/>
          <p:cNvSpPr/>
          <p:nvPr/>
        </p:nvSpPr>
        <p:spPr>
          <a:xfrm>
            <a:off x="8101584" y="4942521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Low-VoG CNX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495130" y="490594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6"/>
          <p:cNvSpPr/>
          <p:nvPr/>
        </p:nvSpPr>
        <p:spPr>
          <a:xfrm>
            <a:off x="9549994" y="494252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99.92%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416845" y="4905945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8"/>
          <p:cNvSpPr/>
          <p:nvPr/>
        </p:nvSpPr>
        <p:spPr>
          <a:xfrm>
            <a:off x="10471709" y="4942521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-0.05 pp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Fine-Tuning 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zera</a:t>
            </a: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High-VoG &gt; Low-VoG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ConvNeXt-Base uczony od zera: pełny zbiór wygrywa, ale ranking VoG zachowuje sygnał selekcji.</a:t>
            </a:r>
            <a:endParaRPr lang="en-US" sz="1250" dirty="0"/>
          </a:p>
        </p:txBody>
      </p:sp>
      <p:pic>
        <p:nvPicPr>
          <p:cNvPr id="5" name="Image 0" descr="/mnt/data/presentation_assets/phase3_finetuning_scratch_r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94916"/>
            <a:ext cx="7040880" cy="3598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873900"/>
            <a:ext cx="1448410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8101584" y="191047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</a:rPr>
              <a:t>Subset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495130" y="1873900"/>
            <a:ext cx="921715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9549994" y="191047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FT acc.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416845" y="1873900"/>
            <a:ext cx="921715" cy="6324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10471709" y="191047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</a:rPr>
              <a:t>Δ vs Full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2506360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8101584" y="254293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Full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495130" y="250636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9549994" y="254293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42.19%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416845" y="250636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10471709" y="254293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+0.00 pp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46720" y="3138820"/>
            <a:ext cx="1448410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8101584" y="317539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High-VoG R50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495130" y="3138820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8"/>
          <p:cNvSpPr/>
          <p:nvPr/>
        </p:nvSpPr>
        <p:spPr>
          <a:xfrm>
            <a:off x="9549994" y="317539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35.57%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416845" y="3138820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0"/>
          <p:cNvSpPr/>
          <p:nvPr/>
        </p:nvSpPr>
        <p:spPr>
          <a:xfrm>
            <a:off x="10471709" y="317539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-6.62 pp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046720" y="3771280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2"/>
          <p:cNvSpPr/>
          <p:nvPr/>
        </p:nvSpPr>
        <p:spPr>
          <a:xfrm>
            <a:off x="8101584" y="380785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Low-VoG R50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495130" y="377128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4"/>
          <p:cNvSpPr/>
          <p:nvPr/>
        </p:nvSpPr>
        <p:spPr>
          <a:xfrm>
            <a:off x="9549994" y="380785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17.86%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416845" y="377128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6"/>
          <p:cNvSpPr/>
          <p:nvPr/>
        </p:nvSpPr>
        <p:spPr>
          <a:xfrm>
            <a:off x="10471709" y="380785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-24.33 pp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46720" y="4403740"/>
            <a:ext cx="1448410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8"/>
          <p:cNvSpPr/>
          <p:nvPr/>
        </p:nvSpPr>
        <p:spPr>
          <a:xfrm>
            <a:off x="8101584" y="444031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High-VoG CNX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495130" y="4403740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0"/>
          <p:cNvSpPr/>
          <p:nvPr/>
        </p:nvSpPr>
        <p:spPr>
          <a:xfrm>
            <a:off x="9549994" y="444031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35.85%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416845" y="4403740"/>
            <a:ext cx="921715" cy="632460"/>
          </a:xfrm>
          <a:prstGeom prst="rect">
            <a:avLst/>
          </a:prstGeom>
          <a:solidFill>
            <a:srgbClr val="FAFA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2"/>
          <p:cNvSpPr/>
          <p:nvPr/>
        </p:nvSpPr>
        <p:spPr>
          <a:xfrm>
            <a:off x="10471709" y="444031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-6.34 pp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046720" y="5036200"/>
            <a:ext cx="1448410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4"/>
          <p:cNvSpPr/>
          <p:nvPr/>
        </p:nvSpPr>
        <p:spPr>
          <a:xfrm>
            <a:off x="8101584" y="5072776"/>
            <a:ext cx="1338682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Low-VoG CNX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495130" y="503620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6"/>
          <p:cNvSpPr/>
          <p:nvPr/>
        </p:nvSpPr>
        <p:spPr>
          <a:xfrm>
            <a:off x="9549994" y="507277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18.01%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416845" y="5036200"/>
            <a:ext cx="921715" cy="6324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8"/>
          <p:cNvSpPr/>
          <p:nvPr/>
        </p:nvSpPr>
        <p:spPr>
          <a:xfrm>
            <a:off x="10471709" y="5072776"/>
            <a:ext cx="811987" cy="5593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-24.18 pp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ranking VoG jest uniwersalny między architekturami?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 ResNet50 ↔ ConvNeXt jest wyraźnie większa przy modelach pretrained.</a:t>
            </a:r>
            <a:endParaRPr lang="en-US" sz="1250" dirty="0"/>
          </a:p>
        </p:txBody>
      </p:sp>
      <p:pic>
        <p:nvPicPr>
          <p:cNvPr id="5" name="Image 0" descr="/mnt/data/presentation_assets/consistency_pretrained_vs_scratch_r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2808"/>
            <a:ext cx="8412480" cy="39147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55480" y="1792767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9628632" y="190249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B5CF6"/>
                </a:solidFill>
              </a:rPr>
              <a:t>0.56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28632" y="235969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Spearman ρ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pretrained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555480" y="2798607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9628632" y="290833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B5CF6"/>
                </a:solidFill>
              </a:rPr>
              <a:t>64.6%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28632" y="336553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Top-30% overlap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pretrained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555480" y="3895887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9628632" y="400561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B7280"/>
                </a:solidFill>
              </a:rPr>
              <a:t>0.27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28632" y="446281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Spearman ρ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from scratch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555480" y="4901727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9628632" y="501145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B7280"/>
                </a:solidFill>
              </a:rPr>
              <a:t>38.9%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628632" y="5468655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Top-30% overlap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from scratch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Najważniejszy wzorzec wyników: High-VoG &gt; Low-VoG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High–Low pojawia się w kilku wariantach, nawet gdy full dataset pozostaje najlepszy.</a:t>
            </a:r>
            <a:endParaRPr lang="en-US" sz="1250" dirty="0"/>
          </a:p>
        </p:txBody>
      </p:sp>
      <p:pic>
        <p:nvPicPr>
          <p:cNvPr id="5" name="Image 0" descr="/mnt/data/presentation_assets/high_low_gap_summary_r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97" y="1234440"/>
            <a:ext cx="10704967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5650992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1325880" y="5797296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</a:rPr>
              <a:t>Najmocniejszy dowód dla hipotezy: Low-VoG przy takim samym budżecie danych jest konsekwentnie słabszy, szczególnie w Fine-Tuningu.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3E48D-42F9-4DFC-44CE-FE5CA487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54ECA2-A15F-49D6-49EA-D5C027FD410C}"/>
              </a:ext>
            </a:extLst>
          </p:cNvPr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851AEB-6F62-6962-904C-35011397703F}"/>
              </a:ext>
            </a:extLst>
          </p:cNvPr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trenowane na różnych podzbiorach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3705D7-A7C0-015E-7CF6-3B3599C6C701}"/>
              </a:ext>
            </a:extLst>
          </p:cNvPr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modelu na przykładach z wyższym </a:t>
            </a:r>
            <a:r>
              <a:rPr lang="pl-PL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</a:t>
            </a:r>
            <a:r>
              <a:rPr lang="pl-PL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powodowało jego lepszy performance na danych testowych w 3 na 4 badanych przypadkach.</a:t>
            </a:r>
            <a:endParaRPr lang="en-US" sz="12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7F0AFCC-D4E7-E15F-0125-157B14F2F568}"/>
              </a:ext>
            </a:extLst>
          </p:cNvPr>
          <p:cNvSpPr/>
          <p:nvPr/>
        </p:nvSpPr>
        <p:spPr>
          <a:xfrm>
            <a:off x="1143000" y="5650992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7DEE78E-8E21-4A10-67BB-880A7ADCF67A}"/>
              </a:ext>
            </a:extLst>
          </p:cNvPr>
          <p:cNvSpPr/>
          <p:nvPr/>
        </p:nvSpPr>
        <p:spPr>
          <a:xfrm>
            <a:off x="1325880" y="5797296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300" dirty="0">
                <a:solidFill>
                  <a:srgbClr val="111827"/>
                </a:solidFill>
              </a:rPr>
              <a:t>Jeśli mamy przeprowadzać trening na zbiorze danych o ograniczonej wielkości, lepiej wybrać dane z wyższym </a:t>
            </a:r>
            <a:r>
              <a:rPr lang="pl-PL" sz="1300" dirty="0" err="1">
                <a:solidFill>
                  <a:srgbClr val="111827"/>
                </a:solidFill>
              </a:rPr>
              <a:t>VoG</a:t>
            </a:r>
            <a:r>
              <a:rPr lang="pl-PL" sz="1300" dirty="0">
                <a:solidFill>
                  <a:srgbClr val="111827"/>
                </a:solidFill>
              </a:rPr>
              <a:t>.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790A49B-B62B-E4BA-9E01-C782CF28BC17}"/>
              </a:ext>
            </a:extLst>
          </p:cNvPr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8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CFB1AD0-561F-C472-0BC4-12FD25D6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17" y="1387910"/>
            <a:ext cx="10416286" cy="38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41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144FB-5E9D-0821-BB2C-049873B7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D44E08-73D5-F1EF-51D0-352441857584}"/>
              </a:ext>
            </a:extLst>
          </p:cNvPr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0DDCA0-13B8-E945-37E7-DA332378F633}"/>
              </a:ext>
            </a:extLst>
          </p:cNvPr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próbek: High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</a:t>
            </a:r>
            <a:endParaRPr lang="en-US" sz="3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18B2676-835D-40FE-BD98-69677D7A4FF8}"/>
              </a:ext>
            </a:extLst>
          </p:cNvPr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8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5AF213E-3226-6A9A-5E51-ED9689A18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839" y="878127"/>
            <a:ext cx="8177841" cy="575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5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67094-084E-4B9A-650D-53F5B7B9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8FB292-62F0-BDA1-EC0B-60EFCB2F9544}"/>
              </a:ext>
            </a:extLst>
          </p:cNvPr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CAE068-C8F8-0B51-EBBA-F9D0F3FE28CB}"/>
              </a:ext>
            </a:extLst>
          </p:cNvPr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próbek: High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</a:t>
            </a:r>
            <a:endParaRPr lang="en-US" sz="3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10A102A-165C-D76A-1744-482E7549A335}"/>
              </a:ext>
            </a:extLst>
          </p:cNvPr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80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94B3155-DBAF-E4A5-CC6B-45C797E2E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729" y="864815"/>
            <a:ext cx="8190062" cy="576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23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Podsumowanie: h</a:t>
            </a:r>
            <a:r>
              <a:rPr lang="en-US" sz="3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ipotezy</a:t>
            </a: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artykułu vs nasze wyniki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3504" y="85039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wyniki z projektu potwierdzają zamysł VoG?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99071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Hipoteza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99071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Ocena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12280" y="199071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Dowód z projektu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56478"/>
            <a:ext cx="37490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978408" y="2475350"/>
            <a:ext cx="34290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High-VoG oznacza próbki trudniejsze / bardziej informatywne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4754880" y="2356478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28032" y="244791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TAK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01184" y="2795390"/>
            <a:ext cx="13075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675120" y="2356478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830568" y="2457062"/>
            <a:ext cx="4343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Phase 2: High 30% ≈ Full; Low 30% dużo słabszy. Decyle o wyższym VoG mają niższy error.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3362318"/>
            <a:ext cx="37490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978408" y="3481190"/>
            <a:ext cx="34290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Ranking pozwala ograniczyć dane bez dużej straty jakości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754880" y="3362318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828032" y="345375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CZĘŚCIOWO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01184" y="3801230"/>
            <a:ext cx="13075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675120" y="3362318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6830568" y="3462902"/>
            <a:ext cx="4343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Top 30% w ResNet50 osiąga wynik bliski full; przy ConvNeXt from scratch full dataset nadal wyraźnie najlepszy.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22960" y="4368158"/>
            <a:ext cx="37490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978408" y="4487030"/>
            <a:ext cx="34290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Ranking jest stabilny między architekturami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4754880" y="4368158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828032" y="4459598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CZĘŚCIOWO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01184" y="4807070"/>
            <a:ext cx="13075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6675120" y="4368158"/>
            <a:ext cx="46634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830568" y="4468742"/>
            <a:ext cx="4343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</a:rPr>
              <a:t>Pretrained: ρ=0.56, overlap Top-30=64.6%. From scratch: ρ=0.27, overlap Top-30=38.9%.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855464" y="5056632"/>
            <a:ext cx="130759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11338560" y="65471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80" dirty="0"/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C2E8D139-13C9-D146-D9ED-7C3576A289F4}"/>
              </a:ext>
            </a:extLst>
          </p:cNvPr>
          <p:cNvSpPr txBox="1"/>
          <p:nvPr/>
        </p:nvSpPr>
        <p:spPr>
          <a:xfrm>
            <a:off x="1320800" y="5768555"/>
            <a:ext cx="95504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300" dirty="0"/>
              <a:t>Aby z większą pewnością odrzucić lub potwierdzić hipotezy z artykułu, musielibyśmy przeprowadzić bardziej obszerne eksperymenty.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931</Words>
  <Application>Microsoft Office PowerPoint</Application>
  <PresentationFormat>Panoramiczny</PresentationFormat>
  <Paragraphs>178</Paragraphs>
  <Slides>16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WUT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Data Ranking on Training Dynamics</dc:title>
  <dc:subject>Impact of Data Ranking on Training Dynamics — VoG</dc:subject>
  <dc:creator>OpenAI + Cezary Bolkowski</dc:creator>
  <cp:lastModifiedBy>Socha Karol 2 (STUD)</cp:lastModifiedBy>
  <cp:revision>4</cp:revision>
  <dcterms:created xsi:type="dcterms:W3CDTF">2026-06-02T23:01:09Z</dcterms:created>
  <dcterms:modified xsi:type="dcterms:W3CDTF">2026-06-03T02:25:33Z</dcterms:modified>
</cp:coreProperties>
</file>